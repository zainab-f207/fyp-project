
<file path=[Content_Types].xml><?xml version="1.0" encoding="utf-8"?>
<Types xmlns="http://schemas.openxmlformats.org/package/2006/content-types">
  <Default Extension="gif" ContentType="image/gif"/>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Weights</c:v>
                </c:pt>
              </c:strCache>
            </c:strRef>
          </c:tx>
          <c:spPr>
            <a:solidFill>
              <a:schemeClr val="accent1"/>
            </a:solidFill>
            <a:ln w="9525" cap="flat">
              <a:solidFill>
                <a:srgbClr val="F9F9F9"/>
              </a:solidFill>
              <a:prstDash val="solid"/>
              <a:round/>
            </a:ln>
            <a:effectLst/>
          </c:spPr>
          <c:dPt>
            <c:idx val="0"/>
            <c:bubble3D val="0"/>
            <c:spPr>
              <a:solidFill>
                <a:srgbClr val="C8F751"/>
              </a:solidFill>
              <a:effectLst/>
            </c:spPr>
            <c:extLst>
              <c:ext xmlns:c16="http://schemas.microsoft.com/office/drawing/2014/chart" uri="{C3380CC4-5D6E-409C-BE32-E72D297353CC}">
                <c16:uniqueId val="{00000001-F550-4449-A2F2-E43499DD9AA8}"/>
              </c:ext>
            </c:extLst>
          </c:dPt>
          <c:dPt>
            <c:idx val="1"/>
            <c:bubble3D val="0"/>
            <c:spPr>
              <a:solidFill>
                <a:srgbClr val="5B8DEF"/>
              </a:solidFill>
              <a:effectLst/>
            </c:spPr>
            <c:extLst>
              <c:ext xmlns:c16="http://schemas.microsoft.com/office/drawing/2014/chart" uri="{C3380CC4-5D6E-409C-BE32-E72D297353CC}">
                <c16:uniqueId val="{00000003-F550-4449-A2F2-E43499DD9AA8}"/>
              </c:ext>
            </c:extLst>
          </c:dPt>
          <c:dPt>
            <c:idx val="2"/>
            <c:bubble3D val="0"/>
            <c:spPr>
              <a:solidFill>
                <a:srgbClr val="F5A524"/>
              </a:solidFill>
              <a:effectLst/>
            </c:spPr>
            <c:extLst>
              <c:ext xmlns:c16="http://schemas.microsoft.com/office/drawing/2014/chart" uri="{C3380CC4-5D6E-409C-BE32-E72D297353CC}">
                <c16:uniqueId val="{00000005-F550-4449-A2F2-E43499DD9AA8}"/>
              </c:ext>
            </c:extLst>
          </c:dPt>
          <c:dPt>
            <c:idx val="3"/>
            <c:bubble3D val="0"/>
            <c:spPr>
              <a:solidFill>
                <a:srgbClr val="30A46C"/>
              </a:solidFill>
              <a:effectLst/>
            </c:spPr>
            <c:extLst>
              <c:ext xmlns:c16="http://schemas.microsoft.com/office/drawing/2014/chart" uri="{C3380CC4-5D6E-409C-BE32-E72D297353CC}">
                <c16:uniqueId val="{00000007-F550-4449-A2F2-E43499DD9AA8}"/>
              </c:ext>
            </c:extLst>
          </c:dPt>
          <c:dPt>
            <c:idx val="4"/>
            <c:bubble3D val="0"/>
            <c:spPr>
              <a:solidFill>
                <a:srgbClr val="E5484D"/>
              </a:solidFill>
              <a:effectLst/>
            </c:spPr>
            <c:extLst>
              <c:ext xmlns:c16="http://schemas.microsoft.com/office/drawing/2014/chart" uri="{C3380CC4-5D6E-409C-BE32-E72D297353CC}">
                <c16:uniqueId val="{00000009-F550-4449-A2F2-E43499DD9AA8}"/>
              </c:ext>
            </c:extLst>
          </c:dPt>
          <c:dLbls>
            <c:dLbl>
              <c:idx val="0"/>
              <c:numFmt formatCode="0%" sourceLinked="0"/>
              <c:spPr/>
              <c:txPr>
                <a:bodyPr/>
                <a:lstStyle/>
                <a:p>
                  <a:pPr>
                    <a:defRPr sz="1200" b="1" i="0" u="none" strike="noStrike">
                      <a:solidFill>
                        <a:srgbClr val="0A12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550-4449-A2F2-E43499DD9AA8}"/>
                </c:ext>
              </c:extLst>
            </c:dLbl>
            <c:dLbl>
              <c:idx val="1"/>
              <c:numFmt formatCode="0%" sourceLinked="0"/>
              <c:spPr/>
              <c:txPr>
                <a:bodyPr/>
                <a:lstStyle/>
                <a:p>
                  <a:pPr>
                    <a:defRPr sz="1200" b="1" i="0" u="none" strike="noStrike">
                      <a:solidFill>
                        <a:srgbClr val="0A12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550-4449-A2F2-E43499DD9AA8}"/>
                </c:ext>
              </c:extLst>
            </c:dLbl>
            <c:dLbl>
              <c:idx val="2"/>
              <c:numFmt formatCode="0%" sourceLinked="0"/>
              <c:spPr/>
              <c:txPr>
                <a:bodyPr/>
                <a:lstStyle/>
                <a:p>
                  <a:pPr>
                    <a:defRPr sz="1200" b="1" i="0" u="none" strike="noStrike">
                      <a:solidFill>
                        <a:srgbClr val="0A12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550-4449-A2F2-E43499DD9AA8}"/>
                </c:ext>
              </c:extLst>
            </c:dLbl>
            <c:dLbl>
              <c:idx val="3"/>
              <c:numFmt formatCode="0%" sourceLinked="0"/>
              <c:spPr/>
              <c:txPr>
                <a:bodyPr/>
                <a:lstStyle/>
                <a:p>
                  <a:pPr>
                    <a:defRPr sz="1200" b="1" i="0" u="none" strike="noStrike">
                      <a:solidFill>
                        <a:srgbClr val="0A12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550-4449-A2F2-E43499DD9AA8}"/>
                </c:ext>
              </c:extLst>
            </c:dLbl>
            <c:dLbl>
              <c:idx val="4"/>
              <c:numFmt formatCode="0%" sourceLinked="0"/>
              <c:spPr/>
              <c:txPr>
                <a:bodyPr/>
                <a:lstStyle/>
                <a:p>
                  <a:pPr>
                    <a:defRPr sz="1200" b="1" i="0" u="none" strike="noStrike">
                      <a:solidFill>
                        <a:srgbClr val="0A1228"/>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F550-4449-A2F2-E43499DD9AA8}"/>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Volume</c:v>
                </c:pt>
                <c:pt idx="1">
                  <c:v>Recency</c:v>
                </c:pt>
                <c:pt idx="2">
                  <c:v>Severity</c:v>
                </c:pt>
                <c:pt idx="3">
                  <c:v>Trend</c:v>
                </c:pt>
                <c:pt idx="4">
                  <c:v>Time</c:v>
                </c:pt>
              </c:strCache>
            </c:strRef>
          </c:cat>
          <c:val>
            <c:numRef>
              <c:f>Sheet1!$B$2:$B$6</c:f>
              <c:numCache>
                <c:formatCode>General</c:formatCode>
                <c:ptCount val="5"/>
                <c:pt idx="0">
                  <c:v>35</c:v>
                </c:pt>
                <c:pt idx="1">
                  <c:v>30</c:v>
                </c:pt>
                <c:pt idx="2">
                  <c:v>15</c:v>
                </c:pt>
                <c:pt idx="3">
                  <c:v>10</c:v>
                </c:pt>
                <c:pt idx="4">
                  <c:v>10</c:v>
                </c:pt>
              </c:numCache>
            </c:numRef>
          </c:val>
          <c:extLst>
            <c:ext xmlns:c16="http://schemas.microsoft.com/office/drawing/2014/chart" uri="{C3380CC4-5D6E-409C-BE32-E72D297353CC}">
              <c16:uniqueId val="{0000000A-F550-4449-A2F2-E43499DD9AA8}"/>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200">
              <a:solidFill>
                <a:srgbClr val="F4E9D8"/>
              </a:solidFill>
            </a:defRPr>
          </a:pPr>
          <a:endParaRPr lang="en-US"/>
        </a:p>
      </c:txPr>
    </c:legend>
    <c:plotVisOnly val="1"/>
    <c:dispBlanksAs val="span"/>
    <c:showDLblsOverMax val="1"/>
  </c:chart>
  <c:spPr>
    <a:solidFill>
      <a:srgbClr val="0A122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Accuracy %</c:v>
                </c:pt>
              </c:strCache>
            </c:strRef>
          </c:tx>
          <c:spPr>
            <a:solidFill>
              <a:srgbClr val="C8F751"/>
            </a:solidFill>
            <a:effectLst/>
          </c:spPr>
          <c:invertIfNegative val="0"/>
          <c:dLbls>
            <c:numFmt formatCode="#,##0" sourceLinked="0"/>
            <c:spPr>
              <a:noFill/>
              <a:ln>
                <a:noFill/>
              </a:ln>
              <a:effectLst/>
            </c:spPr>
            <c:txPr>
              <a:bodyPr/>
              <a:lstStyle/>
              <a:p>
                <a:pPr>
                  <a:defRPr sz="1200" b="1" i="0" u="none" strike="noStrike">
                    <a:solidFill>
                      <a:srgbClr val="C8F75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Crime date</c:v>
                </c:pt>
                <c:pt idx="1">
                  <c:v>Police station</c:v>
                </c:pt>
                <c:pt idx="2">
                  <c:v>Crime area</c:v>
                </c:pt>
                <c:pt idx="3">
                  <c:v>PPC sections</c:v>
                </c:pt>
              </c:strCache>
            </c:strRef>
          </c:cat>
          <c:val>
            <c:numRef>
              <c:f>Sheet1!$B$2:$B$5</c:f>
              <c:numCache>
                <c:formatCode>General</c:formatCode>
                <c:ptCount val="4"/>
                <c:pt idx="0">
                  <c:v>96</c:v>
                </c:pt>
                <c:pt idx="1">
                  <c:v>94</c:v>
                </c:pt>
                <c:pt idx="2">
                  <c:v>88</c:v>
                </c:pt>
                <c:pt idx="3">
                  <c:v>91</c:v>
                </c:pt>
              </c:numCache>
            </c:numRef>
          </c:val>
          <c:extLst>
            <c:ext xmlns:c16="http://schemas.microsoft.com/office/drawing/2014/chart" uri="{C3380CC4-5D6E-409C-BE32-E72D297353CC}">
              <c16:uniqueId val="{00000000-58A2-45AF-8600-876AC0C17E8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F4E9D8"/>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2A3A6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F4E9D8"/>
                </a:solidFill>
                <a:latin typeface="Arial"/>
              </a:defRPr>
            </a:pPr>
            <a:endParaRPr lang="en-US"/>
          </a:p>
        </c:txPr>
        <c:crossAx val="2094734554"/>
        <c:crosses val="autoZero"/>
        <c:crossBetween val="between"/>
      </c:valAx>
      <c:spPr>
        <a:solidFill>
          <a:srgbClr val="0A1228"/>
        </a:solidFill>
        <a:ln>
          <a:noFill/>
        </a:ln>
        <a:effectLst/>
      </c:spPr>
    </c:plotArea>
    <c:plotVisOnly val="1"/>
    <c:dispBlanksAs val="span"/>
    <c:showDLblsOverMax val="1"/>
  </c:chart>
  <c:spPr>
    <a:solidFill>
      <a:srgbClr val="0A122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9456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731520" y="640080"/>
            <a:ext cx="9144000" cy="365760"/>
          </a:xfrm>
          <a:prstGeom prst="rect">
            <a:avLst/>
          </a:prstGeom>
          <a:noFill/>
          <a:ln/>
        </p:spPr>
        <p:txBody>
          <a:bodyPr wrap="square" lIns="0" tIns="0" rIns="0" bIns="0" rtlCol="0" anchor="ctr"/>
          <a:lstStyle/>
          <a:p>
            <a:pPr marL="0" indent="0">
              <a:buNone/>
            </a:pPr>
            <a:r>
              <a:rPr lang="en-US" sz="1200" b="1" kern="0" spc="600" dirty="0">
                <a:solidFill>
                  <a:srgbClr val="C8F751"/>
                </a:solidFill>
                <a:latin typeface="Calibri" pitchFamily="34" charset="0"/>
                <a:ea typeface="Calibri" pitchFamily="34" charset="-122"/>
                <a:cs typeface="Calibri" pitchFamily="34" charset="-120"/>
              </a:rPr>
              <a:t>FINAL YEAR PROJECT  ·  2025–26</a:t>
            </a:r>
            <a:endParaRPr lang="en-US" sz="1200" dirty="0"/>
          </a:p>
        </p:txBody>
      </p:sp>
      <p:sp>
        <p:nvSpPr>
          <p:cNvPr id="4" name="Text 2"/>
          <p:cNvSpPr/>
          <p:nvPr/>
        </p:nvSpPr>
        <p:spPr>
          <a:xfrm>
            <a:off x="731520" y="1280160"/>
            <a:ext cx="10972800" cy="1188720"/>
          </a:xfrm>
          <a:prstGeom prst="rect">
            <a:avLst/>
          </a:prstGeom>
          <a:noFill/>
          <a:ln/>
        </p:spPr>
        <p:txBody>
          <a:bodyPr wrap="square" lIns="0" tIns="0" rIns="0" bIns="0" rtlCol="0" anchor="ctr"/>
          <a:lstStyle/>
          <a:p>
            <a:pPr marL="0" indent="0">
              <a:buNone/>
            </a:pPr>
            <a:r>
              <a:rPr lang="en-US" sz="8400" b="1" dirty="0">
                <a:solidFill>
                  <a:srgbClr val="FFFFFF"/>
                </a:solidFill>
                <a:latin typeface="Calibri" pitchFamily="34" charset="0"/>
                <a:ea typeface="Calibri" pitchFamily="34" charset="-122"/>
                <a:cs typeface="Calibri" pitchFamily="34" charset="-120"/>
              </a:rPr>
              <a:t>SafeVision</a:t>
            </a:r>
            <a:endParaRPr lang="en-US" sz="8400" dirty="0"/>
          </a:p>
        </p:txBody>
      </p:sp>
      <p:sp>
        <p:nvSpPr>
          <p:cNvPr id="5" name="Text 3"/>
          <p:cNvSpPr/>
          <p:nvPr/>
        </p:nvSpPr>
        <p:spPr>
          <a:xfrm>
            <a:off x="731520" y="2468880"/>
            <a:ext cx="10972800" cy="640080"/>
          </a:xfrm>
          <a:prstGeom prst="rect">
            <a:avLst/>
          </a:prstGeom>
          <a:noFill/>
          <a:ln/>
        </p:spPr>
        <p:txBody>
          <a:bodyPr wrap="square" lIns="0" tIns="0" rIns="0" bIns="0" rtlCol="0" anchor="ctr"/>
          <a:lstStyle/>
          <a:p>
            <a:pPr marL="0" indent="0">
              <a:buNone/>
            </a:pPr>
            <a:r>
              <a:rPr lang="en-US" sz="2600" i="1" dirty="0">
                <a:solidFill>
                  <a:srgbClr val="C8F751"/>
                </a:solidFill>
                <a:latin typeface="Calibri" pitchFamily="34" charset="0"/>
                <a:ea typeface="Calibri" pitchFamily="34" charset="-122"/>
                <a:cs typeface="Calibri" pitchFamily="34" charset="-120"/>
              </a:rPr>
              <a:t>Spatial Visualytics of Reported Incidents in Lahore</a:t>
            </a:r>
            <a:endParaRPr lang="en-US" sz="2600" dirty="0"/>
          </a:p>
        </p:txBody>
      </p:sp>
      <p:sp>
        <p:nvSpPr>
          <p:cNvPr id="6" name="Text 4"/>
          <p:cNvSpPr/>
          <p:nvPr/>
        </p:nvSpPr>
        <p:spPr>
          <a:xfrm>
            <a:off x="731520" y="3246120"/>
            <a:ext cx="10058400" cy="868680"/>
          </a:xfrm>
          <a:prstGeom prst="rect">
            <a:avLst/>
          </a:prstGeom>
          <a:noFill/>
          <a:ln/>
        </p:spPr>
        <p:txBody>
          <a:bodyPr wrap="square" lIns="0" tIns="0" rIns="0" bIns="0" rtlCol="0" anchor="ctr"/>
          <a:lstStyle/>
          <a:p>
            <a:pPr marL="0" indent="0">
              <a:buNone/>
            </a:pPr>
            <a:r>
              <a:rPr lang="en-US" sz="1400" dirty="0">
                <a:solidFill>
                  <a:srgbClr val="9AA8C7"/>
                </a:solidFill>
                <a:latin typeface="Calibri" pitchFamily="34" charset="0"/>
                <a:ea typeface="Calibri" pitchFamily="34" charset="-122"/>
                <a:cs typeface="Calibri" pitchFamily="34" charset="-120"/>
              </a:rPr>
              <a:t>An AI-Powered Geospatial Public Safety Platform for Predictive Policing, Safer Navigation, and Automated Urdu FIR Digitization.</a:t>
            </a:r>
            <a:endParaRPr lang="en-US" sz="1400" dirty="0"/>
          </a:p>
        </p:txBody>
      </p:sp>
      <p:sp>
        <p:nvSpPr>
          <p:cNvPr id="7" name="Shape 5"/>
          <p:cNvSpPr/>
          <p:nvPr/>
        </p:nvSpPr>
        <p:spPr>
          <a:xfrm>
            <a:off x="731520" y="4434840"/>
            <a:ext cx="5120640" cy="1691640"/>
          </a:xfrm>
          <a:prstGeom prst="rect">
            <a:avLst/>
          </a:prstGeom>
          <a:solidFill>
            <a:srgbClr val="121C3A"/>
          </a:solidFill>
          <a:ln w="9525">
            <a:solidFill>
              <a:srgbClr val="2A3A6E"/>
            </a:solidFill>
            <a:prstDash val="solid"/>
          </a:ln>
        </p:spPr>
        <p:txBody>
          <a:bodyPr/>
          <a:lstStyle/>
          <a:p>
            <a:endParaRPr lang="en-US"/>
          </a:p>
        </p:txBody>
      </p:sp>
      <p:sp>
        <p:nvSpPr>
          <p:cNvPr id="8" name="Shape 6"/>
          <p:cNvSpPr/>
          <p:nvPr/>
        </p:nvSpPr>
        <p:spPr>
          <a:xfrm>
            <a:off x="731520" y="4434840"/>
            <a:ext cx="64008" cy="1691640"/>
          </a:xfrm>
          <a:prstGeom prst="rect">
            <a:avLst/>
          </a:prstGeom>
          <a:solidFill>
            <a:srgbClr val="C8F751"/>
          </a:solidFill>
          <a:ln w="12700">
            <a:solidFill>
              <a:srgbClr val="C8F751"/>
            </a:solidFill>
            <a:prstDash val="solid"/>
          </a:ln>
        </p:spPr>
        <p:txBody>
          <a:bodyPr/>
          <a:lstStyle/>
          <a:p>
            <a:endParaRPr lang="en-US"/>
          </a:p>
        </p:txBody>
      </p:sp>
      <p:sp>
        <p:nvSpPr>
          <p:cNvPr id="9" name="Text 7"/>
          <p:cNvSpPr/>
          <p:nvPr/>
        </p:nvSpPr>
        <p:spPr>
          <a:xfrm>
            <a:off x="960120" y="4526280"/>
            <a:ext cx="4572000" cy="274320"/>
          </a:xfrm>
          <a:prstGeom prst="rect">
            <a:avLst/>
          </a:prstGeom>
          <a:noFill/>
          <a:ln/>
        </p:spPr>
        <p:txBody>
          <a:bodyPr wrap="square" lIns="0" tIns="0" rIns="0" bIns="0" rtlCol="0" anchor="ctr"/>
          <a:lstStyle/>
          <a:p>
            <a:pPr marL="0" indent="0">
              <a:buNone/>
            </a:pPr>
            <a:r>
              <a:rPr lang="en-US" sz="1100" b="1" kern="0" spc="400" dirty="0">
                <a:solidFill>
                  <a:srgbClr val="C8F751"/>
                </a:solidFill>
                <a:latin typeface="Calibri" pitchFamily="34" charset="0"/>
                <a:ea typeface="Calibri" pitchFamily="34" charset="-122"/>
                <a:cs typeface="Calibri" pitchFamily="34" charset="-120"/>
              </a:rPr>
              <a:t>PRESENTED BY</a:t>
            </a:r>
            <a:endParaRPr lang="en-US" sz="1100" dirty="0"/>
          </a:p>
        </p:txBody>
      </p:sp>
      <p:sp>
        <p:nvSpPr>
          <p:cNvPr id="10" name="Text 8"/>
          <p:cNvSpPr/>
          <p:nvPr/>
        </p:nvSpPr>
        <p:spPr>
          <a:xfrm>
            <a:off x="960120" y="4846320"/>
            <a:ext cx="4572000" cy="12801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Zainab Fayyaz</a:t>
            </a:r>
            <a:endParaRPr lang="en-US" sz="1400" dirty="0"/>
          </a:p>
          <a:p>
            <a:pPr marL="0" indent="0">
              <a:buNone/>
            </a:pPr>
            <a:r>
              <a:rPr lang="en-US" sz="1100" dirty="0">
                <a:solidFill>
                  <a:srgbClr val="9AA8C7"/>
                </a:solidFill>
                <a:latin typeface="Calibri" pitchFamily="34" charset="0"/>
                <a:ea typeface="Calibri" pitchFamily="34" charset="-122"/>
                <a:cs typeface="Calibri" pitchFamily="34" charset="-120"/>
              </a:rPr>
              <a:t>CS-195</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Zaid Waseem</a:t>
            </a:r>
            <a:endParaRPr lang="en-US" sz="1400" dirty="0"/>
          </a:p>
          <a:p>
            <a:pPr marL="0" indent="0">
              <a:buNone/>
            </a:pPr>
            <a:r>
              <a:rPr lang="en-US" sz="1100" dirty="0">
                <a:solidFill>
                  <a:srgbClr val="9AA8C7"/>
                </a:solidFill>
                <a:latin typeface="Calibri" pitchFamily="34" charset="0"/>
                <a:ea typeface="Calibri" pitchFamily="34" charset="-122"/>
                <a:cs typeface="Calibri" pitchFamily="34" charset="-120"/>
              </a:rPr>
              <a:t>CS-194</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Akmal Naseer</a:t>
            </a:r>
            <a:endParaRPr lang="en-US" sz="1400" dirty="0"/>
          </a:p>
          <a:p>
            <a:pPr marL="0" indent="0">
              <a:buNone/>
            </a:pPr>
            <a:r>
              <a:rPr lang="en-US" sz="1100" dirty="0">
                <a:solidFill>
                  <a:srgbClr val="9AA8C7"/>
                </a:solidFill>
                <a:latin typeface="Calibri" pitchFamily="34" charset="0"/>
                <a:ea typeface="Calibri" pitchFamily="34" charset="-122"/>
                <a:cs typeface="Calibri" pitchFamily="34" charset="-120"/>
              </a:rPr>
              <a:t>CS-171</a:t>
            </a:r>
            <a:endParaRPr lang="en-US" sz="1400" dirty="0"/>
          </a:p>
        </p:txBody>
      </p:sp>
      <p:sp>
        <p:nvSpPr>
          <p:cNvPr id="11" name="Shape 9"/>
          <p:cNvSpPr/>
          <p:nvPr/>
        </p:nvSpPr>
        <p:spPr>
          <a:xfrm>
            <a:off x="6126480" y="4434840"/>
            <a:ext cx="5120640" cy="1691640"/>
          </a:xfrm>
          <a:prstGeom prst="rect">
            <a:avLst/>
          </a:prstGeom>
          <a:solidFill>
            <a:srgbClr val="121C3A"/>
          </a:solidFill>
          <a:ln w="9525">
            <a:solidFill>
              <a:srgbClr val="2A3A6E"/>
            </a:solidFill>
            <a:prstDash val="solid"/>
          </a:ln>
        </p:spPr>
        <p:txBody>
          <a:bodyPr/>
          <a:lstStyle/>
          <a:p>
            <a:endParaRPr lang="en-US"/>
          </a:p>
        </p:txBody>
      </p:sp>
      <p:sp>
        <p:nvSpPr>
          <p:cNvPr id="12" name="Shape 10"/>
          <p:cNvSpPr/>
          <p:nvPr/>
        </p:nvSpPr>
        <p:spPr>
          <a:xfrm>
            <a:off x="6126480" y="4434840"/>
            <a:ext cx="64008" cy="1691640"/>
          </a:xfrm>
          <a:prstGeom prst="rect">
            <a:avLst/>
          </a:prstGeom>
          <a:solidFill>
            <a:srgbClr val="C8F751"/>
          </a:solidFill>
          <a:ln w="12700">
            <a:solidFill>
              <a:srgbClr val="C8F751"/>
            </a:solidFill>
            <a:prstDash val="solid"/>
          </a:ln>
        </p:spPr>
        <p:txBody>
          <a:bodyPr/>
          <a:lstStyle/>
          <a:p>
            <a:endParaRPr lang="en-US"/>
          </a:p>
        </p:txBody>
      </p:sp>
      <p:sp>
        <p:nvSpPr>
          <p:cNvPr id="13" name="Text 11"/>
          <p:cNvSpPr/>
          <p:nvPr/>
        </p:nvSpPr>
        <p:spPr>
          <a:xfrm>
            <a:off x="6355080" y="4526280"/>
            <a:ext cx="4572000" cy="274320"/>
          </a:xfrm>
          <a:prstGeom prst="rect">
            <a:avLst/>
          </a:prstGeom>
          <a:noFill/>
          <a:ln/>
        </p:spPr>
        <p:txBody>
          <a:bodyPr wrap="square" lIns="0" tIns="0" rIns="0" bIns="0" rtlCol="0" anchor="ctr"/>
          <a:lstStyle/>
          <a:p>
            <a:pPr marL="0" indent="0">
              <a:buNone/>
            </a:pPr>
            <a:r>
              <a:rPr lang="en-US" sz="1100" b="1" kern="0" spc="400" dirty="0">
                <a:solidFill>
                  <a:srgbClr val="C8F751"/>
                </a:solidFill>
                <a:latin typeface="Calibri" pitchFamily="34" charset="0"/>
                <a:ea typeface="Calibri" pitchFamily="34" charset="-122"/>
                <a:cs typeface="Calibri" pitchFamily="34" charset="-120"/>
              </a:rPr>
              <a:t>SUPERVISED BY</a:t>
            </a:r>
            <a:endParaRPr lang="en-US" sz="1100" dirty="0"/>
          </a:p>
        </p:txBody>
      </p:sp>
      <p:sp>
        <p:nvSpPr>
          <p:cNvPr id="14" name="Text 12"/>
          <p:cNvSpPr/>
          <p:nvPr/>
        </p:nvSpPr>
        <p:spPr>
          <a:xfrm>
            <a:off x="6355080" y="4846320"/>
            <a:ext cx="4572000" cy="12801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Sir Afraz Hayat Malik</a:t>
            </a:r>
            <a:endParaRPr lang="en-US" sz="1600" dirty="0"/>
          </a:p>
          <a:p>
            <a:pPr marL="0" indent="0">
              <a:buNone/>
            </a:pPr>
            <a:r>
              <a:rPr lang="en-US" sz="1100" dirty="0">
                <a:solidFill>
                  <a:srgbClr val="9AA8C7"/>
                </a:solidFill>
                <a:latin typeface="Calibri" pitchFamily="34" charset="0"/>
                <a:ea typeface="Calibri" pitchFamily="34" charset="-122"/>
                <a:cs typeface="Calibri" pitchFamily="34" charset="-120"/>
              </a:rPr>
              <a:t>Faculty Supervisor</a:t>
            </a:r>
            <a:endParaRPr lang="en-US" sz="16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marL="0" indent="0">
              <a:buNone/>
            </a:pPr>
            <a:r>
              <a:rPr lang="en-US" sz="1200" dirty="0">
                <a:solidFill>
                  <a:srgbClr val="F4E9D8"/>
                </a:solidFill>
                <a:latin typeface="Calibri" pitchFamily="34" charset="0"/>
                <a:ea typeface="Calibri" pitchFamily="34" charset="-122"/>
                <a:cs typeface="Calibri" pitchFamily="34" charset="-120"/>
              </a:rPr>
              <a:t>University of Engineering &amp; Technology</a:t>
            </a:r>
            <a:endParaRPr lang="en-US" sz="1600" dirty="0"/>
          </a:p>
          <a:p>
            <a:pPr marL="0" indent="0">
              <a:buNone/>
            </a:pPr>
            <a:r>
              <a:rPr lang="en-US" sz="1100" dirty="0">
                <a:solidFill>
                  <a:srgbClr val="9AA8C7"/>
                </a:solidFill>
                <a:latin typeface="Calibri" pitchFamily="34" charset="0"/>
                <a:ea typeface="Calibri" pitchFamily="34" charset="-122"/>
                <a:cs typeface="Calibri" pitchFamily="34" charset="-120"/>
              </a:rPr>
              <a:t>Lahore, Pakistan</a:t>
            </a:r>
            <a:endParaRPr lang="en-US" sz="1600" dirty="0"/>
          </a:p>
        </p:txBody>
      </p:sp>
      <p:sp>
        <p:nvSpPr>
          <p:cNvPr id="15" name="Text 13"/>
          <p:cNvSpPr/>
          <p:nvPr/>
        </p:nvSpPr>
        <p:spPr>
          <a:xfrm>
            <a:off x="731520" y="6263640"/>
            <a:ext cx="10972800" cy="274320"/>
          </a:xfrm>
          <a:prstGeom prst="rect">
            <a:avLst/>
          </a:prstGeom>
          <a:noFill/>
          <a:ln/>
        </p:spPr>
        <p:txBody>
          <a:bodyPr wrap="square" lIns="0" tIns="0" rIns="0" bIns="0" rtlCol="0" anchor="ctr"/>
          <a:lstStyle/>
          <a:p>
            <a:pPr marL="0" indent="0">
              <a:buNone/>
            </a:pPr>
            <a:r>
              <a:rPr lang="en-US" sz="1100" dirty="0">
                <a:solidFill>
                  <a:srgbClr val="C8F751"/>
                </a:solidFill>
                <a:latin typeface="Consolas" pitchFamily="34" charset="0"/>
                <a:ea typeface="Consolas" pitchFamily="34" charset="-122"/>
                <a:cs typeface="Consolas" pitchFamily="34" charset="-120"/>
              </a:rPr>
              <a:t>safevision.vercel.app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AGENDA</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What we will walk through today</a:t>
            </a:r>
            <a:endParaRPr lang="en-US" sz="1200" dirty="0"/>
          </a:p>
        </p:txBody>
      </p:sp>
      <p:sp>
        <p:nvSpPr>
          <p:cNvPr id="5" name="Shape 3"/>
          <p:cNvSpPr/>
          <p:nvPr/>
        </p:nvSpPr>
        <p:spPr>
          <a:xfrm>
            <a:off x="640080" y="1417320"/>
            <a:ext cx="5394960" cy="8229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417320"/>
            <a:ext cx="64008" cy="8229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5448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01</a:t>
            </a:r>
            <a:endParaRPr lang="en-US" sz="2600" dirty="0"/>
          </a:p>
        </p:txBody>
      </p:sp>
      <p:sp>
        <p:nvSpPr>
          <p:cNvPr id="8" name="Text 6"/>
          <p:cNvSpPr/>
          <p:nvPr/>
        </p:nvSpPr>
        <p:spPr>
          <a:xfrm>
            <a:off x="1691640" y="152704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Problem</a:t>
            </a:r>
            <a:endParaRPr lang="en-US" sz="1500" dirty="0"/>
          </a:p>
        </p:txBody>
      </p:sp>
      <p:sp>
        <p:nvSpPr>
          <p:cNvPr id="9" name="Text 7"/>
          <p:cNvSpPr/>
          <p:nvPr/>
        </p:nvSpPr>
        <p:spPr>
          <a:xfrm>
            <a:off x="1691640" y="185623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Why Lahore needs predictive policing</a:t>
            </a:r>
            <a:endParaRPr lang="en-US" sz="1100" dirty="0"/>
          </a:p>
        </p:txBody>
      </p:sp>
      <p:sp>
        <p:nvSpPr>
          <p:cNvPr id="10" name="Shape 8"/>
          <p:cNvSpPr/>
          <p:nvPr/>
        </p:nvSpPr>
        <p:spPr>
          <a:xfrm>
            <a:off x="640080" y="2377440"/>
            <a:ext cx="5394960" cy="822960"/>
          </a:xfrm>
          <a:prstGeom prst="rect">
            <a:avLst/>
          </a:prstGeom>
          <a:solidFill>
            <a:srgbClr val="121C3A"/>
          </a:solidFill>
          <a:ln w="9525">
            <a:solidFill>
              <a:srgbClr val="2A3A6E"/>
            </a:solidFill>
            <a:prstDash val="solid"/>
          </a:ln>
        </p:spPr>
        <p:txBody>
          <a:bodyPr/>
          <a:lstStyle/>
          <a:p>
            <a:endParaRPr lang="en-US"/>
          </a:p>
        </p:txBody>
      </p:sp>
      <p:sp>
        <p:nvSpPr>
          <p:cNvPr id="11" name="Shape 9"/>
          <p:cNvSpPr/>
          <p:nvPr/>
        </p:nvSpPr>
        <p:spPr>
          <a:xfrm>
            <a:off x="640080" y="2377440"/>
            <a:ext cx="64008" cy="822960"/>
          </a:xfrm>
          <a:prstGeom prst="rect">
            <a:avLst/>
          </a:prstGeom>
          <a:solidFill>
            <a:srgbClr val="C8F751"/>
          </a:solidFill>
          <a:ln w="12700">
            <a:solidFill>
              <a:srgbClr val="C8F751"/>
            </a:solidFill>
            <a:prstDash val="solid"/>
          </a:ln>
        </p:spPr>
        <p:txBody>
          <a:bodyPr/>
          <a:lstStyle/>
          <a:p>
            <a:endParaRPr lang="en-US"/>
          </a:p>
        </p:txBody>
      </p:sp>
      <p:sp>
        <p:nvSpPr>
          <p:cNvPr id="12" name="Text 10"/>
          <p:cNvSpPr/>
          <p:nvPr/>
        </p:nvSpPr>
        <p:spPr>
          <a:xfrm>
            <a:off x="868680" y="251460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02</a:t>
            </a:r>
            <a:endParaRPr lang="en-US" sz="2600" dirty="0"/>
          </a:p>
        </p:txBody>
      </p:sp>
      <p:sp>
        <p:nvSpPr>
          <p:cNvPr id="13" name="Text 11"/>
          <p:cNvSpPr/>
          <p:nvPr/>
        </p:nvSpPr>
        <p:spPr>
          <a:xfrm>
            <a:off x="1691640" y="248716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Project Identity</a:t>
            </a:r>
            <a:endParaRPr lang="en-US" sz="1500" dirty="0"/>
          </a:p>
        </p:txBody>
      </p:sp>
      <p:sp>
        <p:nvSpPr>
          <p:cNvPr id="14" name="Text 12"/>
          <p:cNvSpPr/>
          <p:nvPr/>
        </p:nvSpPr>
        <p:spPr>
          <a:xfrm>
            <a:off x="1691640" y="281635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What SafeVision is in one line</a:t>
            </a:r>
            <a:endParaRPr lang="en-US" sz="1100" dirty="0"/>
          </a:p>
        </p:txBody>
      </p:sp>
      <p:sp>
        <p:nvSpPr>
          <p:cNvPr id="15" name="Shape 13"/>
          <p:cNvSpPr/>
          <p:nvPr/>
        </p:nvSpPr>
        <p:spPr>
          <a:xfrm>
            <a:off x="640080" y="3337560"/>
            <a:ext cx="5394960" cy="822960"/>
          </a:xfrm>
          <a:prstGeom prst="rect">
            <a:avLst/>
          </a:prstGeom>
          <a:solidFill>
            <a:srgbClr val="121C3A"/>
          </a:solidFill>
          <a:ln w="9525">
            <a:solidFill>
              <a:srgbClr val="2A3A6E"/>
            </a:solidFill>
            <a:prstDash val="solid"/>
          </a:ln>
        </p:spPr>
        <p:txBody>
          <a:bodyPr/>
          <a:lstStyle/>
          <a:p>
            <a:endParaRPr lang="en-US"/>
          </a:p>
        </p:txBody>
      </p:sp>
      <p:sp>
        <p:nvSpPr>
          <p:cNvPr id="16" name="Shape 14"/>
          <p:cNvSpPr/>
          <p:nvPr/>
        </p:nvSpPr>
        <p:spPr>
          <a:xfrm>
            <a:off x="640080" y="3337560"/>
            <a:ext cx="64008" cy="822960"/>
          </a:xfrm>
          <a:prstGeom prst="rect">
            <a:avLst/>
          </a:prstGeom>
          <a:solidFill>
            <a:srgbClr val="C8F751"/>
          </a:solidFill>
          <a:ln w="12700">
            <a:solidFill>
              <a:srgbClr val="C8F751"/>
            </a:solidFill>
            <a:prstDash val="solid"/>
          </a:ln>
        </p:spPr>
        <p:txBody>
          <a:bodyPr/>
          <a:lstStyle/>
          <a:p>
            <a:endParaRPr lang="en-US"/>
          </a:p>
        </p:txBody>
      </p:sp>
      <p:sp>
        <p:nvSpPr>
          <p:cNvPr id="17" name="Text 15"/>
          <p:cNvSpPr/>
          <p:nvPr/>
        </p:nvSpPr>
        <p:spPr>
          <a:xfrm>
            <a:off x="868680" y="347472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03</a:t>
            </a:r>
            <a:endParaRPr lang="en-US" sz="2600" dirty="0"/>
          </a:p>
        </p:txBody>
      </p:sp>
      <p:sp>
        <p:nvSpPr>
          <p:cNvPr id="18" name="Text 16"/>
          <p:cNvSpPr/>
          <p:nvPr/>
        </p:nvSpPr>
        <p:spPr>
          <a:xfrm>
            <a:off x="1691640" y="344728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System Architecture</a:t>
            </a:r>
            <a:endParaRPr lang="en-US" sz="1500" dirty="0"/>
          </a:p>
        </p:txBody>
      </p:sp>
      <p:sp>
        <p:nvSpPr>
          <p:cNvPr id="19" name="Text 17"/>
          <p:cNvSpPr/>
          <p:nvPr/>
        </p:nvSpPr>
        <p:spPr>
          <a:xfrm>
            <a:off x="1691640" y="377647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How the pieces fit together</a:t>
            </a:r>
            <a:endParaRPr lang="en-US" sz="1100" dirty="0"/>
          </a:p>
        </p:txBody>
      </p:sp>
      <p:sp>
        <p:nvSpPr>
          <p:cNvPr id="20" name="Shape 18"/>
          <p:cNvSpPr/>
          <p:nvPr/>
        </p:nvSpPr>
        <p:spPr>
          <a:xfrm>
            <a:off x="640080" y="4297680"/>
            <a:ext cx="5394960" cy="822960"/>
          </a:xfrm>
          <a:prstGeom prst="rect">
            <a:avLst/>
          </a:prstGeom>
          <a:solidFill>
            <a:srgbClr val="121C3A"/>
          </a:solidFill>
          <a:ln w="9525">
            <a:solidFill>
              <a:srgbClr val="2A3A6E"/>
            </a:solidFill>
            <a:prstDash val="solid"/>
          </a:ln>
        </p:spPr>
        <p:txBody>
          <a:bodyPr/>
          <a:lstStyle/>
          <a:p>
            <a:endParaRPr lang="en-US"/>
          </a:p>
        </p:txBody>
      </p:sp>
      <p:sp>
        <p:nvSpPr>
          <p:cNvPr id="21" name="Shape 19"/>
          <p:cNvSpPr/>
          <p:nvPr/>
        </p:nvSpPr>
        <p:spPr>
          <a:xfrm>
            <a:off x="640080" y="4297680"/>
            <a:ext cx="64008" cy="822960"/>
          </a:xfrm>
          <a:prstGeom prst="rect">
            <a:avLst/>
          </a:prstGeom>
          <a:solidFill>
            <a:srgbClr val="C8F751"/>
          </a:solidFill>
          <a:ln w="12700">
            <a:solidFill>
              <a:srgbClr val="C8F751"/>
            </a:solidFill>
            <a:prstDash val="solid"/>
          </a:ln>
        </p:spPr>
        <p:txBody>
          <a:bodyPr/>
          <a:lstStyle/>
          <a:p>
            <a:endParaRPr lang="en-US"/>
          </a:p>
        </p:txBody>
      </p:sp>
      <p:sp>
        <p:nvSpPr>
          <p:cNvPr id="22" name="Text 20"/>
          <p:cNvSpPr/>
          <p:nvPr/>
        </p:nvSpPr>
        <p:spPr>
          <a:xfrm>
            <a:off x="868680" y="443484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04</a:t>
            </a:r>
            <a:endParaRPr lang="en-US" sz="2600" dirty="0"/>
          </a:p>
        </p:txBody>
      </p:sp>
      <p:sp>
        <p:nvSpPr>
          <p:cNvPr id="23" name="Text 21"/>
          <p:cNvSpPr/>
          <p:nvPr/>
        </p:nvSpPr>
        <p:spPr>
          <a:xfrm>
            <a:off x="1691640" y="440740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Database Design</a:t>
            </a:r>
            <a:endParaRPr lang="en-US" sz="1500" dirty="0"/>
          </a:p>
        </p:txBody>
      </p:sp>
      <p:sp>
        <p:nvSpPr>
          <p:cNvPr id="24" name="Text 22"/>
          <p:cNvSpPr/>
          <p:nvPr/>
        </p:nvSpPr>
        <p:spPr>
          <a:xfrm>
            <a:off x="1691640" y="473659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37-table schema, 6 domains</a:t>
            </a:r>
            <a:endParaRPr lang="en-US" sz="1100" dirty="0"/>
          </a:p>
        </p:txBody>
      </p:sp>
      <p:sp>
        <p:nvSpPr>
          <p:cNvPr id="25" name="Shape 23"/>
          <p:cNvSpPr/>
          <p:nvPr/>
        </p:nvSpPr>
        <p:spPr>
          <a:xfrm>
            <a:off x="640080" y="5257800"/>
            <a:ext cx="5394960" cy="822960"/>
          </a:xfrm>
          <a:prstGeom prst="rect">
            <a:avLst/>
          </a:prstGeom>
          <a:solidFill>
            <a:srgbClr val="121C3A"/>
          </a:solidFill>
          <a:ln w="9525">
            <a:solidFill>
              <a:srgbClr val="2A3A6E"/>
            </a:solidFill>
            <a:prstDash val="solid"/>
          </a:ln>
        </p:spPr>
        <p:txBody>
          <a:bodyPr/>
          <a:lstStyle/>
          <a:p>
            <a:endParaRPr lang="en-US"/>
          </a:p>
        </p:txBody>
      </p:sp>
      <p:sp>
        <p:nvSpPr>
          <p:cNvPr id="26" name="Shape 24"/>
          <p:cNvSpPr/>
          <p:nvPr/>
        </p:nvSpPr>
        <p:spPr>
          <a:xfrm>
            <a:off x="640080" y="5257800"/>
            <a:ext cx="64008" cy="822960"/>
          </a:xfrm>
          <a:prstGeom prst="rect">
            <a:avLst/>
          </a:prstGeom>
          <a:solidFill>
            <a:srgbClr val="C8F751"/>
          </a:solidFill>
          <a:ln w="12700">
            <a:solidFill>
              <a:srgbClr val="C8F751"/>
            </a:solidFill>
            <a:prstDash val="solid"/>
          </a:ln>
        </p:spPr>
        <p:txBody>
          <a:bodyPr/>
          <a:lstStyle/>
          <a:p>
            <a:endParaRPr lang="en-US"/>
          </a:p>
        </p:txBody>
      </p:sp>
      <p:sp>
        <p:nvSpPr>
          <p:cNvPr id="27" name="Text 25"/>
          <p:cNvSpPr/>
          <p:nvPr/>
        </p:nvSpPr>
        <p:spPr>
          <a:xfrm>
            <a:off x="868680" y="539496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05</a:t>
            </a:r>
            <a:endParaRPr lang="en-US" sz="2600" dirty="0"/>
          </a:p>
        </p:txBody>
      </p:sp>
      <p:sp>
        <p:nvSpPr>
          <p:cNvPr id="28" name="Text 26"/>
          <p:cNvSpPr/>
          <p:nvPr/>
        </p:nvSpPr>
        <p:spPr>
          <a:xfrm>
            <a:off x="1691640" y="536752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Authentication &amp; Security</a:t>
            </a:r>
            <a:endParaRPr lang="en-US" sz="1500" dirty="0"/>
          </a:p>
        </p:txBody>
      </p:sp>
      <p:sp>
        <p:nvSpPr>
          <p:cNvPr id="29" name="Text 27"/>
          <p:cNvSpPr/>
          <p:nvPr/>
        </p:nvSpPr>
        <p:spPr>
          <a:xfrm>
            <a:off x="1691640" y="569671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JWT, 2FA, audit, approvals</a:t>
            </a:r>
            <a:endParaRPr lang="en-US" sz="1100" dirty="0"/>
          </a:p>
        </p:txBody>
      </p:sp>
      <p:sp>
        <p:nvSpPr>
          <p:cNvPr id="30" name="Shape 28"/>
          <p:cNvSpPr/>
          <p:nvPr/>
        </p:nvSpPr>
        <p:spPr>
          <a:xfrm>
            <a:off x="6309360" y="1417320"/>
            <a:ext cx="5394960" cy="822960"/>
          </a:xfrm>
          <a:prstGeom prst="rect">
            <a:avLst/>
          </a:prstGeom>
          <a:solidFill>
            <a:srgbClr val="121C3A"/>
          </a:solidFill>
          <a:ln w="9525">
            <a:solidFill>
              <a:srgbClr val="2A3A6E"/>
            </a:solidFill>
            <a:prstDash val="solid"/>
          </a:ln>
        </p:spPr>
        <p:txBody>
          <a:bodyPr/>
          <a:lstStyle/>
          <a:p>
            <a:endParaRPr lang="en-US"/>
          </a:p>
        </p:txBody>
      </p:sp>
      <p:sp>
        <p:nvSpPr>
          <p:cNvPr id="31" name="Shape 29"/>
          <p:cNvSpPr/>
          <p:nvPr/>
        </p:nvSpPr>
        <p:spPr>
          <a:xfrm>
            <a:off x="6309360" y="1417320"/>
            <a:ext cx="64008" cy="822960"/>
          </a:xfrm>
          <a:prstGeom prst="rect">
            <a:avLst/>
          </a:prstGeom>
          <a:solidFill>
            <a:srgbClr val="C8F751"/>
          </a:solidFill>
          <a:ln w="12700">
            <a:solidFill>
              <a:srgbClr val="C8F751"/>
            </a:solidFill>
            <a:prstDash val="solid"/>
          </a:ln>
        </p:spPr>
        <p:txBody>
          <a:bodyPr/>
          <a:lstStyle/>
          <a:p>
            <a:endParaRPr lang="en-US"/>
          </a:p>
        </p:txBody>
      </p:sp>
      <p:sp>
        <p:nvSpPr>
          <p:cNvPr id="32" name="Text 30"/>
          <p:cNvSpPr/>
          <p:nvPr/>
        </p:nvSpPr>
        <p:spPr>
          <a:xfrm>
            <a:off x="6537960" y="155448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06</a:t>
            </a:r>
            <a:endParaRPr lang="en-US" sz="2600" dirty="0"/>
          </a:p>
        </p:txBody>
      </p:sp>
      <p:sp>
        <p:nvSpPr>
          <p:cNvPr id="33" name="Text 31"/>
          <p:cNvSpPr/>
          <p:nvPr/>
        </p:nvSpPr>
        <p:spPr>
          <a:xfrm>
            <a:off x="7360920" y="152704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Machine Learning Pipeline</a:t>
            </a:r>
            <a:endParaRPr lang="en-US" sz="1500" dirty="0"/>
          </a:p>
        </p:txBody>
      </p:sp>
      <p:sp>
        <p:nvSpPr>
          <p:cNvPr id="34" name="Text 32"/>
          <p:cNvSpPr/>
          <p:nvPr/>
        </p:nvSpPr>
        <p:spPr>
          <a:xfrm>
            <a:off x="7360920" y="185623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3 models work together</a:t>
            </a:r>
            <a:endParaRPr lang="en-US" sz="1100" dirty="0"/>
          </a:p>
        </p:txBody>
      </p:sp>
      <p:sp>
        <p:nvSpPr>
          <p:cNvPr id="35" name="Shape 33"/>
          <p:cNvSpPr/>
          <p:nvPr/>
        </p:nvSpPr>
        <p:spPr>
          <a:xfrm>
            <a:off x="6309360" y="2377440"/>
            <a:ext cx="5394960" cy="822960"/>
          </a:xfrm>
          <a:prstGeom prst="rect">
            <a:avLst/>
          </a:prstGeom>
          <a:solidFill>
            <a:srgbClr val="121C3A"/>
          </a:solidFill>
          <a:ln w="9525">
            <a:solidFill>
              <a:srgbClr val="2A3A6E"/>
            </a:solidFill>
            <a:prstDash val="solid"/>
          </a:ln>
        </p:spPr>
        <p:txBody>
          <a:bodyPr/>
          <a:lstStyle/>
          <a:p>
            <a:endParaRPr lang="en-US"/>
          </a:p>
        </p:txBody>
      </p:sp>
      <p:sp>
        <p:nvSpPr>
          <p:cNvPr id="36" name="Shape 34"/>
          <p:cNvSpPr/>
          <p:nvPr/>
        </p:nvSpPr>
        <p:spPr>
          <a:xfrm>
            <a:off x="6309360" y="2377440"/>
            <a:ext cx="64008" cy="822960"/>
          </a:xfrm>
          <a:prstGeom prst="rect">
            <a:avLst/>
          </a:prstGeom>
          <a:solidFill>
            <a:srgbClr val="C8F751"/>
          </a:solidFill>
          <a:ln w="12700">
            <a:solidFill>
              <a:srgbClr val="C8F751"/>
            </a:solidFill>
            <a:prstDash val="solid"/>
          </a:ln>
        </p:spPr>
        <p:txBody>
          <a:bodyPr/>
          <a:lstStyle/>
          <a:p>
            <a:endParaRPr lang="en-US"/>
          </a:p>
        </p:txBody>
      </p:sp>
      <p:sp>
        <p:nvSpPr>
          <p:cNvPr id="37" name="Text 35"/>
          <p:cNvSpPr/>
          <p:nvPr/>
        </p:nvSpPr>
        <p:spPr>
          <a:xfrm>
            <a:off x="6537960" y="251460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07</a:t>
            </a:r>
            <a:endParaRPr lang="en-US" sz="2600" dirty="0"/>
          </a:p>
        </p:txBody>
      </p:sp>
      <p:sp>
        <p:nvSpPr>
          <p:cNvPr id="38" name="Text 36"/>
          <p:cNvSpPr/>
          <p:nvPr/>
        </p:nvSpPr>
        <p:spPr>
          <a:xfrm>
            <a:off x="7360920" y="248716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Route Safety Analyser</a:t>
            </a:r>
            <a:endParaRPr lang="en-US" sz="1500" dirty="0"/>
          </a:p>
        </p:txBody>
      </p:sp>
      <p:sp>
        <p:nvSpPr>
          <p:cNvPr id="39" name="Text 37"/>
          <p:cNvSpPr/>
          <p:nvPr/>
        </p:nvSpPr>
        <p:spPr>
          <a:xfrm>
            <a:off x="7360920" y="281635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Safest path between two points</a:t>
            </a:r>
            <a:endParaRPr lang="en-US" sz="1100" dirty="0"/>
          </a:p>
        </p:txBody>
      </p:sp>
      <p:sp>
        <p:nvSpPr>
          <p:cNvPr id="40" name="Shape 38"/>
          <p:cNvSpPr/>
          <p:nvPr/>
        </p:nvSpPr>
        <p:spPr>
          <a:xfrm>
            <a:off x="6309360" y="3337560"/>
            <a:ext cx="5394960" cy="822960"/>
          </a:xfrm>
          <a:prstGeom prst="rect">
            <a:avLst/>
          </a:prstGeom>
          <a:solidFill>
            <a:srgbClr val="121C3A"/>
          </a:solidFill>
          <a:ln w="9525">
            <a:solidFill>
              <a:srgbClr val="2A3A6E"/>
            </a:solidFill>
            <a:prstDash val="solid"/>
          </a:ln>
        </p:spPr>
        <p:txBody>
          <a:bodyPr/>
          <a:lstStyle/>
          <a:p>
            <a:endParaRPr lang="en-US"/>
          </a:p>
        </p:txBody>
      </p:sp>
      <p:sp>
        <p:nvSpPr>
          <p:cNvPr id="41" name="Shape 39"/>
          <p:cNvSpPr/>
          <p:nvPr/>
        </p:nvSpPr>
        <p:spPr>
          <a:xfrm>
            <a:off x="6309360" y="3337560"/>
            <a:ext cx="64008" cy="822960"/>
          </a:xfrm>
          <a:prstGeom prst="rect">
            <a:avLst/>
          </a:prstGeom>
          <a:solidFill>
            <a:srgbClr val="C8F751"/>
          </a:solidFill>
          <a:ln w="12700">
            <a:solidFill>
              <a:srgbClr val="C8F751"/>
            </a:solidFill>
            <a:prstDash val="solid"/>
          </a:ln>
        </p:spPr>
        <p:txBody>
          <a:bodyPr/>
          <a:lstStyle/>
          <a:p>
            <a:endParaRPr lang="en-US"/>
          </a:p>
        </p:txBody>
      </p:sp>
      <p:sp>
        <p:nvSpPr>
          <p:cNvPr id="42" name="Text 40"/>
          <p:cNvSpPr/>
          <p:nvPr/>
        </p:nvSpPr>
        <p:spPr>
          <a:xfrm>
            <a:off x="6537960" y="347472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08</a:t>
            </a:r>
            <a:endParaRPr lang="en-US" sz="2600" dirty="0"/>
          </a:p>
        </p:txBody>
      </p:sp>
      <p:sp>
        <p:nvSpPr>
          <p:cNvPr id="43" name="Text 41"/>
          <p:cNvSpPr/>
          <p:nvPr/>
        </p:nvSpPr>
        <p:spPr>
          <a:xfrm>
            <a:off x="7360920" y="344728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Urdu OCR for FIRs</a:t>
            </a:r>
            <a:endParaRPr lang="en-US" sz="1500" dirty="0"/>
          </a:p>
        </p:txBody>
      </p:sp>
      <p:sp>
        <p:nvSpPr>
          <p:cNvPr id="44" name="Text 42"/>
          <p:cNvSpPr/>
          <p:nvPr/>
        </p:nvSpPr>
        <p:spPr>
          <a:xfrm>
            <a:off x="7360920" y="377647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3 active OCR engines + 4 fields</a:t>
            </a:r>
            <a:endParaRPr lang="en-US" sz="1100" dirty="0"/>
          </a:p>
        </p:txBody>
      </p:sp>
      <p:sp>
        <p:nvSpPr>
          <p:cNvPr id="45" name="Shape 43"/>
          <p:cNvSpPr/>
          <p:nvPr/>
        </p:nvSpPr>
        <p:spPr>
          <a:xfrm>
            <a:off x="6309360" y="4297680"/>
            <a:ext cx="5394960" cy="822960"/>
          </a:xfrm>
          <a:prstGeom prst="rect">
            <a:avLst/>
          </a:prstGeom>
          <a:solidFill>
            <a:srgbClr val="121C3A"/>
          </a:solidFill>
          <a:ln w="9525">
            <a:solidFill>
              <a:srgbClr val="2A3A6E"/>
            </a:solidFill>
            <a:prstDash val="solid"/>
          </a:ln>
        </p:spPr>
        <p:txBody>
          <a:bodyPr/>
          <a:lstStyle/>
          <a:p>
            <a:endParaRPr lang="en-US"/>
          </a:p>
        </p:txBody>
      </p:sp>
      <p:sp>
        <p:nvSpPr>
          <p:cNvPr id="46" name="Shape 44"/>
          <p:cNvSpPr/>
          <p:nvPr/>
        </p:nvSpPr>
        <p:spPr>
          <a:xfrm>
            <a:off x="6309360" y="4297680"/>
            <a:ext cx="64008" cy="822960"/>
          </a:xfrm>
          <a:prstGeom prst="rect">
            <a:avLst/>
          </a:prstGeom>
          <a:solidFill>
            <a:srgbClr val="C8F751"/>
          </a:solidFill>
          <a:ln w="12700">
            <a:solidFill>
              <a:srgbClr val="C8F751"/>
            </a:solidFill>
            <a:prstDash val="solid"/>
          </a:ln>
        </p:spPr>
        <p:txBody>
          <a:bodyPr/>
          <a:lstStyle/>
          <a:p>
            <a:endParaRPr lang="en-US"/>
          </a:p>
        </p:txBody>
      </p:sp>
      <p:sp>
        <p:nvSpPr>
          <p:cNvPr id="47" name="Text 45"/>
          <p:cNvSpPr/>
          <p:nvPr/>
        </p:nvSpPr>
        <p:spPr>
          <a:xfrm>
            <a:off x="6537960" y="443484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09</a:t>
            </a:r>
            <a:endParaRPr lang="en-US" sz="2600" dirty="0"/>
          </a:p>
        </p:txBody>
      </p:sp>
      <p:sp>
        <p:nvSpPr>
          <p:cNvPr id="48" name="Text 46"/>
          <p:cNvSpPr/>
          <p:nvPr/>
        </p:nvSpPr>
        <p:spPr>
          <a:xfrm>
            <a:off x="7360920" y="440740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Alerts &amp; Background Jobs</a:t>
            </a:r>
            <a:endParaRPr lang="en-US" sz="1500" dirty="0"/>
          </a:p>
        </p:txBody>
      </p:sp>
      <p:sp>
        <p:nvSpPr>
          <p:cNvPr id="49" name="Text 47"/>
          <p:cNvSpPr/>
          <p:nvPr/>
        </p:nvSpPr>
        <p:spPr>
          <a:xfrm>
            <a:off x="7360920" y="473659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VAPID push + APScheduler</a:t>
            </a:r>
            <a:endParaRPr lang="en-US" sz="1100" dirty="0"/>
          </a:p>
        </p:txBody>
      </p:sp>
      <p:sp>
        <p:nvSpPr>
          <p:cNvPr id="50" name="Shape 48"/>
          <p:cNvSpPr/>
          <p:nvPr/>
        </p:nvSpPr>
        <p:spPr>
          <a:xfrm>
            <a:off x="6309360" y="5257800"/>
            <a:ext cx="5394960" cy="822960"/>
          </a:xfrm>
          <a:prstGeom prst="rect">
            <a:avLst/>
          </a:prstGeom>
          <a:solidFill>
            <a:srgbClr val="121C3A"/>
          </a:solidFill>
          <a:ln w="9525">
            <a:solidFill>
              <a:srgbClr val="2A3A6E"/>
            </a:solidFill>
            <a:prstDash val="solid"/>
          </a:ln>
        </p:spPr>
        <p:txBody>
          <a:bodyPr/>
          <a:lstStyle/>
          <a:p>
            <a:endParaRPr lang="en-US"/>
          </a:p>
        </p:txBody>
      </p:sp>
      <p:sp>
        <p:nvSpPr>
          <p:cNvPr id="51" name="Shape 49"/>
          <p:cNvSpPr/>
          <p:nvPr/>
        </p:nvSpPr>
        <p:spPr>
          <a:xfrm>
            <a:off x="6309360" y="5257800"/>
            <a:ext cx="64008" cy="822960"/>
          </a:xfrm>
          <a:prstGeom prst="rect">
            <a:avLst/>
          </a:prstGeom>
          <a:solidFill>
            <a:srgbClr val="C8F751"/>
          </a:solidFill>
          <a:ln w="12700">
            <a:solidFill>
              <a:srgbClr val="C8F751"/>
            </a:solidFill>
            <a:prstDash val="solid"/>
          </a:ln>
        </p:spPr>
        <p:txBody>
          <a:bodyPr/>
          <a:lstStyle/>
          <a:p>
            <a:endParaRPr lang="en-US"/>
          </a:p>
        </p:txBody>
      </p:sp>
      <p:sp>
        <p:nvSpPr>
          <p:cNvPr id="52" name="Text 50"/>
          <p:cNvSpPr/>
          <p:nvPr/>
        </p:nvSpPr>
        <p:spPr>
          <a:xfrm>
            <a:off x="6537960" y="5394960"/>
            <a:ext cx="731520" cy="548640"/>
          </a:xfrm>
          <a:prstGeom prst="rect">
            <a:avLst/>
          </a:prstGeom>
          <a:noFill/>
          <a:ln/>
        </p:spPr>
        <p:txBody>
          <a:bodyPr wrap="square" lIns="0" tIns="0" rIns="0" bIns="0" rtlCol="0" anchor="ctr"/>
          <a:lstStyle/>
          <a:p>
            <a:pPr marL="0" indent="0">
              <a:buNone/>
            </a:pPr>
            <a:r>
              <a:rPr lang="en-US" sz="2600" b="1" dirty="0">
                <a:solidFill>
                  <a:srgbClr val="C8F751"/>
                </a:solidFill>
                <a:latin typeface="Calibri" pitchFamily="34" charset="0"/>
                <a:ea typeface="Calibri" pitchFamily="34" charset="-122"/>
                <a:cs typeface="Calibri" pitchFamily="34" charset="-120"/>
              </a:rPr>
              <a:t>10</a:t>
            </a:r>
            <a:endParaRPr lang="en-US" sz="2600" dirty="0"/>
          </a:p>
        </p:txBody>
      </p:sp>
      <p:sp>
        <p:nvSpPr>
          <p:cNvPr id="53" name="Text 51"/>
          <p:cNvSpPr/>
          <p:nvPr/>
        </p:nvSpPr>
        <p:spPr>
          <a:xfrm>
            <a:off x="7360920" y="5367528"/>
            <a:ext cx="42062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Results, Demo &amp; Future Work</a:t>
            </a:r>
            <a:endParaRPr lang="en-US" sz="1500" dirty="0"/>
          </a:p>
        </p:txBody>
      </p:sp>
      <p:sp>
        <p:nvSpPr>
          <p:cNvPr id="54" name="Text 52"/>
          <p:cNvSpPr/>
          <p:nvPr/>
        </p:nvSpPr>
        <p:spPr>
          <a:xfrm>
            <a:off x="7360920" y="5696712"/>
            <a:ext cx="4206240" cy="32004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Metrics and the road ahead</a:t>
            </a:r>
            <a:endParaRPr lang="en-US" sz="1100" dirty="0"/>
          </a:p>
        </p:txBody>
      </p:sp>
      <p:sp>
        <p:nvSpPr>
          <p:cNvPr id="55" name="Text 53"/>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56" name="Text 54"/>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2 /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THE PROBLEM WE ARE SOLVING</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Lahore — 14 million people, ~1,772 km², policed reactively</a:t>
            </a:r>
            <a:endParaRPr lang="en-US" sz="1200" dirty="0"/>
          </a:p>
        </p:txBody>
      </p:sp>
      <p:sp>
        <p:nvSpPr>
          <p:cNvPr id="5" name="Shape 3"/>
          <p:cNvSpPr/>
          <p:nvPr/>
        </p:nvSpPr>
        <p:spPr>
          <a:xfrm>
            <a:off x="640080" y="1371600"/>
            <a:ext cx="502920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777240" y="1554480"/>
            <a:ext cx="4754880" cy="1280160"/>
          </a:xfrm>
          <a:prstGeom prst="rect">
            <a:avLst/>
          </a:prstGeom>
          <a:noFill/>
          <a:ln/>
        </p:spPr>
        <p:txBody>
          <a:bodyPr wrap="square" lIns="0" tIns="0" rIns="0" bIns="0" rtlCol="0" anchor="ctr"/>
          <a:lstStyle/>
          <a:p>
            <a:pPr marL="0" indent="0">
              <a:buNone/>
            </a:pPr>
            <a:r>
              <a:rPr lang="en-US" sz="8000" b="1" dirty="0">
                <a:solidFill>
                  <a:srgbClr val="C8F751"/>
                </a:solidFill>
                <a:latin typeface="Calibri" pitchFamily="34" charset="0"/>
                <a:ea typeface="Calibri" pitchFamily="34" charset="-122"/>
                <a:cs typeface="Calibri" pitchFamily="34" charset="-120"/>
              </a:rPr>
              <a:t>14M+</a:t>
            </a:r>
            <a:endParaRPr lang="en-US" sz="8000" dirty="0"/>
          </a:p>
        </p:txBody>
      </p:sp>
      <p:sp>
        <p:nvSpPr>
          <p:cNvPr id="8" name="Text 6"/>
          <p:cNvSpPr/>
          <p:nvPr/>
        </p:nvSpPr>
        <p:spPr>
          <a:xfrm>
            <a:off x="868680" y="2834640"/>
            <a:ext cx="4572000" cy="822960"/>
          </a:xfrm>
          <a:prstGeom prst="rect">
            <a:avLst/>
          </a:prstGeom>
          <a:noFill/>
          <a:ln/>
        </p:spPr>
        <p:txBody>
          <a:bodyPr wrap="square" lIns="0" tIns="0" rIns="0" bIns="0" rtlCol="0" anchor="ctr"/>
          <a:lstStyle/>
          <a:p>
            <a:pPr marL="0" indent="0">
              <a:buNone/>
            </a:pPr>
            <a:r>
              <a:rPr lang="en-US" sz="1400" dirty="0">
                <a:solidFill>
                  <a:srgbClr val="F4E9D8"/>
                </a:solidFill>
                <a:latin typeface="Calibri" pitchFamily="34" charset="0"/>
                <a:ea typeface="Calibri" pitchFamily="34" charset="-122"/>
                <a:cs typeface="Calibri" pitchFamily="34" charset="-120"/>
              </a:rPr>
              <a:t>Citizens have no real-time view of which areas are dangerous before they leave home.</a:t>
            </a:r>
            <a:endParaRPr lang="en-US" sz="1400" dirty="0"/>
          </a:p>
        </p:txBody>
      </p:sp>
      <p:sp>
        <p:nvSpPr>
          <p:cNvPr id="9" name="Text 7"/>
          <p:cNvSpPr/>
          <p:nvPr/>
        </p:nvSpPr>
        <p:spPr>
          <a:xfrm>
            <a:off x="868680" y="3794760"/>
            <a:ext cx="45720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1,772 km²</a:t>
            </a:r>
            <a:endParaRPr lang="en-US" sz="2600" dirty="0"/>
          </a:p>
        </p:txBody>
      </p:sp>
      <p:sp>
        <p:nvSpPr>
          <p:cNvPr id="10" name="Text 8"/>
          <p:cNvSpPr/>
          <p:nvPr/>
        </p:nvSpPr>
        <p:spPr>
          <a:xfrm>
            <a:off x="868680" y="4251960"/>
            <a:ext cx="4572000" cy="640080"/>
          </a:xfrm>
          <a:prstGeom prst="rect">
            <a:avLst/>
          </a:prstGeom>
          <a:noFill/>
          <a:ln/>
        </p:spPr>
        <p:txBody>
          <a:bodyPr wrap="square" lIns="0" tIns="0" rIns="0" bIns="0" rtlCol="0" anchor="ctr"/>
          <a:lstStyle/>
          <a:p>
            <a:pPr marL="0" indent="0">
              <a:buNone/>
            </a:pPr>
            <a:r>
              <a:rPr lang="en-US" sz="1200" dirty="0">
                <a:solidFill>
                  <a:srgbClr val="9AA8C7"/>
                </a:solidFill>
                <a:latin typeface="Calibri" pitchFamily="34" charset="0"/>
                <a:ea typeface="Calibri" pitchFamily="34" charset="-122"/>
                <a:cs typeface="Calibri" pitchFamily="34" charset="-120"/>
              </a:rPr>
              <a:t>of urban area split into police thanas — most without per-area crime analytics.</a:t>
            </a:r>
            <a:endParaRPr lang="en-US" sz="1200" dirty="0"/>
          </a:p>
        </p:txBody>
      </p:sp>
      <p:sp>
        <p:nvSpPr>
          <p:cNvPr id="11" name="Text 9"/>
          <p:cNvSpPr/>
          <p:nvPr/>
        </p:nvSpPr>
        <p:spPr>
          <a:xfrm>
            <a:off x="868680" y="5029200"/>
            <a:ext cx="4572000" cy="457200"/>
          </a:xfrm>
          <a:prstGeom prst="rect">
            <a:avLst/>
          </a:prstGeom>
          <a:noFill/>
          <a:ln/>
        </p:spPr>
        <p:txBody>
          <a:bodyPr wrap="square" lIns="0" tIns="0" rIns="0" bIns="0" rtlCol="0" anchor="ctr"/>
          <a:lstStyle/>
          <a:p>
            <a:pPr marL="0" indent="0">
              <a:buNone/>
            </a:pPr>
            <a:r>
              <a:rPr lang="en-US" sz="2600" b="1" dirty="0">
                <a:solidFill>
                  <a:srgbClr val="F5A524"/>
                </a:solidFill>
                <a:latin typeface="Calibri" pitchFamily="34" charset="0"/>
                <a:ea typeface="Calibri" pitchFamily="34" charset="-122"/>
                <a:cs typeface="Calibri" pitchFamily="34" charset="-120"/>
              </a:rPr>
              <a:t>0% digital</a:t>
            </a:r>
            <a:endParaRPr lang="en-US" sz="2600" dirty="0"/>
          </a:p>
        </p:txBody>
      </p:sp>
      <p:sp>
        <p:nvSpPr>
          <p:cNvPr id="12" name="Text 10"/>
          <p:cNvSpPr/>
          <p:nvPr/>
        </p:nvSpPr>
        <p:spPr>
          <a:xfrm>
            <a:off x="868680" y="5486400"/>
            <a:ext cx="4572000" cy="640080"/>
          </a:xfrm>
          <a:prstGeom prst="rect">
            <a:avLst/>
          </a:prstGeom>
          <a:noFill/>
          <a:ln/>
        </p:spPr>
        <p:txBody>
          <a:bodyPr wrap="square" lIns="0" tIns="0" rIns="0" bIns="0" rtlCol="0" anchor="ctr"/>
          <a:lstStyle/>
          <a:p>
            <a:pPr marL="0" indent="0">
              <a:buNone/>
            </a:pPr>
            <a:r>
              <a:rPr lang="en-US" sz="1200" dirty="0">
                <a:solidFill>
                  <a:srgbClr val="9AA8C7"/>
                </a:solidFill>
                <a:latin typeface="Calibri" pitchFamily="34" charset="0"/>
                <a:ea typeface="Calibri" pitchFamily="34" charset="-122"/>
                <a:cs typeface="Calibri" pitchFamily="34" charset="-120"/>
              </a:rPr>
              <a:t>Punjab Police FIRs are still hand-written in Urdu — almost impossible to search or analyse.</a:t>
            </a:r>
            <a:endParaRPr lang="en-US" sz="1200" dirty="0"/>
          </a:p>
        </p:txBody>
      </p:sp>
      <p:sp>
        <p:nvSpPr>
          <p:cNvPr id="13" name="Shape 11"/>
          <p:cNvSpPr/>
          <p:nvPr/>
        </p:nvSpPr>
        <p:spPr>
          <a:xfrm>
            <a:off x="5943600" y="1371600"/>
            <a:ext cx="5760720" cy="1097280"/>
          </a:xfrm>
          <a:prstGeom prst="rect">
            <a:avLst/>
          </a:prstGeom>
          <a:solidFill>
            <a:srgbClr val="121C3A"/>
          </a:solidFill>
          <a:ln w="9525">
            <a:solidFill>
              <a:srgbClr val="2A3A6E"/>
            </a:solidFill>
            <a:prstDash val="solid"/>
          </a:ln>
        </p:spPr>
        <p:txBody>
          <a:bodyPr/>
          <a:lstStyle/>
          <a:p>
            <a:endParaRPr lang="en-US"/>
          </a:p>
        </p:txBody>
      </p:sp>
      <p:sp>
        <p:nvSpPr>
          <p:cNvPr id="14" name="Shape 12"/>
          <p:cNvSpPr/>
          <p:nvPr/>
        </p:nvSpPr>
        <p:spPr>
          <a:xfrm>
            <a:off x="5943600" y="1371600"/>
            <a:ext cx="64008" cy="1097280"/>
          </a:xfrm>
          <a:prstGeom prst="rect">
            <a:avLst/>
          </a:prstGeom>
          <a:solidFill>
            <a:srgbClr val="C8F751"/>
          </a:solidFill>
          <a:ln w="12700">
            <a:solidFill>
              <a:srgbClr val="C8F751"/>
            </a:solidFill>
            <a:prstDash val="solid"/>
          </a:ln>
        </p:spPr>
        <p:txBody>
          <a:bodyPr/>
          <a:lstStyle/>
          <a:p>
            <a:endParaRPr lang="en-US"/>
          </a:p>
        </p:txBody>
      </p:sp>
      <p:sp>
        <p:nvSpPr>
          <p:cNvPr id="15" name="Text 13"/>
          <p:cNvSpPr/>
          <p:nvPr/>
        </p:nvSpPr>
        <p:spPr>
          <a:xfrm>
            <a:off x="6126480" y="1508760"/>
            <a:ext cx="5394960" cy="365760"/>
          </a:xfrm>
          <a:prstGeom prst="rect">
            <a:avLst/>
          </a:prstGeom>
          <a:noFill/>
          <a:ln/>
        </p:spPr>
        <p:txBody>
          <a:bodyPr wrap="square" lIns="0" tIns="0" rIns="0" bIns="0" rtlCol="0" anchor="ctr"/>
          <a:lstStyle/>
          <a:p>
            <a:pPr marL="0" indent="0">
              <a:buNone/>
            </a:pPr>
            <a:r>
              <a:rPr lang="en-US" sz="1400" b="1" dirty="0">
                <a:solidFill>
                  <a:srgbClr val="C8F751"/>
                </a:solidFill>
                <a:latin typeface="Calibri" pitchFamily="34" charset="0"/>
                <a:ea typeface="Calibri" pitchFamily="34" charset="-122"/>
                <a:cs typeface="Calibri" pitchFamily="34" charset="-120"/>
              </a:rPr>
              <a:t>Reactive policing</a:t>
            </a:r>
            <a:endParaRPr lang="en-US" sz="1400" dirty="0"/>
          </a:p>
        </p:txBody>
      </p:sp>
      <p:sp>
        <p:nvSpPr>
          <p:cNvPr id="16" name="Text 14"/>
          <p:cNvSpPr/>
          <p:nvPr/>
        </p:nvSpPr>
        <p:spPr>
          <a:xfrm>
            <a:off x="6126480" y="1874520"/>
            <a:ext cx="5394960" cy="548640"/>
          </a:xfrm>
          <a:prstGeom prst="rect">
            <a:avLst/>
          </a:prstGeom>
          <a:noFill/>
          <a:ln/>
        </p:spPr>
        <p:txBody>
          <a:bodyPr wrap="square" lIns="0" tIns="0" rIns="0" bIns="0" rtlCol="0" anchor="ctr"/>
          <a:lstStyle/>
          <a:p>
            <a:pPr marL="0" indent="0">
              <a:buNone/>
            </a:pPr>
            <a:r>
              <a:rPr lang="en-US" sz="1150" dirty="0">
                <a:solidFill>
                  <a:srgbClr val="F4E9D8"/>
                </a:solidFill>
                <a:latin typeface="Calibri" pitchFamily="34" charset="0"/>
                <a:ea typeface="Calibri" pitchFamily="34" charset="-122"/>
                <a:cs typeface="Calibri" pitchFamily="34" charset="-120"/>
              </a:rPr>
              <a:t>Reports arrive after the crime, not before. Citizens find out from the news, not from a map.</a:t>
            </a:r>
            <a:endParaRPr lang="en-US" sz="1150" dirty="0"/>
          </a:p>
        </p:txBody>
      </p:sp>
      <p:sp>
        <p:nvSpPr>
          <p:cNvPr id="17" name="Shape 15"/>
          <p:cNvSpPr/>
          <p:nvPr/>
        </p:nvSpPr>
        <p:spPr>
          <a:xfrm>
            <a:off x="5943600" y="2606040"/>
            <a:ext cx="5760720" cy="1097280"/>
          </a:xfrm>
          <a:prstGeom prst="rect">
            <a:avLst/>
          </a:prstGeom>
          <a:solidFill>
            <a:srgbClr val="121C3A"/>
          </a:solidFill>
          <a:ln w="9525">
            <a:solidFill>
              <a:srgbClr val="2A3A6E"/>
            </a:solidFill>
            <a:prstDash val="solid"/>
          </a:ln>
        </p:spPr>
        <p:txBody>
          <a:bodyPr/>
          <a:lstStyle/>
          <a:p>
            <a:endParaRPr lang="en-US"/>
          </a:p>
        </p:txBody>
      </p:sp>
      <p:sp>
        <p:nvSpPr>
          <p:cNvPr id="18" name="Shape 16"/>
          <p:cNvSpPr/>
          <p:nvPr/>
        </p:nvSpPr>
        <p:spPr>
          <a:xfrm>
            <a:off x="5943600" y="2606040"/>
            <a:ext cx="64008" cy="1097280"/>
          </a:xfrm>
          <a:prstGeom prst="rect">
            <a:avLst/>
          </a:prstGeom>
          <a:solidFill>
            <a:srgbClr val="C8F751"/>
          </a:solidFill>
          <a:ln w="12700">
            <a:solidFill>
              <a:srgbClr val="C8F751"/>
            </a:solidFill>
            <a:prstDash val="solid"/>
          </a:ln>
        </p:spPr>
        <p:txBody>
          <a:bodyPr/>
          <a:lstStyle/>
          <a:p>
            <a:endParaRPr lang="en-US"/>
          </a:p>
        </p:txBody>
      </p:sp>
      <p:sp>
        <p:nvSpPr>
          <p:cNvPr id="19" name="Text 17"/>
          <p:cNvSpPr/>
          <p:nvPr/>
        </p:nvSpPr>
        <p:spPr>
          <a:xfrm>
            <a:off x="6126480" y="2743200"/>
            <a:ext cx="5394960" cy="365760"/>
          </a:xfrm>
          <a:prstGeom prst="rect">
            <a:avLst/>
          </a:prstGeom>
          <a:noFill/>
          <a:ln/>
        </p:spPr>
        <p:txBody>
          <a:bodyPr wrap="square" lIns="0" tIns="0" rIns="0" bIns="0" rtlCol="0" anchor="ctr"/>
          <a:lstStyle/>
          <a:p>
            <a:pPr marL="0" indent="0">
              <a:buNone/>
            </a:pPr>
            <a:r>
              <a:rPr lang="en-US" sz="1400" b="1" dirty="0">
                <a:solidFill>
                  <a:srgbClr val="C8F751"/>
                </a:solidFill>
                <a:latin typeface="Calibri" pitchFamily="34" charset="0"/>
                <a:ea typeface="Calibri" pitchFamily="34" charset="-122"/>
                <a:cs typeface="Calibri" pitchFamily="34" charset="-120"/>
              </a:rPr>
              <a:t>Slow crime updates</a:t>
            </a:r>
            <a:endParaRPr lang="en-US" sz="1400" dirty="0"/>
          </a:p>
        </p:txBody>
      </p:sp>
      <p:sp>
        <p:nvSpPr>
          <p:cNvPr id="20" name="Text 18"/>
          <p:cNvSpPr/>
          <p:nvPr/>
        </p:nvSpPr>
        <p:spPr>
          <a:xfrm>
            <a:off x="6126480" y="3108960"/>
            <a:ext cx="5394960" cy="548640"/>
          </a:xfrm>
          <a:prstGeom prst="rect">
            <a:avLst/>
          </a:prstGeom>
          <a:noFill/>
          <a:ln/>
        </p:spPr>
        <p:txBody>
          <a:bodyPr wrap="square" lIns="0" tIns="0" rIns="0" bIns="0" rtlCol="0" anchor="ctr"/>
          <a:lstStyle/>
          <a:p>
            <a:pPr marL="0" indent="0">
              <a:buNone/>
            </a:pPr>
            <a:r>
              <a:rPr lang="en-US" sz="1150" dirty="0">
                <a:solidFill>
                  <a:srgbClr val="F4E9D8"/>
                </a:solidFill>
                <a:latin typeface="Calibri" pitchFamily="34" charset="0"/>
                <a:ea typeface="Calibri" pitchFamily="34" charset="-122"/>
                <a:cs typeface="Calibri" pitchFamily="34" charset="-120"/>
              </a:rPr>
              <a:t>Quarterly press releases are too slow for daily decisions about which route to take or where to walk.</a:t>
            </a:r>
            <a:endParaRPr lang="en-US" sz="1150" dirty="0"/>
          </a:p>
        </p:txBody>
      </p:sp>
      <p:sp>
        <p:nvSpPr>
          <p:cNvPr id="21" name="Shape 19"/>
          <p:cNvSpPr/>
          <p:nvPr/>
        </p:nvSpPr>
        <p:spPr>
          <a:xfrm>
            <a:off x="5943600" y="3840480"/>
            <a:ext cx="5760720" cy="1097280"/>
          </a:xfrm>
          <a:prstGeom prst="rect">
            <a:avLst/>
          </a:prstGeom>
          <a:solidFill>
            <a:srgbClr val="121C3A"/>
          </a:solidFill>
          <a:ln w="9525">
            <a:solidFill>
              <a:srgbClr val="2A3A6E"/>
            </a:solidFill>
            <a:prstDash val="solid"/>
          </a:ln>
        </p:spPr>
        <p:txBody>
          <a:bodyPr/>
          <a:lstStyle/>
          <a:p>
            <a:endParaRPr lang="en-US"/>
          </a:p>
        </p:txBody>
      </p:sp>
      <p:sp>
        <p:nvSpPr>
          <p:cNvPr id="22" name="Shape 20"/>
          <p:cNvSpPr/>
          <p:nvPr/>
        </p:nvSpPr>
        <p:spPr>
          <a:xfrm>
            <a:off x="5943600" y="3840480"/>
            <a:ext cx="64008" cy="1097280"/>
          </a:xfrm>
          <a:prstGeom prst="rect">
            <a:avLst/>
          </a:prstGeom>
          <a:solidFill>
            <a:srgbClr val="C8F751"/>
          </a:solidFill>
          <a:ln w="12700">
            <a:solidFill>
              <a:srgbClr val="C8F751"/>
            </a:solidFill>
            <a:prstDash val="solid"/>
          </a:ln>
        </p:spPr>
        <p:txBody>
          <a:bodyPr/>
          <a:lstStyle/>
          <a:p>
            <a:endParaRPr lang="en-US"/>
          </a:p>
        </p:txBody>
      </p:sp>
      <p:sp>
        <p:nvSpPr>
          <p:cNvPr id="23" name="Text 21"/>
          <p:cNvSpPr/>
          <p:nvPr/>
        </p:nvSpPr>
        <p:spPr>
          <a:xfrm>
            <a:off x="6126480" y="3977640"/>
            <a:ext cx="5394960" cy="365760"/>
          </a:xfrm>
          <a:prstGeom prst="rect">
            <a:avLst/>
          </a:prstGeom>
          <a:noFill/>
          <a:ln/>
        </p:spPr>
        <p:txBody>
          <a:bodyPr wrap="square" lIns="0" tIns="0" rIns="0" bIns="0" rtlCol="0" anchor="ctr"/>
          <a:lstStyle/>
          <a:p>
            <a:pPr marL="0" indent="0">
              <a:buNone/>
            </a:pPr>
            <a:r>
              <a:rPr lang="en-US" sz="1400" b="1" dirty="0">
                <a:solidFill>
                  <a:srgbClr val="C8F751"/>
                </a:solidFill>
                <a:latin typeface="Calibri" pitchFamily="34" charset="0"/>
                <a:ea typeface="Calibri" pitchFamily="34" charset="-122"/>
                <a:cs typeface="Calibri" pitchFamily="34" charset="-120"/>
              </a:rPr>
              <a:t>Foreign apps don't fit</a:t>
            </a:r>
            <a:endParaRPr lang="en-US" sz="1400" dirty="0"/>
          </a:p>
        </p:txBody>
      </p:sp>
      <p:sp>
        <p:nvSpPr>
          <p:cNvPr id="24" name="Text 22"/>
          <p:cNvSpPr/>
          <p:nvPr/>
        </p:nvSpPr>
        <p:spPr>
          <a:xfrm>
            <a:off x="6126480" y="4343400"/>
            <a:ext cx="5394960" cy="548640"/>
          </a:xfrm>
          <a:prstGeom prst="rect">
            <a:avLst/>
          </a:prstGeom>
          <a:noFill/>
          <a:ln/>
        </p:spPr>
        <p:txBody>
          <a:bodyPr wrap="square" lIns="0" tIns="0" rIns="0" bIns="0" rtlCol="0" anchor="ctr"/>
          <a:lstStyle/>
          <a:p>
            <a:pPr marL="0" indent="0">
              <a:buNone/>
            </a:pPr>
            <a:r>
              <a:rPr lang="en-US" sz="1150" dirty="0">
                <a:solidFill>
                  <a:srgbClr val="F4E9D8"/>
                </a:solidFill>
                <a:latin typeface="Calibri" pitchFamily="34" charset="0"/>
                <a:ea typeface="Calibri" pitchFamily="34" charset="-122"/>
                <a:cs typeface="Calibri" pitchFamily="34" charset="-120"/>
              </a:rPr>
              <a:t>Apps like Citizen and Noonlight are built for the US. They don't understand Lahore's thanas, Urdu names, or Pakistan Penal Code.</a:t>
            </a:r>
            <a:endParaRPr lang="en-US" sz="1150" dirty="0"/>
          </a:p>
        </p:txBody>
      </p:sp>
      <p:sp>
        <p:nvSpPr>
          <p:cNvPr id="25" name="Shape 23"/>
          <p:cNvSpPr/>
          <p:nvPr/>
        </p:nvSpPr>
        <p:spPr>
          <a:xfrm>
            <a:off x="5943600" y="5074920"/>
            <a:ext cx="5760720" cy="1097280"/>
          </a:xfrm>
          <a:prstGeom prst="rect">
            <a:avLst/>
          </a:prstGeom>
          <a:solidFill>
            <a:srgbClr val="121C3A"/>
          </a:solidFill>
          <a:ln w="9525">
            <a:solidFill>
              <a:srgbClr val="2A3A6E"/>
            </a:solidFill>
            <a:prstDash val="solid"/>
          </a:ln>
        </p:spPr>
        <p:txBody>
          <a:bodyPr/>
          <a:lstStyle/>
          <a:p>
            <a:endParaRPr lang="en-US"/>
          </a:p>
        </p:txBody>
      </p:sp>
      <p:sp>
        <p:nvSpPr>
          <p:cNvPr id="26" name="Shape 24"/>
          <p:cNvSpPr/>
          <p:nvPr/>
        </p:nvSpPr>
        <p:spPr>
          <a:xfrm>
            <a:off x="5943600" y="5074920"/>
            <a:ext cx="64008" cy="1097280"/>
          </a:xfrm>
          <a:prstGeom prst="rect">
            <a:avLst/>
          </a:prstGeom>
          <a:solidFill>
            <a:srgbClr val="C8F751"/>
          </a:solidFill>
          <a:ln w="12700">
            <a:solidFill>
              <a:srgbClr val="C8F751"/>
            </a:solidFill>
            <a:prstDash val="solid"/>
          </a:ln>
        </p:spPr>
        <p:txBody>
          <a:bodyPr/>
          <a:lstStyle/>
          <a:p>
            <a:endParaRPr lang="en-US"/>
          </a:p>
        </p:txBody>
      </p:sp>
      <p:sp>
        <p:nvSpPr>
          <p:cNvPr id="27" name="Text 25"/>
          <p:cNvSpPr/>
          <p:nvPr/>
        </p:nvSpPr>
        <p:spPr>
          <a:xfrm>
            <a:off x="6126480" y="5212080"/>
            <a:ext cx="5394960" cy="365760"/>
          </a:xfrm>
          <a:prstGeom prst="rect">
            <a:avLst/>
          </a:prstGeom>
          <a:noFill/>
          <a:ln/>
        </p:spPr>
        <p:txBody>
          <a:bodyPr wrap="square" lIns="0" tIns="0" rIns="0" bIns="0" rtlCol="0" anchor="ctr"/>
          <a:lstStyle/>
          <a:p>
            <a:pPr marL="0" indent="0">
              <a:buNone/>
            </a:pPr>
            <a:r>
              <a:rPr lang="en-US" sz="1400" b="1" dirty="0">
                <a:solidFill>
                  <a:srgbClr val="C8F751"/>
                </a:solidFill>
                <a:latin typeface="Calibri" pitchFamily="34" charset="0"/>
                <a:ea typeface="Calibri" pitchFamily="34" charset="-122"/>
                <a:cs typeface="Calibri" pitchFamily="34" charset="-120"/>
              </a:rPr>
              <a:t>No closed-loop data</a:t>
            </a:r>
            <a:endParaRPr lang="en-US" sz="1400" dirty="0"/>
          </a:p>
        </p:txBody>
      </p:sp>
      <p:sp>
        <p:nvSpPr>
          <p:cNvPr id="28" name="Text 26"/>
          <p:cNvSpPr/>
          <p:nvPr/>
        </p:nvSpPr>
        <p:spPr>
          <a:xfrm>
            <a:off x="6126480" y="5577840"/>
            <a:ext cx="5394960" cy="548640"/>
          </a:xfrm>
          <a:prstGeom prst="rect">
            <a:avLst/>
          </a:prstGeom>
          <a:noFill/>
          <a:ln/>
        </p:spPr>
        <p:txBody>
          <a:bodyPr wrap="square" lIns="0" tIns="0" rIns="0" bIns="0" rtlCol="0" anchor="ctr"/>
          <a:lstStyle/>
          <a:p>
            <a:pPr marL="0" indent="0">
              <a:buNone/>
            </a:pPr>
            <a:r>
              <a:rPr lang="en-US" sz="1150" dirty="0">
                <a:solidFill>
                  <a:srgbClr val="F4E9D8"/>
                </a:solidFill>
                <a:latin typeface="Calibri" pitchFamily="34" charset="0"/>
                <a:ea typeface="Calibri" pitchFamily="34" charset="-122"/>
                <a:cs typeface="Calibri" pitchFamily="34" charset="-120"/>
              </a:rPr>
              <a:t>FIR data sits on paper. Today's incident never feeds back into tomorrow's risk model — so the model never improves.</a:t>
            </a:r>
            <a:endParaRPr lang="en-US" sz="1150" dirty="0"/>
          </a:p>
        </p:txBody>
      </p:sp>
      <p:sp>
        <p:nvSpPr>
          <p:cNvPr id="29" name="Text 2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30" name="Text 28"/>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3 / 28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WHAT IS SAFEVISION</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One project, four interlocking capabilities</a:t>
            </a:r>
            <a:endParaRPr lang="en-US" sz="1200" dirty="0"/>
          </a:p>
        </p:txBody>
      </p:sp>
      <p:sp>
        <p:nvSpPr>
          <p:cNvPr id="5" name="Shape 3"/>
          <p:cNvSpPr/>
          <p:nvPr/>
        </p:nvSpPr>
        <p:spPr>
          <a:xfrm>
            <a:off x="640080" y="1417320"/>
            <a:ext cx="11064240" cy="132588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417320"/>
            <a:ext cx="64008" cy="132588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54480"/>
            <a:ext cx="10607040" cy="1051560"/>
          </a:xfrm>
          <a:prstGeom prst="rect">
            <a:avLst/>
          </a:prstGeom>
          <a:noFill/>
          <a:ln/>
        </p:spPr>
        <p:txBody>
          <a:bodyPr wrap="square" lIns="0" tIns="0" rIns="0" bIns="0" rtlCol="0" anchor="ctr"/>
          <a:lstStyle/>
          <a:p>
            <a:pPr marL="0" indent="0">
              <a:buNone/>
            </a:pPr>
            <a:r>
              <a:rPr lang="en-US" sz="1400" i="1" dirty="0">
                <a:solidFill>
                  <a:srgbClr val="F4E9D8"/>
                </a:solidFill>
                <a:latin typeface="Calibri" pitchFamily="34" charset="0"/>
                <a:ea typeface="Calibri" pitchFamily="34" charset="-122"/>
                <a:cs typeface="Calibri" pitchFamily="34" charset="-120"/>
              </a:rPr>
              <a:t>SafeVision is an AI-powered geospatial public-safety platform built specifically for Lahore — predicting where and when crime is likely, recommending the safer route, reading handwritten Urdu FIRs automatically, and pushing real-time alerts to nearby citizens.</a:t>
            </a:r>
            <a:endParaRPr lang="en-US" sz="1400" dirty="0"/>
          </a:p>
        </p:txBody>
      </p:sp>
      <p:sp>
        <p:nvSpPr>
          <p:cNvPr id="8" name="Shape 6"/>
          <p:cNvSpPr/>
          <p:nvPr/>
        </p:nvSpPr>
        <p:spPr>
          <a:xfrm>
            <a:off x="640080" y="2971800"/>
            <a:ext cx="2697480" cy="3383280"/>
          </a:xfrm>
          <a:prstGeom prst="rect">
            <a:avLst/>
          </a:prstGeom>
          <a:solidFill>
            <a:srgbClr val="121C3A"/>
          </a:solidFill>
          <a:ln w="9525">
            <a:solidFill>
              <a:srgbClr val="2A3A6E"/>
            </a:solidFill>
            <a:prstDash val="solid"/>
          </a:ln>
        </p:spPr>
        <p:txBody>
          <a:bodyPr/>
          <a:lstStyle/>
          <a:p>
            <a:endParaRPr lang="en-US"/>
          </a:p>
        </p:txBody>
      </p:sp>
      <p:sp>
        <p:nvSpPr>
          <p:cNvPr id="9" name="Shape 7"/>
          <p:cNvSpPr/>
          <p:nvPr/>
        </p:nvSpPr>
        <p:spPr>
          <a:xfrm>
            <a:off x="640080" y="2971800"/>
            <a:ext cx="64008" cy="3383280"/>
          </a:xfrm>
          <a:prstGeom prst="rect">
            <a:avLst/>
          </a:prstGeom>
          <a:solidFill>
            <a:srgbClr val="C8F751"/>
          </a:solidFill>
          <a:ln w="12700">
            <a:solidFill>
              <a:srgbClr val="C8F751"/>
            </a:solidFill>
            <a:prstDash val="solid"/>
          </a:ln>
        </p:spPr>
        <p:txBody>
          <a:bodyPr/>
          <a:lstStyle/>
          <a:p>
            <a:endParaRPr lang="en-US"/>
          </a:p>
        </p:txBody>
      </p:sp>
      <p:sp>
        <p:nvSpPr>
          <p:cNvPr id="10" name="Text 8"/>
          <p:cNvSpPr/>
          <p:nvPr/>
        </p:nvSpPr>
        <p:spPr>
          <a:xfrm>
            <a:off x="822960" y="3108960"/>
            <a:ext cx="2377440" cy="502920"/>
          </a:xfrm>
          <a:prstGeom prst="rect">
            <a:avLst/>
          </a:prstGeom>
          <a:noFill/>
          <a:ln/>
        </p:spPr>
        <p:txBody>
          <a:bodyPr wrap="square" lIns="0" tIns="0" rIns="0" bIns="0" rtlCol="0" anchor="ctr"/>
          <a:lstStyle/>
          <a:p>
            <a:pPr marL="0" indent="0">
              <a:buNone/>
            </a:pPr>
            <a:r>
              <a:rPr lang="en-US" sz="2800" b="1" dirty="0">
                <a:solidFill>
                  <a:srgbClr val="C8F751"/>
                </a:solidFill>
                <a:latin typeface="Calibri" pitchFamily="34" charset="0"/>
                <a:ea typeface="Calibri" pitchFamily="34" charset="-122"/>
                <a:cs typeface="Calibri" pitchFamily="34" charset="-120"/>
              </a:rPr>
              <a:t>01</a:t>
            </a:r>
            <a:endParaRPr lang="en-US" sz="2800" dirty="0"/>
          </a:p>
        </p:txBody>
      </p:sp>
      <p:sp>
        <p:nvSpPr>
          <p:cNvPr id="11" name="Text 9"/>
          <p:cNvSpPr/>
          <p:nvPr/>
        </p:nvSpPr>
        <p:spPr>
          <a:xfrm>
            <a:off x="822960" y="3657600"/>
            <a:ext cx="237744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Predict Crime Risk</a:t>
            </a:r>
            <a:endParaRPr lang="en-US" sz="1400" dirty="0"/>
          </a:p>
        </p:txBody>
      </p:sp>
      <p:sp>
        <p:nvSpPr>
          <p:cNvPr id="12" name="Text 10"/>
          <p:cNvSpPr/>
          <p:nvPr/>
        </p:nvSpPr>
        <p:spPr>
          <a:xfrm>
            <a:off x="822960" y="4297680"/>
            <a:ext cx="2377440" cy="192024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Three models work together: Random Forest gives High/Medium/Low, Poisson gives the percentage chance, and a legacy fallback keeps the system working if the newer model ever fails.</a:t>
            </a:r>
            <a:endParaRPr lang="en-US" sz="1050" dirty="0"/>
          </a:p>
        </p:txBody>
      </p:sp>
      <p:sp>
        <p:nvSpPr>
          <p:cNvPr id="13" name="Shape 11"/>
          <p:cNvSpPr/>
          <p:nvPr/>
        </p:nvSpPr>
        <p:spPr>
          <a:xfrm>
            <a:off x="3474720" y="2971800"/>
            <a:ext cx="2697480" cy="3383280"/>
          </a:xfrm>
          <a:prstGeom prst="rect">
            <a:avLst/>
          </a:prstGeom>
          <a:solidFill>
            <a:srgbClr val="121C3A"/>
          </a:solidFill>
          <a:ln w="9525">
            <a:solidFill>
              <a:srgbClr val="2A3A6E"/>
            </a:solidFill>
            <a:prstDash val="solid"/>
          </a:ln>
        </p:spPr>
        <p:txBody>
          <a:bodyPr/>
          <a:lstStyle/>
          <a:p>
            <a:endParaRPr lang="en-US"/>
          </a:p>
        </p:txBody>
      </p:sp>
      <p:sp>
        <p:nvSpPr>
          <p:cNvPr id="14" name="Shape 12"/>
          <p:cNvSpPr/>
          <p:nvPr/>
        </p:nvSpPr>
        <p:spPr>
          <a:xfrm>
            <a:off x="3474720" y="2971800"/>
            <a:ext cx="64008" cy="3383280"/>
          </a:xfrm>
          <a:prstGeom prst="rect">
            <a:avLst/>
          </a:prstGeom>
          <a:solidFill>
            <a:srgbClr val="C8F751"/>
          </a:solidFill>
          <a:ln w="12700">
            <a:solidFill>
              <a:srgbClr val="C8F751"/>
            </a:solidFill>
            <a:prstDash val="solid"/>
          </a:ln>
        </p:spPr>
        <p:txBody>
          <a:bodyPr/>
          <a:lstStyle/>
          <a:p>
            <a:endParaRPr lang="en-US"/>
          </a:p>
        </p:txBody>
      </p:sp>
      <p:sp>
        <p:nvSpPr>
          <p:cNvPr id="15" name="Text 13"/>
          <p:cNvSpPr/>
          <p:nvPr/>
        </p:nvSpPr>
        <p:spPr>
          <a:xfrm>
            <a:off x="3657600" y="3108960"/>
            <a:ext cx="2377440" cy="502920"/>
          </a:xfrm>
          <a:prstGeom prst="rect">
            <a:avLst/>
          </a:prstGeom>
          <a:noFill/>
          <a:ln/>
        </p:spPr>
        <p:txBody>
          <a:bodyPr wrap="square" lIns="0" tIns="0" rIns="0" bIns="0" rtlCol="0" anchor="ctr"/>
          <a:lstStyle/>
          <a:p>
            <a:pPr marL="0" indent="0">
              <a:buNone/>
            </a:pPr>
            <a:r>
              <a:rPr lang="en-US" sz="2800" b="1" dirty="0">
                <a:solidFill>
                  <a:srgbClr val="C8F751"/>
                </a:solidFill>
                <a:latin typeface="Calibri" pitchFamily="34" charset="0"/>
                <a:ea typeface="Calibri" pitchFamily="34" charset="-122"/>
                <a:cs typeface="Calibri" pitchFamily="34" charset="-120"/>
              </a:rPr>
              <a:t>02</a:t>
            </a:r>
            <a:endParaRPr lang="en-US" sz="2800" dirty="0"/>
          </a:p>
        </p:txBody>
      </p:sp>
      <p:sp>
        <p:nvSpPr>
          <p:cNvPr id="16" name="Text 14"/>
          <p:cNvSpPr/>
          <p:nvPr/>
        </p:nvSpPr>
        <p:spPr>
          <a:xfrm>
            <a:off x="3657600" y="3657600"/>
            <a:ext cx="237744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Recommend Safe Routes</a:t>
            </a:r>
            <a:endParaRPr lang="en-US" sz="1400" dirty="0"/>
          </a:p>
        </p:txBody>
      </p:sp>
      <p:sp>
        <p:nvSpPr>
          <p:cNvPr id="17" name="Text 15"/>
          <p:cNvSpPr/>
          <p:nvPr/>
        </p:nvSpPr>
        <p:spPr>
          <a:xfrm>
            <a:off x="3657600" y="4297680"/>
            <a:ext cx="2377440" cy="192024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We generate 3 to 5 route options between two points and rank them by both average risk and worst-point risk along the line. The user sees the safest, not just the fastest.</a:t>
            </a:r>
            <a:endParaRPr lang="en-US" sz="1050" dirty="0"/>
          </a:p>
        </p:txBody>
      </p:sp>
      <p:sp>
        <p:nvSpPr>
          <p:cNvPr id="18" name="Shape 16"/>
          <p:cNvSpPr/>
          <p:nvPr/>
        </p:nvSpPr>
        <p:spPr>
          <a:xfrm>
            <a:off x="6309360" y="2971800"/>
            <a:ext cx="2697480" cy="3383280"/>
          </a:xfrm>
          <a:prstGeom prst="rect">
            <a:avLst/>
          </a:prstGeom>
          <a:solidFill>
            <a:srgbClr val="121C3A"/>
          </a:solidFill>
          <a:ln w="9525">
            <a:solidFill>
              <a:srgbClr val="2A3A6E"/>
            </a:solidFill>
            <a:prstDash val="solid"/>
          </a:ln>
        </p:spPr>
        <p:txBody>
          <a:bodyPr/>
          <a:lstStyle/>
          <a:p>
            <a:endParaRPr lang="en-US"/>
          </a:p>
        </p:txBody>
      </p:sp>
      <p:sp>
        <p:nvSpPr>
          <p:cNvPr id="19" name="Shape 17"/>
          <p:cNvSpPr/>
          <p:nvPr/>
        </p:nvSpPr>
        <p:spPr>
          <a:xfrm>
            <a:off x="6309360" y="2971800"/>
            <a:ext cx="64008" cy="3383280"/>
          </a:xfrm>
          <a:prstGeom prst="rect">
            <a:avLst/>
          </a:prstGeom>
          <a:solidFill>
            <a:srgbClr val="C8F751"/>
          </a:solidFill>
          <a:ln w="12700">
            <a:solidFill>
              <a:srgbClr val="C8F751"/>
            </a:solidFill>
            <a:prstDash val="solid"/>
          </a:ln>
        </p:spPr>
        <p:txBody>
          <a:bodyPr/>
          <a:lstStyle/>
          <a:p>
            <a:endParaRPr lang="en-US"/>
          </a:p>
        </p:txBody>
      </p:sp>
      <p:sp>
        <p:nvSpPr>
          <p:cNvPr id="20" name="Text 18"/>
          <p:cNvSpPr/>
          <p:nvPr/>
        </p:nvSpPr>
        <p:spPr>
          <a:xfrm>
            <a:off x="6492240" y="3108960"/>
            <a:ext cx="2377440" cy="502920"/>
          </a:xfrm>
          <a:prstGeom prst="rect">
            <a:avLst/>
          </a:prstGeom>
          <a:noFill/>
          <a:ln/>
        </p:spPr>
        <p:txBody>
          <a:bodyPr wrap="square" lIns="0" tIns="0" rIns="0" bIns="0" rtlCol="0" anchor="ctr"/>
          <a:lstStyle/>
          <a:p>
            <a:pPr marL="0" indent="0">
              <a:buNone/>
            </a:pPr>
            <a:r>
              <a:rPr lang="en-US" sz="2800" b="1" dirty="0">
                <a:solidFill>
                  <a:srgbClr val="C8F751"/>
                </a:solidFill>
                <a:latin typeface="Calibri" pitchFamily="34" charset="0"/>
                <a:ea typeface="Calibri" pitchFamily="34" charset="-122"/>
                <a:cs typeface="Calibri" pitchFamily="34" charset="-120"/>
              </a:rPr>
              <a:t>03</a:t>
            </a:r>
            <a:endParaRPr lang="en-US" sz="2800" dirty="0"/>
          </a:p>
        </p:txBody>
      </p:sp>
      <p:sp>
        <p:nvSpPr>
          <p:cNvPr id="21" name="Text 19"/>
          <p:cNvSpPr/>
          <p:nvPr/>
        </p:nvSpPr>
        <p:spPr>
          <a:xfrm>
            <a:off x="6492240" y="3657600"/>
            <a:ext cx="237744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Digitise Urdu FIRs</a:t>
            </a:r>
            <a:endParaRPr lang="en-US" sz="1400" dirty="0"/>
          </a:p>
        </p:txBody>
      </p:sp>
      <p:sp>
        <p:nvSpPr>
          <p:cNvPr id="22" name="Text 20"/>
          <p:cNvSpPr/>
          <p:nvPr/>
        </p:nvSpPr>
        <p:spPr>
          <a:xfrm>
            <a:off x="6492240" y="4297680"/>
            <a:ext cx="2377440" cy="192024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A 3-engine OCR pipeline reads Punjab Police FIRs in Urdu and English, extracts date, time, law sections, and area, and checks the law sections with an AI language model.</a:t>
            </a:r>
            <a:endParaRPr lang="en-US" sz="1050" dirty="0"/>
          </a:p>
        </p:txBody>
      </p:sp>
      <p:sp>
        <p:nvSpPr>
          <p:cNvPr id="23" name="Shape 21"/>
          <p:cNvSpPr/>
          <p:nvPr/>
        </p:nvSpPr>
        <p:spPr>
          <a:xfrm>
            <a:off x="9144000" y="2971800"/>
            <a:ext cx="2697480" cy="3383280"/>
          </a:xfrm>
          <a:prstGeom prst="rect">
            <a:avLst/>
          </a:prstGeom>
          <a:solidFill>
            <a:srgbClr val="121C3A"/>
          </a:solidFill>
          <a:ln w="9525">
            <a:solidFill>
              <a:srgbClr val="2A3A6E"/>
            </a:solidFill>
            <a:prstDash val="solid"/>
          </a:ln>
        </p:spPr>
        <p:txBody>
          <a:bodyPr/>
          <a:lstStyle/>
          <a:p>
            <a:endParaRPr lang="en-US"/>
          </a:p>
        </p:txBody>
      </p:sp>
      <p:sp>
        <p:nvSpPr>
          <p:cNvPr id="24" name="Shape 22"/>
          <p:cNvSpPr/>
          <p:nvPr/>
        </p:nvSpPr>
        <p:spPr>
          <a:xfrm>
            <a:off x="9144000" y="2971800"/>
            <a:ext cx="64008" cy="3383280"/>
          </a:xfrm>
          <a:prstGeom prst="rect">
            <a:avLst/>
          </a:prstGeom>
          <a:solidFill>
            <a:srgbClr val="C8F751"/>
          </a:solidFill>
          <a:ln w="12700">
            <a:solidFill>
              <a:srgbClr val="C8F751"/>
            </a:solidFill>
            <a:prstDash val="solid"/>
          </a:ln>
        </p:spPr>
        <p:txBody>
          <a:bodyPr/>
          <a:lstStyle/>
          <a:p>
            <a:endParaRPr lang="en-US"/>
          </a:p>
        </p:txBody>
      </p:sp>
      <p:sp>
        <p:nvSpPr>
          <p:cNvPr id="25" name="Text 23"/>
          <p:cNvSpPr/>
          <p:nvPr/>
        </p:nvSpPr>
        <p:spPr>
          <a:xfrm>
            <a:off x="9326880" y="3108960"/>
            <a:ext cx="2377440" cy="502920"/>
          </a:xfrm>
          <a:prstGeom prst="rect">
            <a:avLst/>
          </a:prstGeom>
          <a:noFill/>
          <a:ln/>
        </p:spPr>
        <p:txBody>
          <a:bodyPr wrap="square" lIns="0" tIns="0" rIns="0" bIns="0" rtlCol="0" anchor="ctr"/>
          <a:lstStyle/>
          <a:p>
            <a:pPr marL="0" indent="0">
              <a:buNone/>
            </a:pPr>
            <a:r>
              <a:rPr lang="en-US" sz="2800" b="1" dirty="0">
                <a:solidFill>
                  <a:srgbClr val="C8F751"/>
                </a:solidFill>
                <a:latin typeface="Calibri" pitchFamily="34" charset="0"/>
                <a:ea typeface="Calibri" pitchFamily="34" charset="-122"/>
                <a:cs typeface="Calibri" pitchFamily="34" charset="-120"/>
              </a:rPr>
              <a:t>04</a:t>
            </a:r>
            <a:endParaRPr lang="en-US" sz="2800" dirty="0"/>
          </a:p>
        </p:txBody>
      </p:sp>
      <p:sp>
        <p:nvSpPr>
          <p:cNvPr id="26" name="Text 24"/>
          <p:cNvSpPr/>
          <p:nvPr/>
        </p:nvSpPr>
        <p:spPr>
          <a:xfrm>
            <a:off x="9326880" y="3657600"/>
            <a:ext cx="237744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Real-time Alerts</a:t>
            </a:r>
            <a:endParaRPr lang="en-US" sz="1400" dirty="0"/>
          </a:p>
        </p:txBody>
      </p:sp>
      <p:sp>
        <p:nvSpPr>
          <p:cNvPr id="27" name="Text 25"/>
          <p:cNvSpPr/>
          <p:nvPr/>
        </p:nvSpPr>
        <p:spPr>
          <a:xfrm>
            <a:off x="9326880" y="4297680"/>
            <a:ext cx="2377440" cy="192024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Web push notifications fire when a verified crime happens within 5 km of a user's home, work or current location — with three alert types and a cooldown so the user is not spammed with repeated alerts.</a:t>
            </a:r>
            <a:endParaRPr lang="en-US" sz="1050" dirty="0"/>
          </a:p>
        </p:txBody>
      </p:sp>
      <p:sp>
        <p:nvSpPr>
          <p:cNvPr id="28" name="Text 26"/>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29" name="Text 27"/>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4 / 28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PROJECT IDENTITY &amp; LIVE FOOTPRINT</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Already deployed, already running</a:t>
            </a:r>
            <a:endParaRPr lang="en-US" sz="1200" dirty="0"/>
          </a:p>
        </p:txBody>
      </p:sp>
      <p:sp>
        <p:nvSpPr>
          <p:cNvPr id="5" name="Shape 3"/>
          <p:cNvSpPr/>
          <p:nvPr/>
        </p:nvSpPr>
        <p:spPr>
          <a:xfrm>
            <a:off x="640080" y="1371600"/>
            <a:ext cx="539496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22960" y="1554480"/>
            <a:ext cx="5029200" cy="320040"/>
          </a:xfrm>
          <a:prstGeom prst="rect">
            <a:avLst/>
          </a:prstGeom>
          <a:noFill/>
          <a:ln/>
        </p:spPr>
        <p:txBody>
          <a:bodyPr wrap="square" lIns="0" tIns="0" rIns="0" bIns="0" rtlCol="0" anchor="ctr"/>
          <a:lstStyle/>
          <a:p>
            <a:pPr marL="0" indent="0">
              <a:buNone/>
            </a:pPr>
            <a:r>
              <a:rPr lang="en-US" sz="1100" b="1" kern="0" spc="400" dirty="0">
                <a:solidFill>
                  <a:srgbClr val="C8F751"/>
                </a:solidFill>
                <a:latin typeface="Calibri" pitchFamily="34" charset="0"/>
                <a:ea typeface="Calibri" pitchFamily="34" charset="-122"/>
                <a:cs typeface="Calibri" pitchFamily="34" charset="-120"/>
              </a:rPr>
              <a:t>BRAND &amp; SCOPE</a:t>
            </a:r>
            <a:endParaRPr lang="en-US" sz="1100" dirty="0"/>
          </a:p>
        </p:txBody>
      </p:sp>
      <p:sp>
        <p:nvSpPr>
          <p:cNvPr id="8" name="Text 6"/>
          <p:cNvSpPr/>
          <p:nvPr/>
        </p:nvSpPr>
        <p:spPr>
          <a:xfrm>
            <a:off x="868680" y="1965960"/>
            <a:ext cx="219456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User-facing brand</a:t>
            </a:r>
            <a:endParaRPr lang="en-US" sz="1100" dirty="0"/>
          </a:p>
        </p:txBody>
      </p:sp>
      <p:sp>
        <p:nvSpPr>
          <p:cNvPr id="9" name="Text 7"/>
          <p:cNvSpPr/>
          <p:nvPr/>
        </p:nvSpPr>
        <p:spPr>
          <a:xfrm>
            <a:off x="3063240" y="1965960"/>
            <a:ext cx="292608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SafeVision</a:t>
            </a:r>
            <a:endParaRPr lang="en-US" sz="1150" dirty="0"/>
          </a:p>
        </p:txBody>
      </p:sp>
      <p:sp>
        <p:nvSpPr>
          <p:cNvPr id="10" name="Text 8"/>
          <p:cNvSpPr/>
          <p:nvPr/>
        </p:nvSpPr>
        <p:spPr>
          <a:xfrm>
            <a:off x="868680" y="2468880"/>
            <a:ext cx="219456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Repo / module name</a:t>
            </a:r>
            <a:endParaRPr lang="en-US" sz="1100" dirty="0"/>
          </a:p>
        </p:txBody>
      </p:sp>
      <p:sp>
        <p:nvSpPr>
          <p:cNvPr id="11" name="Text 9"/>
          <p:cNvSpPr/>
          <p:nvPr/>
        </p:nvSpPr>
        <p:spPr>
          <a:xfrm>
            <a:off x="3063240" y="2468880"/>
            <a:ext cx="292608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CrimeVision</a:t>
            </a:r>
            <a:endParaRPr lang="en-US" sz="1150" dirty="0"/>
          </a:p>
        </p:txBody>
      </p:sp>
      <p:sp>
        <p:nvSpPr>
          <p:cNvPr id="12" name="Text 10"/>
          <p:cNvSpPr/>
          <p:nvPr/>
        </p:nvSpPr>
        <p:spPr>
          <a:xfrm>
            <a:off x="868680" y="2971800"/>
            <a:ext cx="219456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Geographic focus</a:t>
            </a:r>
            <a:endParaRPr lang="en-US" sz="1100" dirty="0"/>
          </a:p>
        </p:txBody>
      </p:sp>
      <p:sp>
        <p:nvSpPr>
          <p:cNvPr id="13" name="Text 11"/>
          <p:cNvSpPr/>
          <p:nvPr/>
        </p:nvSpPr>
        <p:spPr>
          <a:xfrm>
            <a:off x="3063240" y="2971800"/>
            <a:ext cx="292608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Lahore-only (geofenced)</a:t>
            </a:r>
            <a:endParaRPr lang="en-US" sz="1150" dirty="0"/>
          </a:p>
        </p:txBody>
      </p:sp>
      <p:sp>
        <p:nvSpPr>
          <p:cNvPr id="14" name="Text 12"/>
          <p:cNvSpPr/>
          <p:nvPr/>
        </p:nvSpPr>
        <p:spPr>
          <a:xfrm>
            <a:off x="868680" y="3474720"/>
            <a:ext cx="219456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Backend host</a:t>
            </a:r>
            <a:endParaRPr lang="en-US" sz="1100" dirty="0"/>
          </a:p>
        </p:txBody>
      </p:sp>
      <p:sp>
        <p:nvSpPr>
          <p:cNvPr id="15" name="Text 13"/>
          <p:cNvSpPr/>
          <p:nvPr/>
        </p:nvSpPr>
        <p:spPr>
          <a:xfrm>
            <a:off x="3063240" y="3474720"/>
            <a:ext cx="292608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Render — FastAPI + Gunicorn</a:t>
            </a:r>
            <a:endParaRPr lang="en-US" sz="1150" dirty="0"/>
          </a:p>
        </p:txBody>
      </p:sp>
      <p:sp>
        <p:nvSpPr>
          <p:cNvPr id="16" name="Text 14"/>
          <p:cNvSpPr/>
          <p:nvPr/>
        </p:nvSpPr>
        <p:spPr>
          <a:xfrm>
            <a:off x="868680" y="3977640"/>
            <a:ext cx="219456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Frontend host</a:t>
            </a:r>
            <a:endParaRPr lang="en-US" sz="1100" dirty="0"/>
          </a:p>
        </p:txBody>
      </p:sp>
      <p:sp>
        <p:nvSpPr>
          <p:cNvPr id="17" name="Text 15"/>
          <p:cNvSpPr/>
          <p:nvPr/>
        </p:nvSpPr>
        <p:spPr>
          <a:xfrm>
            <a:off x="3063240" y="3977640"/>
            <a:ext cx="292608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Vercel — React 18 SPA</a:t>
            </a:r>
            <a:endParaRPr lang="en-US" sz="1150" dirty="0"/>
          </a:p>
        </p:txBody>
      </p:sp>
      <p:sp>
        <p:nvSpPr>
          <p:cNvPr id="18" name="Text 16"/>
          <p:cNvSpPr/>
          <p:nvPr/>
        </p:nvSpPr>
        <p:spPr>
          <a:xfrm>
            <a:off x="868680" y="4480560"/>
            <a:ext cx="219456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Database</a:t>
            </a:r>
            <a:endParaRPr lang="en-US" sz="1100" dirty="0"/>
          </a:p>
        </p:txBody>
      </p:sp>
      <p:sp>
        <p:nvSpPr>
          <p:cNvPr id="19" name="Text 17"/>
          <p:cNvSpPr/>
          <p:nvPr/>
        </p:nvSpPr>
        <p:spPr>
          <a:xfrm>
            <a:off x="3063240" y="4480560"/>
            <a:ext cx="292608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TiDB Cloud (MySQL 8 wire)</a:t>
            </a:r>
            <a:endParaRPr lang="en-US" sz="1150" dirty="0"/>
          </a:p>
        </p:txBody>
      </p:sp>
      <p:sp>
        <p:nvSpPr>
          <p:cNvPr id="20" name="Text 18"/>
          <p:cNvSpPr/>
          <p:nvPr/>
        </p:nvSpPr>
        <p:spPr>
          <a:xfrm>
            <a:off x="868680" y="4983480"/>
            <a:ext cx="219456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System email</a:t>
            </a:r>
            <a:endParaRPr lang="en-US" sz="1100" dirty="0"/>
          </a:p>
        </p:txBody>
      </p:sp>
      <p:sp>
        <p:nvSpPr>
          <p:cNvPr id="21" name="Text 19"/>
          <p:cNvSpPr/>
          <p:nvPr/>
        </p:nvSpPr>
        <p:spPr>
          <a:xfrm>
            <a:off x="3063240" y="4983480"/>
            <a:ext cx="292608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safevision.alerts@gmail.com</a:t>
            </a:r>
            <a:endParaRPr lang="en-US" sz="1150" dirty="0"/>
          </a:p>
        </p:txBody>
      </p:sp>
      <p:sp>
        <p:nvSpPr>
          <p:cNvPr id="22" name="Text 20"/>
          <p:cNvSpPr/>
          <p:nvPr/>
        </p:nvSpPr>
        <p:spPr>
          <a:xfrm>
            <a:off x="868680" y="5486400"/>
            <a:ext cx="219456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Deployment status</a:t>
            </a:r>
            <a:endParaRPr lang="en-US" sz="1100" dirty="0"/>
          </a:p>
        </p:txBody>
      </p:sp>
      <p:sp>
        <p:nvSpPr>
          <p:cNvPr id="23" name="Text 21"/>
          <p:cNvSpPr/>
          <p:nvPr/>
        </p:nvSpPr>
        <p:spPr>
          <a:xfrm>
            <a:off x="3063240" y="5486400"/>
            <a:ext cx="292608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Production — live now</a:t>
            </a:r>
            <a:endParaRPr lang="en-US" sz="1150" dirty="0"/>
          </a:p>
        </p:txBody>
      </p:sp>
      <p:sp>
        <p:nvSpPr>
          <p:cNvPr id="24" name="Shape 22"/>
          <p:cNvSpPr/>
          <p:nvPr/>
        </p:nvSpPr>
        <p:spPr>
          <a:xfrm>
            <a:off x="6309360" y="1371600"/>
            <a:ext cx="5394960" cy="4937760"/>
          </a:xfrm>
          <a:prstGeom prst="rect">
            <a:avLst/>
          </a:prstGeom>
          <a:solidFill>
            <a:srgbClr val="121C3A"/>
          </a:solidFill>
          <a:ln w="9525">
            <a:solidFill>
              <a:srgbClr val="2A3A6E"/>
            </a:solidFill>
            <a:prstDash val="solid"/>
          </a:ln>
        </p:spPr>
        <p:txBody>
          <a:bodyPr/>
          <a:lstStyle/>
          <a:p>
            <a:endParaRPr lang="en-US"/>
          </a:p>
        </p:txBody>
      </p:sp>
      <p:sp>
        <p:nvSpPr>
          <p:cNvPr id="25" name="Shape 23"/>
          <p:cNvSpPr/>
          <p:nvPr/>
        </p:nvSpPr>
        <p:spPr>
          <a:xfrm>
            <a:off x="630936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26" name="Text 24"/>
          <p:cNvSpPr/>
          <p:nvPr/>
        </p:nvSpPr>
        <p:spPr>
          <a:xfrm>
            <a:off x="6492240" y="1554480"/>
            <a:ext cx="5029200" cy="320040"/>
          </a:xfrm>
          <a:prstGeom prst="rect">
            <a:avLst/>
          </a:prstGeom>
          <a:noFill/>
          <a:ln/>
        </p:spPr>
        <p:txBody>
          <a:bodyPr wrap="square" lIns="0" tIns="0" rIns="0" bIns="0" rtlCol="0" anchor="ctr"/>
          <a:lstStyle/>
          <a:p>
            <a:pPr marL="0" indent="0">
              <a:buNone/>
            </a:pPr>
            <a:r>
              <a:rPr lang="en-US" sz="1100" b="1" kern="0" spc="400" dirty="0">
                <a:solidFill>
                  <a:srgbClr val="C8F751"/>
                </a:solidFill>
                <a:latin typeface="Calibri" pitchFamily="34" charset="0"/>
                <a:ea typeface="Calibri" pitchFamily="34" charset="-122"/>
                <a:cs typeface="Calibri" pitchFamily="34" charset="-120"/>
              </a:rPr>
              <a:t>VERIFIED CODEBASE SCALE</a:t>
            </a:r>
            <a:endParaRPr lang="en-US" sz="1100" dirty="0"/>
          </a:p>
        </p:txBody>
      </p:sp>
      <p:sp>
        <p:nvSpPr>
          <p:cNvPr id="27" name="Text 25"/>
          <p:cNvSpPr/>
          <p:nvPr/>
        </p:nvSpPr>
        <p:spPr>
          <a:xfrm>
            <a:off x="6537960" y="1965960"/>
            <a:ext cx="182880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Backend Python</a:t>
            </a:r>
            <a:endParaRPr lang="en-US" sz="1100" dirty="0"/>
          </a:p>
        </p:txBody>
      </p:sp>
      <p:sp>
        <p:nvSpPr>
          <p:cNvPr id="28" name="Text 26"/>
          <p:cNvSpPr/>
          <p:nvPr/>
        </p:nvSpPr>
        <p:spPr>
          <a:xfrm>
            <a:off x="8366760" y="1965960"/>
            <a:ext cx="1645920" cy="411480"/>
          </a:xfrm>
          <a:prstGeom prst="rect">
            <a:avLst/>
          </a:prstGeom>
          <a:noFill/>
          <a:ln/>
        </p:spPr>
        <p:txBody>
          <a:bodyPr wrap="square" lIns="0" tIns="0" rIns="0" bIns="0" rtlCol="0" anchor="ctr"/>
          <a:lstStyle/>
          <a:p>
            <a:pPr marL="0" indent="0" algn="r">
              <a:buNone/>
            </a:pPr>
            <a:r>
              <a:rPr lang="en-US" sz="1400" b="1" dirty="0">
                <a:solidFill>
                  <a:srgbClr val="C8F751"/>
                </a:solidFill>
                <a:latin typeface="Calibri" pitchFamily="34" charset="0"/>
                <a:ea typeface="Calibri" pitchFamily="34" charset="-122"/>
                <a:cs typeface="Calibri" pitchFamily="34" charset="-120"/>
              </a:rPr>
              <a:t>41,192</a:t>
            </a:r>
            <a:endParaRPr lang="en-US" sz="1400" dirty="0"/>
          </a:p>
        </p:txBody>
      </p:sp>
      <p:sp>
        <p:nvSpPr>
          <p:cNvPr id="29" name="Text 27"/>
          <p:cNvSpPr/>
          <p:nvPr/>
        </p:nvSpPr>
        <p:spPr>
          <a:xfrm>
            <a:off x="10058400" y="1965960"/>
            <a:ext cx="1554480" cy="41148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lines of code</a:t>
            </a:r>
            <a:endParaRPr lang="en-US" sz="1050" dirty="0"/>
          </a:p>
        </p:txBody>
      </p:sp>
      <p:sp>
        <p:nvSpPr>
          <p:cNvPr id="30" name="Text 28"/>
          <p:cNvSpPr/>
          <p:nvPr/>
        </p:nvSpPr>
        <p:spPr>
          <a:xfrm>
            <a:off x="6537960" y="2468880"/>
            <a:ext cx="182880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Frontend JS / JSX</a:t>
            </a:r>
            <a:endParaRPr lang="en-US" sz="1100" dirty="0"/>
          </a:p>
        </p:txBody>
      </p:sp>
      <p:sp>
        <p:nvSpPr>
          <p:cNvPr id="31" name="Text 29"/>
          <p:cNvSpPr/>
          <p:nvPr/>
        </p:nvSpPr>
        <p:spPr>
          <a:xfrm>
            <a:off x="8366760" y="2468880"/>
            <a:ext cx="1645920" cy="411480"/>
          </a:xfrm>
          <a:prstGeom prst="rect">
            <a:avLst/>
          </a:prstGeom>
          <a:noFill/>
          <a:ln/>
        </p:spPr>
        <p:txBody>
          <a:bodyPr wrap="square" lIns="0" tIns="0" rIns="0" bIns="0" rtlCol="0" anchor="ctr"/>
          <a:lstStyle/>
          <a:p>
            <a:pPr marL="0" indent="0" algn="r">
              <a:buNone/>
            </a:pPr>
            <a:r>
              <a:rPr lang="en-US" sz="1400" b="1" dirty="0">
                <a:solidFill>
                  <a:srgbClr val="C8F751"/>
                </a:solidFill>
                <a:latin typeface="Calibri" pitchFamily="34" charset="0"/>
                <a:ea typeface="Calibri" pitchFamily="34" charset="-122"/>
                <a:cs typeface="Calibri" pitchFamily="34" charset="-120"/>
              </a:rPr>
              <a:t>52,255</a:t>
            </a:r>
            <a:endParaRPr lang="en-US" sz="1400" dirty="0"/>
          </a:p>
        </p:txBody>
      </p:sp>
      <p:sp>
        <p:nvSpPr>
          <p:cNvPr id="32" name="Text 30"/>
          <p:cNvSpPr/>
          <p:nvPr/>
        </p:nvSpPr>
        <p:spPr>
          <a:xfrm>
            <a:off x="10058400" y="2468880"/>
            <a:ext cx="1554480" cy="41148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lines of code</a:t>
            </a:r>
            <a:endParaRPr lang="en-US" sz="1050" dirty="0"/>
          </a:p>
        </p:txBody>
      </p:sp>
      <p:sp>
        <p:nvSpPr>
          <p:cNvPr id="33" name="Text 31"/>
          <p:cNvSpPr/>
          <p:nvPr/>
        </p:nvSpPr>
        <p:spPr>
          <a:xfrm>
            <a:off x="6537960" y="2971800"/>
            <a:ext cx="182880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Frontend CSS</a:t>
            </a:r>
            <a:endParaRPr lang="en-US" sz="1100" dirty="0"/>
          </a:p>
        </p:txBody>
      </p:sp>
      <p:sp>
        <p:nvSpPr>
          <p:cNvPr id="34" name="Text 32"/>
          <p:cNvSpPr/>
          <p:nvPr/>
        </p:nvSpPr>
        <p:spPr>
          <a:xfrm>
            <a:off x="8366760" y="2971800"/>
            <a:ext cx="1645920" cy="411480"/>
          </a:xfrm>
          <a:prstGeom prst="rect">
            <a:avLst/>
          </a:prstGeom>
          <a:noFill/>
          <a:ln/>
        </p:spPr>
        <p:txBody>
          <a:bodyPr wrap="square" lIns="0" tIns="0" rIns="0" bIns="0" rtlCol="0" anchor="ctr"/>
          <a:lstStyle/>
          <a:p>
            <a:pPr marL="0" indent="0" algn="r">
              <a:buNone/>
            </a:pPr>
            <a:r>
              <a:rPr lang="en-US" sz="1400" b="1" dirty="0">
                <a:solidFill>
                  <a:srgbClr val="C8F751"/>
                </a:solidFill>
                <a:latin typeface="Calibri" pitchFamily="34" charset="0"/>
                <a:ea typeface="Calibri" pitchFamily="34" charset="-122"/>
                <a:cs typeface="Calibri" pitchFamily="34" charset="-120"/>
              </a:rPr>
              <a:t>48,443</a:t>
            </a:r>
            <a:endParaRPr lang="en-US" sz="1400" dirty="0"/>
          </a:p>
        </p:txBody>
      </p:sp>
      <p:sp>
        <p:nvSpPr>
          <p:cNvPr id="35" name="Text 33"/>
          <p:cNvSpPr/>
          <p:nvPr/>
        </p:nvSpPr>
        <p:spPr>
          <a:xfrm>
            <a:off x="10058400" y="2971800"/>
            <a:ext cx="1554480" cy="41148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lines of code</a:t>
            </a:r>
            <a:endParaRPr lang="en-US" sz="1050" dirty="0"/>
          </a:p>
        </p:txBody>
      </p:sp>
      <p:sp>
        <p:nvSpPr>
          <p:cNvPr id="36" name="Text 34"/>
          <p:cNvSpPr/>
          <p:nvPr/>
        </p:nvSpPr>
        <p:spPr>
          <a:xfrm>
            <a:off x="6537960" y="3474720"/>
            <a:ext cx="182880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OCR engine</a:t>
            </a:r>
            <a:endParaRPr lang="en-US" sz="1100" dirty="0"/>
          </a:p>
        </p:txBody>
      </p:sp>
      <p:sp>
        <p:nvSpPr>
          <p:cNvPr id="37" name="Text 35"/>
          <p:cNvSpPr/>
          <p:nvPr/>
        </p:nvSpPr>
        <p:spPr>
          <a:xfrm>
            <a:off x="8366760" y="3474720"/>
            <a:ext cx="1645920" cy="411480"/>
          </a:xfrm>
          <a:prstGeom prst="rect">
            <a:avLst/>
          </a:prstGeom>
          <a:noFill/>
          <a:ln/>
        </p:spPr>
        <p:txBody>
          <a:bodyPr wrap="square" lIns="0" tIns="0" rIns="0" bIns="0" rtlCol="0" anchor="ctr"/>
          <a:lstStyle/>
          <a:p>
            <a:pPr marL="0" indent="0" algn="r">
              <a:buNone/>
            </a:pPr>
            <a:r>
              <a:rPr lang="en-US" sz="1400" b="1" dirty="0">
                <a:solidFill>
                  <a:srgbClr val="C8F751"/>
                </a:solidFill>
                <a:latin typeface="Calibri" pitchFamily="34" charset="0"/>
                <a:ea typeface="Calibri" pitchFamily="34" charset="-122"/>
                <a:cs typeface="Calibri" pitchFamily="34" charset="-120"/>
              </a:rPr>
              <a:t>12,517</a:t>
            </a:r>
            <a:endParaRPr lang="en-US" sz="1400" dirty="0"/>
          </a:p>
        </p:txBody>
      </p:sp>
      <p:sp>
        <p:nvSpPr>
          <p:cNvPr id="38" name="Text 36"/>
          <p:cNvSpPr/>
          <p:nvPr/>
        </p:nvSpPr>
        <p:spPr>
          <a:xfrm>
            <a:off x="10058400" y="3474720"/>
            <a:ext cx="1554480" cy="41148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lines of code</a:t>
            </a:r>
            <a:endParaRPr lang="en-US" sz="1050" dirty="0"/>
          </a:p>
        </p:txBody>
      </p:sp>
      <p:sp>
        <p:nvSpPr>
          <p:cNvPr id="39" name="Text 37"/>
          <p:cNvSpPr/>
          <p:nvPr/>
        </p:nvSpPr>
        <p:spPr>
          <a:xfrm>
            <a:off x="6537960" y="3977640"/>
            <a:ext cx="182880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API endpoints</a:t>
            </a:r>
            <a:endParaRPr lang="en-US" sz="1100" dirty="0"/>
          </a:p>
        </p:txBody>
      </p:sp>
      <p:sp>
        <p:nvSpPr>
          <p:cNvPr id="40" name="Text 38"/>
          <p:cNvSpPr/>
          <p:nvPr/>
        </p:nvSpPr>
        <p:spPr>
          <a:xfrm>
            <a:off x="8366760" y="3977640"/>
            <a:ext cx="1645920" cy="411480"/>
          </a:xfrm>
          <a:prstGeom prst="rect">
            <a:avLst/>
          </a:prstGeom>
          <a:noFill/>
          <a:ln/>
        </p:spPr>
        <p:txBody>
          <a:bodyPr wrap="square" lIns="0" tIns="0" rIns="0" bIns="0" rtlCol="0" anchor="ctr"/>
          <a:lstStyle/>
          <a:p>
            <a:pPr marL="0" indent="0" algn="r">
              <a:buNone/>
            </a:pPr>
            <a:r>
              <a:rPr lang="en-US" sz="1400" b="1" dirty="0">
                <a:solidFill>
                  <a:srgbClr val="C8F751"/>
                </a:solidFill>
                <a:latin typeface="Calibri" pitchFamily="34" charset="0"/>
                <a:ea typeface="Calibri" pitchFamily="34" charset="-122"/>
                <a:cs typeface="Calibri" pitchFamily="34" charset="-120"/>
              </a:rPr>
              <a:t>128</a:t>
            </a:r>
            <a:endParaRPr lang="en-US" sz="1400" dirty="0"/>
          </a:p>
        </p:txBody>
      </p:sp>
      <p:sp>
        <p:nvSpPr>
          <p:cNvPr id="41" name="Text 39"/>
          <p:cNvSpPr/>
          <p:nvPr/>
        </p:nvSpPr>
        <p:spPr>
          <a:xfrm>
            <a:off x="10058400" y="3977640"/>
            <a:ext cx="1554480" cy="41148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across 11 routers</a:t>
            </a:r>
            <a:endParaRPr lang="en-US" sz="1050" dirty="0"/>
          </a:p>
        </p:txBody>
      </p:sp>
      <p:sp>
        <p:nvSpPr>
          <p:cNvPr id="42" name="Text 40"/>
          <p:cNvSpPr/>
          <p:nvPr/>
        </p:nvSpPr>
        <p:spPr>
          <a:xfrm>
            <a:off x="6537960" y="4480560"/>
            <a:ext cx="182880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Database tables</a:t>
            </a:r>
            <a:endParaRPr lang="en-US" sz="1100" dirty="0"/>
          </a:p>
        </p:txBody>
      </p:sp>
      <p:sp>
        <p:nvSpPr>
          <p:cNvPr id="43" name="Text 41"/>
          <p:cNvSpPr/>
          <p:nvPr/>
        </p:nvSpPr>
        <p:spPr>
          <a:xfrm>
            <a:off x="8366760" y="4480560"/>
            <a:ext cx="1645920" cy="411480"/>
          </a:xfrm>
          <a:prstGeom prst="rect">
            <a:avLst/>
          </a:prstGeom>
          <a:noFill/>
          <a:ln/>
        </p:spPr>
        <p:txBody>
          <a:bodyPr wrap="square" lIns="0" tIns="0" rIns="0" bIns="0" rtlCol="0" anchor="ctr"/>
          <a:lstStyle/>
          <a:p>
            <a:pPr marL="0" indent="0" algn="r">
              <a:buNone/>
            </a:pPr>
            <a:r>
              <a:rPr lang="en-US" sz="1400" b="1" dirty="0">
                <a:solidFill>
                  <a:srgbClr val="C8F751"/>
                </a:solidFill>
                <a:latin typeface="Calibri" pitchFamily="34" charset="0"/>
                <a:ea typeface="Calibri" pitchFamily="34" charset="-122"/>
                <a:cs typeface="Calibri" pitchFamily="34" charset="-120"/>
              </a:rPr>
              <a:t>37</a:t>
            </a:r>
            <a:endParaRPr lang="en-US" sz="1400" dirty="0"/>
          </a:p>
        </p:txBody>
      </p:sp>
      <p:sp>
        <p:nvSpPr>
          <p:cNvPr id="44" name="Text 42"/>
          <p:cNvSpPr/>
          <p:nvPr/>
        </p:nvSpPr>
        <p:spPr>
          <a:xfrm>
            <a:off x="10058400" y="4480560"/>
            <a:ext cx="1554480" cy="41148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across 6 domains</a:t>
            </a:r>
            <a:endParaRPr lang="en-US" sz="1050" dirty="0"/>
          </a:p>
        </p:txBody>
      </p:sp>
      <p:sp>
        <p:nvSpPr>
          <p:cNvPr id="45" name="Text 43"/>
          <p:cNvSpPr/>
          <p:nvPr/>
        </p:nvSpPr>
        <p:spPr>
          <a:xfrm>
            <a:off x="6537960" y="4983480"/>
            <a:ext cx="182880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React components</a:t>
            </a:r>
            <a:endParaRPr lang="en-US" sz="1100" dirty="0"/>
          </a:p>
        </p:txBody>
      </p:sp>
      <p:sp>
        <p:nvSpPr>
          <p:cNvPr id="46" name="Text 44"/>
          <p:cNvSpPr/>
          <p:nvPr/>
        </p:nvSpPr>
        <p:spPr>
          <a:xfrm>
            <a:off x="8366760" y="4983480"/>
            <a:ext cx="1645920" cy="411480"/>
          </a:xfrm>
          <a:prstGeom prst="rect">
            <a:avLst/>
          </a:prstGeom>
          <a:noFill/>
          <a:ln/>
        </p:spPr>
        <p:txBody>
          <a:bodyPr wrap="square" lIns="0" tIns="0" rIns="0" bIns="0" rtlCol="0" anchor="ctr"/>
          <a:lstStyle/>
          <a:p>
            <a:pPr marL="0" indent="0" algn="r">
              <a:buNone/>
            </a:pPr>
            <a:r>
              <a:rPr lang="en-US" sz="1400" b="1" dirty="0">
                <a:solidFill>
                  <a:srgbClr val="C8F751"/>
                </a:solidFill>
                <a:latin typeface="Calibri" pitchFamily="34" charset="0"/>
                <a:ea typeface="Calibri" pitchFamily="34" charset="-122"/>
                <a:cs typeface="Calibri" pitchFamily="34" charset="-120"/>
              </a:rPr>
              <a:t>108</a:t>
            </a:r>
            <a:endParaRPr lang="en-US" sz="1400" dirty="0"/>
          </a:p>
        </p:txBody>
      </p:sp>
      <p:sp>
        <p:nvSpPr>
          <p:cNvPr id="47" name="Text 45"/>
          <p:cNvSpPr/>
          <p:nvPr/>
        </p:nvSpPr>
        <p:spPr>
          <a:xfrm>
            <a:off x="10058400" y="4983480"/>
            <a:ext cx="1554480" cy="41148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screens &amp; widgets</a:t>
            </a:r>
            <a:endParaRPr lang="en-US" sz="1050" dirty="0"/>
          </a:p>
        </p:txBody>
      </p:sp>
      <p:sp>
        <p:nvSpPr>
          <p:cNvPr id="48" name="Text 46"/>
          <p:cNvSpPr/>
          <p:nvPr/>
        </p:nvSpPr>
        <p:spPr>
          <a:xfrm>
            <a:off x="6537960" y="5486400"/>
            <a:ext cx="182880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Total surface</a:t>
            </a:r>
            <a:endParaRPr lang="en-US" sz="1100" dirty="0"/>
          </a:p>
        </p:txBody>
      </p:sp>
      <p:sp>
        <p:nvSpPr>
          <p:cNvPr id="49" name="Text 47"/>
          <p:cNvSpPr/>
          <p:nvPr/>
        </p:nvSpPr>
        <p:spPr>
          <a:xfrm>
            <a:off x="8366760" y="5486400"/>
            <a:ext cx="1645920" cy="411480"/>
          </a:xfrm>
          <a:prstGeom prst="rect">
            <a:avLst/>
          </a:prstGeom>
          <a:noFill/>
          <a:ln/>
        </p:spPr>
        <p:txBody>
          <a:bodyPr wrap="square" lIns="0" tIns="0" rIns="0" bIns="0" rtlCol="0" anchor="ctr"/>
          <a:lstStyle/>
          <a:p>
            <a:pPr marL="0" indent="0" algn="r">
              <a:buNone/>
            </a:pPr>
            <a:r>
              <a:rPr lang="en-US" sz="1400" b="1" dirty="0">
                <a:solidFill>
                  <a:srgbClr val="C8F751"/>
                </a:solidFill>
                <a:latin typeface="Calibri" pitchFamily="34" charset="0"/>
                <a:ea typeface="Calibri" pitchFamily="34" charset="-122"/>
                <a:cs typeface="Calibri" pitchFamily="34" charset="-120"/>
              </a:rPr>
              <a:t>≈142,000</a:t>
            </a:r>
            <a:endParaRPr lang="en-US" sz="1400" dirty="0"/>
          </a:p>
        </p:txBody>
      </p:sp>
      <p:sp>
        <p:nvSpPr>
          <p:cNvPr id="50" name="Text 48"/>
          <p:cNvSpPr/>
          <p:nvPr/>
        </p:nvSpPr>
        <p:spPr>
          <a:xfrm>
            <a:off x="10058400" y="5486400"/>
            <a:ext cx="1554480" cy="41148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lines of code</a:t>
            </a:r>
            <a:endParaRPr lang="en-US" sz="1050" dirty="0"/>
          </a:p>
        </p:txBody>
      </p:sp>
      <p:sp>
        <p:nvSpPr>
          <p:cNvPr id="51" name="Text 49"/>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52" name="Text 50"/>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5 / 28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HIGH-LEVEL ARCHITECTURE</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Three-tier system with ML, OCR and external services</a:t>
            </a:r>
            <a:endParaRPr lang="en-US" sz="1200" dirty="0"/>
          </a:p>
        </p:txBody>
      </p:sp>
      <p:sp>
        <p:nvSpPr>
          <p:cNvPr id="5" name="Shape 3"/>
          <p:cNvSpPr/>
          <p:nvPr/>
        </p:nvSpPr>
        <p:spPr>
          <a:xfrm>
            <a:off x="640080" y="1371600"/>
            <a:ext cx="11064240" cy="914400"/>
          </a:xfrm>
          <a:prstGeom prst="rect">
            <a:avLst/>
          </a:prstGeom>
          <a:solidFill>
            <a:srgbClr val="1B2752"/>
          </a:solidFill>
          <a:ln w="9525">
            <a:solidFill>
              <a:srgbClr val="2A3A6E"/>
            </a:solidFill>
            <a:prstDash val="solid"/>
          </a:ln>
        </p:spPr>
        <p:txBody>
          <a:bodyPr/>
          <a:lstStyle/>
          <a:p>
            <a:endParaRPr lang="en-US"/>
          </a:p>
        </p:txBody>
      </p:sp>
      <p:sp>
        <p:nvSpPr>
          <p:cNvPr id="6" name="Text 4"/>
          <p:cNvSpPr/>
          <p:nvPr/>
        </p:nvSpPr>
        <p:spPr>
          <a:xfrm>
            <a:off x="822960" y="1463040"/>
            <a:ext cx="2743200" cy="274320"/>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CLIENT TIER</a:t>
            </a:r>
            <a:endParaRPr lang="en-US" sz="1000" dirty="0"/>
          </a:p>
        </p:txBody>
      </p:sp>
      <p:sp>
        <p:nvSpPr>
          <p:cNvPr id="7" name="Text 5"/>
          <p:cNvSpPr/>
          <p:nvPr/>
        </p:nvSpPr>
        <p:spPr>
          <a:xfrm>
            <a:off x="822960" y="1783080"/>
            <a:ext cx="10698480" cy="457200"/>
          </a:xfrm>
          <a:prstGeom prst="rect">
            <a:avLst/>
          </a:prstGeom>
          <a:noFill/>
          <a:ln/>
        </p:spPr>
        <p:txBody>
          <a:bodyPr wrap="square" lIns="0" tIns="0" rIns="0" bIns="0" rtlCol="0" anchor="ctr"/>
          <a:lstStyle/>
          <a:p>
            <a:pPr marL="0" indent="0">
              <a:buNone/>
            </a:pPr>
            <a:r>
              <a:rPr lang="en-US" sz="1300" dirty="0">
                <a:solidFill>
                  <a:srgbClr val="F4E9D8"/>
                </a:solidFill>
                <a:latin typeface="Calibri" pitchFamily="34" charset="0"/>
                <a:ea typeface="Calibri" pitchFamily="34" charset="-122"/>
                <a:cs typeface="Calibri" pitchFamily="34" charset="-120"/>
              </a:rPr>
              <a:t>React 18 SPA  ·  Leaflet + Heatmap  ·  Chart.js  ·  Service Worker + VAPID Push  ·  Vercel CDN</a:t>
            </a:r>
            <a:endParaRPr lang="en-US" sz="1300" dirty="0"/>
          </a:p>
        </p:txBody>
      </p:sp>
      <p:sp>
        <p:nvSpPr>
          <p:cNvPr id="8" name="Shape 6"/>
          <p:cNvSpPr/>
          <p:nvPr/>
        </p:nvSpPr>
        <p:spPr>
          <a:xfrm>
            <a:off x="4114800" y="2468880"/>
            <a:ext cx="0" cy="182880"/>
          </a:xfrm>
          <a:prstGeom prst="line">
            <a:avLst/>
          </a:prstGeom>
          <a:noFill/>
          <a:ln w="25400">
            <a:solidFill>
              <a:srgbClr val="C8F751"/>
            </a:solidFill>
            <a:prstDash val="solid"/>
          </a:ln>
        </p:spPr>
        <p:txBody>
          <a:bodyPr/>
          <a:lstStyle/>
          <a:p>
            <a:endParaRPr lang="en-US"/>
          </a:p>
        </p:txBody>
      </p:sp>
      <p:sp>
        <p:nvSpPr>
          <p:cNvPr id="9" name="Shape 7"/>
          <p:cNvSpPr/>
          <p:nvPr/>
        </p:nvSpPr>
        <p:spPr>
          <a:xfrm>
            <a:off x="8229600" y="2468880"/>
            <a:ext cx="0" cy="182880"/>
          </a:xfrm>
          <a:prstGeom prst="line">
            <a:avLst/>
          </a:prstGeom>
          <a:noFill/>
          <a:ln w="25400">
            <a:solidFill>
              <a:srgbClr val="C8F751"/>
            </a:solidFill>
            <a:prstDash val="solid"/>
          </a:ln>
        </p:spPr>
        <p:txBody>
          <a:bodyPr/>
          <a:lstStyle/>
          <a:p>
            <a:endParaRPr lang="en-US"/>
          </a:p>
        </p:txBody>
      </p:sp>
      <p:sp>
        <p:nvSpPr>
          <p:cNvPr id="10" name="Text 8"/>
          <p:cNvSpPr/>
          <p:nvPr/>
        </p:nvSpPr>
        <p:spPr>
          <a:xfrm>
            <a:off x="5120640" y="2395728"/>
            <a:ext cx="1920240" cy="292608"/>
          </a:xfrm>
          <a:prstGeom prst="rect">
            <a:avLst/>
          </a:prstGeom>
          <a:noFill/>
          <a:ln/>
        </p:spPr>
        <p:txBody>
          <a:bodyPr wrap="square" lIns="0" tIns="0" rIns="0" bIns="0" rtlCol="0" anchor="ctr"/>
          <a:lstStyle/>
          <a:p>
            <a:pPr marL="0" indent="0" algn="ctr">
              <a:buNone/>
            </a:pPr>
            <a:r>
              <a:rPr lang="en-US" sz="1100" b="1" dirty="0">
                <a:solidFill>
                  <a:srgbClr val="C8F751"/>
                </a:solidFill>
                <a:latin typeface="Consolas" pitchFamily="34" charset="0"/>
                <a:ea typeface="Consolas" pitchFamily="34" charset="-122"/>
                <a:cs typeface="Consolas" pitchFamily="34" charset="-120"/>
              </a:rPr>
              <a:t>HTTPS + JWT</a:t>
            </a:r>
            <a:endParaRPr lang="en-US" sz="1100" dirty="0"/>
          </a:p>
        </p:txBody>
      </p:sp>
      <p:sp>
        <p:nvSpPr>
          <p:cNvPr id="11" name="Shape 9"/>
          <p:cNvSpPr/>
          <p:nvPr/>
        </p:nvSpPr>
        <p:spPr>
          <a:xfrm>
            <a:off x="640080" y="2697480"/>
            <a:ext cx="11064240" cy="1280160"/>
          </a:xfrm>
          <a:prstGeom prst="rect">
            <a:avLst/>
          </a:prstGeom>
          <a:solidFill>
            <a:srgbClr val="121C3A"/>
          </a:solidFill>
          <a:ln w="9525">
            <a:solidFill>
              <a:srgbClr val="2A3A6E"/>
            </a:solidFill>
            <a:prstDash val="solid"/>
          </a:ln>
        </p:spPr>
        <p:txBody>
          <a:bodyPr/>
          <a:lstStyle/>
          <a:p>
            <a:endParaRPr lang="en-US"/>
          </a:p>
        </p:txBody>
      </p:sp>
      <p:sp>
        <p:nvSpPr>
          <p:cNvPr id="12" name="Shape 10"/>
          <p:cNvSpPr/>
          <p:nvPr/>
        </p:nvSpPr>
        <p:spPr>
          <a:xfrm>
            <a:off x="640080" y="2697480"/>
            <a:ext cx="64008" cy="1280160"/>
          </a:xfrm>
          <a:prstGeom prst="rect">
            <a:avLst/>
          </a:prstGeom>
          <a:solidFill>
            <a:srgbClr val="C8F751"/>
          </a:solidFill>
          <a:ln w="12700">
            <a:solidFill>
              <a:srgbClr val="C8F751"/>
            </a:solidFill>
            <a:prstDash val="solid"/>
          </a:ln>
        </p:spPr>
        <p:txBody>
          <a:bodyPr/>
          <a:lstStyle/>
          <a:p>
            <a:endParaRPr lang="en-US"/>
          </a:p>
        </p:txBody>
      </p:sp>
      <p:sp>
        <p:nvSpPr>
          <p:cNvPr id="13" name="Text 11"/>
          <p:cNvSpPr/>
          <p:nvPr/>
        </p:nvSpPr>
        <p:spPr>
          <a:xfrm>
            <a:off x="822960" y="2788920"/>
            <a:ext cx="2743200" cy="274320"/>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APPLICATION TIER</a:t>
            </a:r>
            <a:endParaRPr lang="en-US" sz="1000" dirty="0"/>
          </a:p>
        </p:txBody>
      </p:sp>
      <p:sp>
        <p:nvSpPr>
          <p:cNvPr id="14" name="Shape 12"/>
          <p:cNvSpPr/>
          <p:nvPr/>
        </p:nvSpPr>
        <p:spPr>
          <a:xfrm>
            <a:off x="868680" y="3154680"/>
            <a:ext cx="2542032" cy="713232"/>
          </a:xfrm>
          <a:prstGeom prst="rect">
            <a:avLst/>
          </a:prstGeom>
          <a:solidFill>
            <a:srgbClr val="1B2752"/>
          </a:solidFill>
          <a:ln w="6350">
            <a:solidFill>
              <a:srgbClr val="2A3A6E"/>
            </a:solidFill>
            <a:prstDash val="solid"/>
          </a:ln>
        </p:spPr>
        <p:txBody>
          <a:bodyPr/>
          <a:lstStyle/>
          <a:p>
            <a:endParaRPr lang="en-US"/>
          </a:p>
        </p:txBody>
      </p:sp>
      <p:sp>
        <p:nvSpPr>
          <p:cNvPr id="15" name="Text 13"/>
          <p:cNvSpPr/>
          <p:nvPr/>
        </p:nvSpPr>
        <p:spPr>
          <a:xfrm>
            <a:off x="960120" y="3200400"/>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FastAPI</a:t>
            </a:r>
            <a:endParaRPr lang="en-US" sz="1200" dirty="0"/>
          </a:p>
        </p:txBody>
      </p:sp>
      <p:sp>
        <p:nvSpPr>
          <p:cNvPr id="16" name="Text 14"/>
          <p:cNvSpPr/>
          <p:nvPr/>
        </p:nvSpPr>
        <p:spPr>
          <a:xfrm>
            <a:off x="960120" y="3502152"/>
            <a:ext cx="2377440" cy="320040"/>
          </a:xfrm>
          <a:prstGeom prst="rect">
            <a:avLst/>
          </a:prstGeom>
          <a:noFill/>
          <a:ln/>
        </p:spPr>
        <p:txBody>
          <a:bodyPr wrap="square" lIns="0" tIns="0" rIns="0" bIns="0" rtlCol="0" anchor="ctr"/>
          <a:lstStyle/>
          <a:p>
            <a:pPr marL="0" indent="0">
              <a:buNone/>
            </a:pPr>
            <a:r>
              <a:rPr lang="en-US" sz="950" dirty="0">
                <a:solidFill>
                  <a:srgbClr val="9AA8C7"/>
                </a:solidFill>
                <a:latin typeface="Calibri" pitchFamily="34" charset="0"/>
                <a:ea typeface="Calibri" pitchFamily="34" charset="-122"/>
                <a:cs typeface="Calibri" pitchFamily="34" charset="-120"/>
              </a:rPr>
              <a:t>128 endpoints / 11 routers</a:t>
            </a:r>
            <a:endParaRPr lang="en-US" sz="950" dirty="0"/>
          </a:p>
        </p:txBody>
      </p:sp>
      <p:sp>
        <p:nvSpPr>
          <p:cNvPr id="17" name="Shape 15"/>
          <p:cNvSpPr/>
          <p:nvPr/>
        </p:nvSpPr>
        <p:spPr>
          <a:xfrm>
            <a:off x="3566160" y="3154680"/>
            <a:ext cx="2542032" cy="713232"/>
          </a:xfrm>
          <a:prstGeom prst="rect">
            <a:avLst/>
          </a:prstGeom>
          <a:solidFill>
            <a:srgbClr val="1B2752"/>
          </a:solidFill>
          <a:ln w="6350">
            <a:solidFill>
              <a:srgbClr val="2A3A6E"/>
            </a:solidFill>
            <a:prstDash val="solid"/>
          </a:ln>
        </p:spPr>
        <p:txBody>
          <a:bodyPr/>
          <a:lstStyle/>
          <a:p>
            <a:endParaRPr lang="en-US"/>
          </a:p>
        </p:txBody>
      </p:sp>
      <p:sp>
        <p:nvSpPr>
          <p:cNvPr id="18" name="Text 16"/>
          <p:cNvSpPr/>
          <p:nvPr/>
        </p:nvSpPr>
        <p:spPr>
          <a:xfrm>
            <a:off x="3657600" y="3200400"/>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APScheduler</a:t>
            </a:r>
            <a:endParaRPr lang="en-US" sz="1200" dirty="0"/>
          </a:p>
        </p:txBody>
      </p:sp>
      <p:sp>
        <p:nvSpPr>
          <p:cNvPr id="19" name="Text 17"/>
          <p:cNvSpPr/>
          <p:nvPr/>
        </p:nvSpPr>
        <p:spPr>
          <a:xfrm>
            <a:off x="3657600" y="3502152"/>
            <a:ext cx="2377440" cy="320040"/>
          </a:xfrm>
          <a:prstGeom prst="rect">
            <a:avLst/>
          </a:prstGeom>
          <a:noFill/>
          <a:ln/>
        </p:spPr>
        <p:txBody>
          <a:bodyPr wrap="square" lIns="0" tIns="0" rIns="0" bIns="0" rtlCol="0" anchor="ctr"/>
          <a:lstStyle/>
          <a:p>
            <a:pPr marL="0" indent="0">
              <a:buNone/>
            </a:pPr>
            <a:r>
              <a:rPr lang="en-US" sz="950" dirty="0">
                <a:solidFill>
                  <a:srgbClr val="9AA8C7"/>
                </a:solidFill>
                <a:latin typeface="Calibri" pitchFamily="34" charset="0"/>
                <a:ea typeface="Calibri" pitchFamily="34" charset="-122"/>
                <a:cs typeface="Calibri" pitchFamily="34" charset="-120"/>
              </a:rPr>
              <a:t>3 background jobs</a:t>
            </a:r>
            <a:endParaRPr lang="en-US" sz="950" dirty="0"/>
          </a:p>
        </p:txBody>
      </p:sp>
      <p:sp>
        <p:nvSpPr>
          <p:cNvPr id="20" name="Shape 18"/>
          <p:cNvSpPr/>
          <p:nvPr/>
        </p:nvSpPr>
        <p:spPr>
          <a:xfrm>
            <a:off x="6263640" y="3154680"/>
            <a:ext cx="2542032" cy="713232"/>
          </a:xfrm>
          <a:prstGeom prst="rect">
            <a:avLst/>
          </a:prstGeom>
          <a:solidFill>
            <a:srgbClr val="1B2752"/>
          </a:solidFill>
          <a:ln w="6350">
            <a:solidFill>
              <a:srgbClr val="2A3A6E"/>
            </a:solidFill>
            <a:prstDash val="solid"/>
          </a:ln>
        </p:spPr>
        <p:txBody>
          <a:bodyPr/>
          <a:lstStyle/>
          <a:p>
            <a:endParaRPr lang="en-US"/>
          </a:p>
        </p:txBody>
      </p:sp>
      <p:sp>
        <p:nvSpPr>
          <p:cNvPr id="21" name="Text 19"/>
          <p:cNvSpPr/>
          <p:nvPr/>
        </p:nvSpPr>
        <p:spPr>
          <a:xfrm>
            <a:off x="6355080" y="3200400"/>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ML Service</a:t>
            </a:r>
            <a:endParaRPr lang="en-US" sz="1200" dirty="0"/>
          </a:p>
        </p:txBody>
      </p:sp>
      <p:sp>
        <p:nvSpPr>
          <p:cNvPr id="22" name="Text 20"/>
          <p:cNvSpPr/>
          <p:nvPr/>
        </p:nvSpPr>
        <p:spPr>
          <a:xfrm>
            <a:off x="6355080" y="3502152"/>
            <a:ext cx="2377440" cy="320040"/>
          </a:xfrm>
          <a:prstGeom prst="rect">
            <a:avLst/>
          </a:prstGeom>
          <a:noFill/>
          <a:ln/>
        </p:spPr>
        <p:txBody>
          <a:bodyPr wrap="square" lIns="0" tIns="0" rIns="0" bIns="0" rtlCol="0" anchor="ctr"/>
          <a:lstStyle/>
          <a:p>
            <a:pPr marL="0" indent="0">
              <a:buNone/>
            </a:pPr>
            <a:r>
              <a:rPr lang="en-US" sz="950" dirty="0">
                <a:solidFill>
                  <a:srgbClr val="9AA8C7"/>
                </a:solidFill>
                <a:latin typeface="Calibri" pitchFamily="34" charset="0"/>
                <a:ea typeface="Calibri" pitchFamily="34" charset="-122"/>
                <a:cs typeface="Calibri" pitchFamily="34" charset="-120"/>
              </a:rPr>
              <a:t>Random Forest + Poisson</a:t>
            </a:r>
            <a:endParaRPr lang="en-US" sz="950" dirty="0"/>
          </a:p>
        </p:txBody>
      </p:sp>
      <p:sp>
        <p:nvSpPr>
          <p:cNvPr id="23" name="Shape 21"/>
          <p:cNvSpPr/>
          <p:nvPr/>
        </p:nvSpPr>
        <p:spPr>
          <a:xfrm>
            <a:off x="8961120" y="3154680"/>
            <a:ext cx="2542032" cy="713232"/>
          </a:xfrm>
          <a:prstGeom prst="rect">
            <a:avLst/>
          </a:prstGeom>
          <a:solidFill>
            <a:srgbClr val="1B2752"/>
          </a:solidFill>
          <a:ln w="6350">
            <a:solidFill>
              <a:srgbClr val="2A3A6E"/>
            </a:solidFill>
            <a:prstDash val="solid"/>
          </a:ln>
        </p:spPr>
        <p:txBody>
          <a:bodyPr/>
          <a:lstStyle/>
          <a:p>
            <a:endParaRPr lang="en-US"/>
          </a:p>
        </p:txBody>
      </p:sp>
      <p:sp>
        <p:nvSpPr>
          <p:cNvPr id="24" name="Text 22"/>
          <p:cNvSpPr/>
          <p:nvPr/>
        </p:nvSpPr>
        <p:spPr>
          <a:xfrm>
            <a:off x="9052560" y="3200400"/>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OCR Service</a:t>
            </a:r>
            <a:endParaRPr lang="en-US" sz="1200" dirty="0"/>
          </a:p>
        </p:txBody>
      </p:sp>
      <p:sp>
        <p:nvSpPr>
          <p:cNvPr id="25" name="Text 23"/>
          <p:cNvSpPr/>
          <p:nvPr/>
        </p:nvSpPr>
        <p:spPr>
          <a:xfrm>
            <a:off x="9052560" y="3502152"/>
            <a:ext cx="2377440" cy="320040"/>
          </a:xfrm>
          <a:prstGeom prst="rect">
            <a:avLst/>
          </a:prstGeom>
          <a:noFill/>
          <a:ln/>
        </p:spPr>
        <p:txBody>
          <a:bodyPr wrap="square" lIns="0" tIns="0" rIns="0" bIns="0" rtlCol="0" anchor="ctr"/>
          <a:lstStyle/>
          <a:p>
            <a:pPr marL="0" indent="0">
              <a:buNone/>
            </a:pPr>
            <a:r>
              <a:rPr lang="en-US" sz="950" dirty="0">
                <a:solidFill>
                  <a:srgbClr val="9AA8C7"/>
                </a:solidFill>
                <a:latin typeface="Calibri" pitchFamily="34" charset="0"/>
                <a:ea typeface="Calibri" pitchFamily="34" charset="-122"/>
                <a:cs typeface="Calibri" pitchFamily="34" charset="-120"/>
              </a:rPr>
              <a:t>5-engine voting</a:t>
            </a:r>
            <a:endParaRPr lang="en-US" sz="950" dirty="0"/>
          </a:p>
        </p:txBody>
      </p:sp>
      <p:sp>
        <p:nvSpPr>
          <p:cNvPr id="26" name="Shape 24"/>
          <p:cNvSpPr/>
          <p:nvPr/>
        </p:nvSpPr>
        <p:spPr>
          <a:xfrm>
            <a:off x="3657600" y="4023360"/>
            <a:ext cx="0" cy="274320"/>
          </a:xfrm>
          <a:prstGeom prst="line">
            <a:avLst/>
          </a:prstGeom>
          <a:noFill/>
          <a:ln w="25400">
            <a:solidFill>
              <a:srgbClr val="C8F751"/>
            </a:solidFill>
            <a:prstDash val="solid"/>
          </a:ln>
        </p:spPr>
        <p:txBody>
          <a:bodyPr/>
          <a:lstStyle/>
          <a:p>
            <a:endParaRPr lang="en-US"/>
          </a:p>
        </p:txBody>
      </p:sp>
      <p:sp>
        <p:nvSpPr>
          <p:cNvPr id="27" name="Shape 25"/>
          <p:cNvSpPr/>
          <p:nvPr/>
        </p:nvSpPr>
        <p:spPr>
          <a:xfrm>
            <a:off x="8503920" y="4023360"/>
            <a:ext cx="0" cy="274320"/>
          </a:xfrm>
          <a:prstGeom prst="line">
            <a:avLst/>
          </a:prstGeom>
          <a:noFill/>
          <a:ln w="25400">
            <a:solidFill>
              <a:srgbClr val="C8F751"/>
            </a:solidFill>
            <a:prstDash val="solid"/>
          </a:ln>
        </p:spPr>
        <p:txBody>
          <a:bodyPr/>
          <a:lstStyle/>
          <a:p>
            <a:endParaRPr lang="en-US"/>
          </a:p>
        </p:txBody>
      </p:sp>
      <p:sp>
        <p:nvSpPr>
          <p:cNvPr id="28" name="Shape 26"/>
          <p:cNvSpPr/>
          <p:nvPr/>
        </p:nvSpPr>
        <p:spPr>
          <a:xfrm>
            <a:off x="640080" y="4434840"/>
            <a:ext cx="5303520" cy="1874520"/>
          </a:xfrm>
          <a:prstGeom prst="rect">
            <a:avLst/>
          </a:prstGeom>
          <a:solidFill>
            <a:srgbClr val="121C3A"/>
          </a:solidFill>
          <a:ln w="9525">
            <a:solidFill>
              <a:srgbClr val="2A3A6E"/>
            </a:solidFill>
            <a:prstDash val="solid"/>
          </a:ln>
        </p:spPr>
        <p:txBody>
          <a:bodyPr/>
          <a:lstStyle/>
          <a:p>
            <a:endParaRPr lang="en-US"/>
          </a:p>
        </p:txBody>
      </p:sp>
      <p:sp>
        <p:nvSpPr>
          <p:cNvPr id="29" name="Text 27"/>
          <p:cNvSpPr/>
          <p:nvPr/>
        </p:nvSpPr>
        <p:spPr>
          <a:xfrm>
            <a:off x="822960" y="4526280"/>
            <a:ext cx="2743200" cy="274320"/>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DATA TIER</a:t>
            </a:r>
            <a:endParaRPr lang="en-US" sz="1000" dirty="0"/>
          </a:p>
        </p:txBody>
      </p:sp>
      <p:sp>
        <p:nvSpPr>
          <p:cNvPr id="30" name="Text 28"/>
          <p:cNvSpPr/>
          <p:nvPr/>
        </p:nvSpPr>
        <p:spPr>
          <a:xfrm>
            <a:off x="822960" y="4846320"/>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TiDB Cloud (MySQL 8)</a:t>
            </a:r>
            <a:endParaRPr lang="en-US" sz="1600" dirty="0"/>
          </a:p>
        </p:txBody>
      </p:sp>
      <p:sp>
        <p:nvSpPr>
          <p:cNvPr id="31" name="Text 29"/>
          <p:cNvSpPr/>
          <p:nvPr/>
        </p:nvSpPr>
        <p:spPr>
          <a:xfrm>
            <a:off x="822960" y="5257800"/>
            <a:ext cx="4937760" cy="914400"/>
          </a:xfrm>
          <a:prstGeom prst="rect">
            <a:avLst/>
          </a:prstGeom>
          <a:noFill/>
          <a:ln/>
        </p:spPr>
        <p:txBody>
          <a:bodyPr wrap="square" lIns="0" tIns="0" rIns="0" bIns="0" rtlCol="0" anchor="ctr"/>
          <a:lstStyle/>
          <a:p>
            <a:pPr marL="0" indent="0">
              <a:buNone/>
            </a:pPr>
            <a:r>
              <a:rPr lang="en-US" sz="1100" dirty="0">
                <a:solidFill>
                  <a:srgbClr val="F4E9D8"/>
                </a:solidFill>
                <a:latin typeface="Calibri" pitchFamily="34" charset="0"/>
                <a:ea typeface="Calibri" pitchFamily="34" charset="-122"/>
                <a:cs typeface="Calibri" pitchFamily="34" charset="-120"/>
              </a:rPr>
              <a:t>37 tables across 6 domains</a:t>
            </a:r>
            <a:endParaRPr lang="en-US" sz="1100" dirty="0"/>
          </a:p>
          <a:p>
            <a:pPr marL="0" indent="0">
              <a:buNone/>
            </a:pPr>
            <a:r>
              <a:rPr lang="en-US" sz="1100" dirty="0">
                <a:solidFill>
                  <a:srgbClr val="F4E9D8"/>
                </a:solidFill>
                <a:latin typeface="Calibri" pitchFamily="34" charset="0"/>
                <a:ea typeface="Calibri" pitchFamily="34" charset="-122"/>
                <a:cs typeface="Calibri" pitchFamily="34" charset="-120"/>
              </a:rPr>
              <a:t>Users · Crimes · Alerts · Emergency</a:t>
            </a:r>
            <a:endParaRPr lang="en-US" sz="1100" dirty="0"/>
          </a:p>
          <a:p>
            <a:pPr marL="0" indent="0">
              <a:buNone/>
            </a:pPr>
            <a:r>
              <a:rPr lang="en-US" sz="1100" dirty="0">
                <a:solidFill>
                  <a:srgbClr val="F4E9D8"/>
                </a:solidFill>
                <a:latin typeface="Calibri" pitchFamily="34" charset="0"/>
                <a:ea typeface="Calibri" pitchFamily="34" charset="-122"/>
                <a:cs typeface="Calibri" pitchFamily="34" charset="-120"/>
              </a:rPr>
              <a:t>Audit · Reports &amp; Misc</a:t>
            </a:r>
            <a:endParaRPr lang="en-US" sz="1100" dirty="0"/>
          </a:p>
        </p:txBody>
      </p:sp>
      <p:sp>
        <p:nvSpPr>
          <p:cNvPr id="32" name="Shape 30"/>
          <p:cNvSpPr/>
          <p:nvPr/>
        </p:nvSpPr>
        <p:spPr>
          <a:xfrm>
            <a:off x="6400800" y="4434840"/>
            <a:ext cx="5303520" cy="1874520"/>
          </a:xfrm>
          <a:prstGeom prst="rect">
            <a:avLst/>
          </a:prstGeom>
          <a:solidFill>
            <a:srgbClr val="121C3A"/>
          </a:solidFill>
          <a:ln w="9525">
            <a:solidFill>
              <a:srgbClr val="2A3A6E"/>
            </a:solidFill>
            <a:prstDash val="solid"/>
          </a:ln>
        </p:spPr>
        <p:txBody>
          <a:bodyPr/>
          <a:lstStyle/>
          <a:p>
            <a:endParaRPr lang="en-US"/>
          </a:p>
        </p:txBody>
      </p:sp>
      <p:sp>
        <p:nvSpPr>
          <p:cNvPr id="33" name="Text 31"/>
          <p:cNvSpPr/>
          <p:nvPr/>
        </p:nvSpPr>
        <p:spPr>
          <a:xfrm>
            <a:off x="6583680" y="4526280"/>
            <a:ext cx="3657600" cy="274320"/>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EXTERNAL SERVICES</a:t>
            </a:r>
            <a:endParaRPr lang="en-US" sz="1000" dirty="0"/>
          </a:p>
        </p:txBody>
      </p:sp>
      <p:sp>
        <p:nvSpPr>
          <p:cNvPr id="34" name="Shape 32"/>
          <p:cNvSpPr/>
          <p:nvPr/>
        </p:nvSpPr>
        <p:spPr>
          <a:xfrm>
            <a:off x="6583680" y="4892040"/>
            <a:ext cx="1600200" cy="640080"/>
          </a:xfrm>
          <a:prstGeom prst="rect">
            <a:avLst/>
          </a:prstGeom>
          <a:solidFill>
            <a:srgbClr val="1B2752"/>
          </a:solidFill>
          <a:ln w="6350">
            <a:solidFill>
              <a:srgbClr val="2A3A6E"/>
            </a:solidFill>
            <a:prstDash val="solid"/>
          </a:ln>
        </p:spPr>
        <p:txBody>
          <a:bodyPr/>
          <a:lstStyle/>
          <a:p>
            <a:endParaRPr lang="en-US"/>
          </a:p>
        </p:txBody>
      </p:sp>
      <p:sp>
        <p:nvSpPr>
          <p:cNvPr id="35" name="Text 33"/>
          <p:cNvSpPr/>
          <p:nvPr/>
        </p:nvSpPr>
        <p:spPr>
          <a:xfrm>
            <a:off x="6675120" y="4937760"/>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OSRM</a:t>
            </a:r>
            <a:endParaRPr lang="en-US" sz="1100" dirty="0"/>
          </a:p>
        </p:txBody>
      </p:sp>
      <p:sp>
        <p:nvSpPr>
          <p:cNvPr id="36" name="Text 34"/>
          <p:cNvSpPr/>
          <p:nvPr/>
        </p:nvSpPr>
        <p:spPr>
          <a:xfrm>
            <a:off x="6675120" y="5221224"/>
            <a:ext cx="146304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Routing</a:t>
            </a:r>
            <a:endParaRPr lang="en-US" sz="900" dirty="0"/>
          </a:p>
        </p:txBody>
      </p:sp>
      <p:sp>
        <p:nvSpPr>
          <p:cNvPr id="37" name="Shape 35"/>
          <p:cNvSpPr/>
          <p:nvPr/>
        </p:nvSpPr>
        <p:spPr>
          <a:xfrm>
            <a:off x="8275320" y="4892040"/>
            <a:ext cx="1600200" cy="640080"/>
          </a:xfrm>
          <a:prstGeom prst="rect">
            <a:avLst/>
          </a:prstGeom>
          <a:solidFill>
            <a:srgbClr val="1B2752"/>
          </a:solidFill>
          <a:ln w="6350">
            <a:solidFill>
              <a:srgbClr val="2A3A6E"/>
            </a:solidFill>
            <a:prstDash val="solid"/>
          </a:ln>
        </p:spPr>
        <p:txBody>
          <a:bodyPr/>
          <a:lstStyle/>
          <a:p>
            <a:endParaRPr lang="en-US"/>
          </a:p>
        </p:txBody>
      </p:sp>
      <p:sp>
        <p:nvSpPr>
          <p:cNvPr id="38" name="Text 36"/>
          <p:cNvSpPr/>
          <p:nvPr/>
        </p:nvSpPr>
        <p:spPr>
          <a:xfrm>
            <a:off x="8366760" y="4937760"/>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Nominatim</a:t>
            </a:r>
            <a:endParaRPr lang="en-US" sz="1100" dirty="0"/>
          </a:p>
        </p:txBody>
      </p:sp>
      <p:sp>
        <p:nvSpPr>
          <p:cNvPr id="39" name="Text 37"/>
          <p:cNvSpPr/>
          <p:nvPr/>
        </p:nvSpPr>
        <p:spPr>
          <a:xfrm>
            <a:off x="8366760" y="5221224"/>
            <a:ext cx="146304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Geocoding</a:t>
            </a:r>
            <a:endParaRPr lang="en-US" sz="900" dirty="0"/>
          </a:p>
        </p:txBody>
      </p:sp>
      <p:sp>
        <p:nvSpPr>
          <p:cNvPr id="40" name="Shape 38"/>
          <p:cNvSpPr/>
          <p:nvPr/>
        </p:nvSpPr>
        <p:spPr>
          <a:xfrm>
            <a:off x="9966960" y="4892040"/>
            <a:ext cx="1600200" cy="640080"/>
          </a:xfrm>
          <a:prstGeom prst="rect">
            <a:avLst/>
          </a:prstGeom>
          <a:solidFill>
            <a:srgbClr val="1B2752"/>
          </a:solidFill>
          <a:ln w="6350">
            <a:solidFill>
              <a:srgbClr val="2A3A6E"/>
            </a:solidFill>
            <a:prstDash val="solid"/>
          </a:ln>
        </p:spPr>
        <p:txBody>
          <a:bodyPr/>
          <a:lstStyle/>
          <a:p>
            <a:endParaRPr lang="en-US"/>
          </a:p>
        </p:txBody>
      </p:sp>
      <p:sp>
        <p:nvSpPr>
          <p:cNvPr id="41" name="Text 39"/>
          <p:cNvSpPr/>
          <p:nvPr/>
        </p:nvSpPr>
        <p:spPr>
          <a:xfrm>
            <a:off x="10058400" y="4937760"/>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Groq LLM</a:t>
            </a:r>
            <a:endParaRPr lang="en-US" sz="1100" dirty="0"/>
          </a:p>
        </p:txBody>
      </p:sp>
      <p:sp>
        <p:nvSpPr>
          <p:cNvPr id="42" name="Text 40"/>
          <p:cNvSpPr/>
          <p:nvPr/>
        </p:nvSpPr>
        <p:spPr>
          <a:xfrm>
            <a:off x="10058400" y="5221224"/>
            <a:ext cx="146304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PPC verify</a:t>
            </a:r>
            <a:endParaRPr lang="en-US" sz="900" dirty="0"/>
          </a:p>
        </p:txBody>
      </p:sp>
      <p:sp>
        <p:nvSpPr>
          <p:cNvPr id="43" name="Shape 41"/>
          <p:cNvSpPr/>
          <p:nvPr/>
        </p:nvSpPr>
        <p:spPr>
          <a:xfrm>
            <a:off x="6583680" y="5605272"/>
            <a:ext cx="1600200" cy="640080"/>
          </a:xfrm>
          <a:prstGeom prst="rect">
            <a:avLst/>
          </a:prstGeom>
          <a:solidFill>
            <a:srgbClr val="1B2752"/>
          </a:solidFill>
          <a:ln w="6350">
            <a:solidFill>
              <a:srgbClr val="2A3A6E"/>
            </a:solidFill>
            <a:prstDash val="solid"/>
          </a:ln>
        </p:spPr>
        <p:txBody>
          <a:bodyPr/>
          <a:lstStyle/>
          <a:p>
            <a:endParaRPr lang="en-US"/>
          </a:p>
        </p:txBody>
      </p:sp>
      <p:sp>
        <p:nvSpPr>
          <p:cNvPr id="44" name="Text 42"/>
          <p:cNvSpPr/>
          <p:nvPr/>
        </p:nvSpPr>
        <p:spPr>
          <a:xfrm>
            <a:off x="6675120" y="5650992"/>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OpenRouter</a:t>
            </a:r>
            <a:endParaRPr lang="en-US" sz="1100" dirty="0"/>
          </a:p>
        </p:txBody>
      </p:sp>
      <p:sp>
        <p:nvSpPr>
          <p:cNvPr id="45" name="Text 43"/>
          <p:cNvSpPr/>
          <p:nvPr/>
        </p:nvSpPr>
        <p:spPr>
          <a:xfrm>
            <a:off x="6675120" y="5934456"/>
            <a:ext cx="146304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Fallback LLM</a:t>
            </a:r>
            <a:endParaRPr lang="en-US" sz="900" dirty="0"/>
          </a:p>
        </p:txBody>
      </p:sp>
      <p:sp>
        <p:nvSpPr>
          <p:cNvPr id="46" name="Shape 44"/>
          <p:cNvSpPr/>
          <p:nvPr/>
        </p:nvSpPr>
        <p:spPr>
          <a:xfrm>
            <a:off x="8275320" y="5605272"/>
            <a:ext cx="1600200" cy="640080"/>
          </a:xfrm>
          <a:prstGeom prst="rect">
            <a:avLst/>
          </a:prstGeom>
          <a:solidFill>
            <a:srgbClr val="1B2752"/>
          </a:solidFill>
          <a:ln w="6350">
            <a:solidFill>
              <a:srgbClr val="2A3A6E"/>
            </a:solidFill>
            <a:prstDash val="solid"/>
          </a:ln>
        </p:spPr>
        <p:txBody>
          <a:bodyPr/>
          <a:lstStyle/>
          <a:p>
            <a:endParaRPr lang="en-US"/>
          </a:p>
        </p:txBody>
      </p:sp>
      <p:sp>
        <p:nvSpPr>
          <p:cNvPr id="47" name="Text 45"/>
          <p:cNvSpPr/>
          <p:nvPr/>
        </p:nvSpPr>
        <p:spPr>
          <a:xfrm>
            <a:off x="8366760" y="5650992"/>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Gemini</a:t>
            </a:r>
            <a:endParaRPr lang="en-US" sz="1100" dirty="0"/>
          </a:p>
        </p:txBody>
      </p:sp>
      <p:sp>
        <p:nvSpPr>
          <p:cNvPr id="48" name="Text 46"/>
          <p:cNvSpPr/>
          <p:nvPr/>
        </p:nvSpPr>
        <p:spPr>
          <a:xfrm>
            <a:off x="8366760" y="5934456"/>
            <a:ext cx="146304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Vision OCR</a:t>
            </a:r>
            <a:endParaRPr lang="en-US" sz="900" dirty="0"/>
          </a:p>
        </p:txBody>
      </p:sp>
      <p:sp>
        <p:nvSpPr>
          <p:cNvPr id="49" name="Shape 47"/>
          <p:cNvSpPr/>
          <p:nvPr/>
        </p:nvSpPr>
        <p:spPr>
          <a:xfrm>
            <a:off x="9966960" y="5605272"/>
            <a:ext cx="1600200" cy="640080"/>
          </a:xfrm>
          <a:prstGeom prst="rect">
            <a:avLst/>
          </a:prstGeom>
          <a:solidFill>
            <a:srgbClr val="1B2752"/>
          </a:solidFill>
          <a:ln w="6350">
            <a:solidFill>
              <a:srgbClr val="2A3A6E"/>
            </a:solidFill>
            <a:prstDash val="solid"/>
          </a:ln>
        </p:spPr>
        <p:txBody>
          <a:bodyPr/>
          <a:lstStyle/>
          <a:p>
            <a:endParaRPr lang="en-US"/>
          </a:p>
        </p:txBody>
      </p:sp>
      <p:sp>
        <p:nvSpPr>
          <p:cNvPr id="50" name="Text 48"/>
          <p:cNvSpPr/>
          <p:nvPr/>
        </p:nvSpPr>
        <p:spPr>
          <a:xfrm>
            <a:off x="10058400" y="5650992"/>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Gmail SMTP</a:t>
            </a:r>
            <a:endParaRPr lang="en-US" sz="1100" dirty="0"/>
          </a:p>
        </p:txBody>
      </p:sp>
      <p:sp>
        <p:nvSpPr>
          <p:cNvPr id="51" name="Text 49"/>
          <p:cNvSpPr/>
          <p:nvPr/>
        </p:nvSpPr>
        <p:spPr>
          <a:xfrm>
            <a:off x="10058400" y="5934456"/>
            <a:ext cx="146304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OTP / digest</a:t>
            </a:r>
            <a:endParaRPr lang="en-US" sz="900" dirty="0"/>
          </a:p>
        </p:txBody>
      </p:sp>
      <p:sp>
        <p:nvSpPr>
          <p:cNvPr id="52" name="Text 50"/>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53" name="Text 51"/>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6 / 28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BACKEND TECH STACK</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Every package, every version — verified from requirements.txt</a:t>
            </a:r>
            <a:endParaRPr lang="en-US" sz="1200" dirty="0"/>
          </a:p>
        </p:txBody>
      </p:sp>
      <p:sp>
        <p:nvSpPr>
          <p:cNvPr id="5" name="Shape 3"/>
          <p:cNvSpPr/>
          <p:nvPr/>
        </p:nvSpPr>
        <p:spPr>
          <a:xfrm>
            <a:off x="640080" y="1371600"/>
            <a:ext cx="3611880" cy="109728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109728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04672" y="144475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WEB FRAMEWORK</a:t>
            </a:r>
            <a:endParaRPr lang="en-US" sz="900" dirty="0"/>
          </a:p>
        </p:txBody>
      </p:sp>
      <p:sp>
        <p:nvSpPr>
          <p:cNvPr id="8" name="Text 6"/>
          <p:cNvSpPr/>
          <p:nvPr/>
        </p:nvSpPr>
        <p:spPr>
          <a:xfrm>
            <a:off x="804672" y="166420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FastAPI 0.115.6</a:t>
            </a:r>
            <a:endParaRPr lang="en-US" sz="1200" dirty="0"/>
          </a:p>
        </p:txBody>
      </p:sp>
      <p:sp>
        <p:nvSpPr>
          <p:cNvPr id="9" name="Text 7"/>
          <p:cNvSpPr/>
          <p:nvPr/>
        </p:nvSpPr>
        <p:spPr>
          <a:xfrm>
            <a:off x="804672" y="193852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Modern Python framework that handles many requests at once and auto-generates the API documentation page.</a:t>
            </a:r>
            <a:endParaRPr lang="en-US" sz="950" dirty="0"/>
          </a:p>
        </p:txBody>
      </p:sp>
      <p:sp>
        <p:nvSpPr>
          <p:cNvPr id="10" name="Shape 8"/>
          <p:cNvSpPr/>
          <p:nvPr/>
        </p:nvSpPr>
        <p:spPr>
          <a:xfrm>
            <a:off x="4389120" y="1371600"/>
            <a:ext cx="3611880" cy="1097280"/>
          </a:xfrm>
          <a:prstGeom prst="rect">
            <a:avLst/>
          </a:prstGeom>
          <a:solidFill>
            <a:srgbClr val="121C3A"/>
          </a:solidFill>
          <a:ln w="9525">
            <a:solidFill>
              <a:srgbClr val="2A3A6E"/>
            </a:solidFill>
            <a:prstDash val="solid"/>
          </a:ln>
        </p:spPr>
        <p:txBody>
          <a:bodyPr/>
          <a:lstStyle/>
          <a:p>
            <a:endParaRPr lang="en-US"/>
          </a:p>
        </p:txBody>
      </p:sp>
      <p:sp>
        <p:nvSpPr>
          <p:cNvPr id="11" name="Shape 9"/>
          <p:cNvSpPr/>
          <p:nvPr/>
        </p:nvSpPr>
        <p:spPr>
          <a:xfrm>
            <a:off x="4389120" y="1371600"/>
            <a:ext cx="64008" cy="1097280"/>
          </a:xfrm>
          <a:prstGeom prst="rect">
            <a:avLst/>
          </a:prstGeom>
          <a:solidFill>
            <a:srgbClr val="C8F751"/>
          </a:solidFill>
          <a:ln w="12700">
            <a:solidFill>
              <a:srgbClr val="C8F751"/>
            </a:solidFill>
            <a:prstDash val="solid"/>
          </a:ln>
        </p:spPr>
        <p:txBody>
          <a:bodyPr/>
          <a:lstStyle/>
          <a:p>
            <a:endParaRPr lang="en-US"/>
          </a:p>
        </p:txBody>
      </p:sp>
      <p:sp>
        <p:nvSpPr>
          <p:cNvPr id="12" name="Text 10"/>
          <p:cNvSpPr/>
          <p:nvPr/>
        </p:nvSpPr>
        <p:spPr>
          <a:xfrm>
            <a:off x="4553712" y="144475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ASGI SERVER</a:t>
            </a:r>
            <a:endParaRPr lang="en-US" sz="900" dirty="0"/>
          </a:p>
        </p:txBody>
      </p:sp>
      <p:sp>
        <p:nvSpPr>
          <p:cNvPr id="13" name="Text 11"/>
          <p:cNvSpPr/>
          <p:nvPr/>
        </p:nvSpPr>
        <p:spPr>
          <a:xfrm>
            <a:off x="4553712" y="166420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Uvicorn 0.24.0</a:t>
            </a:r>
            <a:endParaRPr lang="en-US" sz="1200" dirty="0"/>
          </a:p>
        </p:txBody>
      </p:sp>
      <p:sp>
        <p:nvSpPr>
          <p:cNvPr id="14" name="Text 12"/>
          <p:cNvSpPr/>
          <p:nvPr/>
        </p:nvSpPr>
        <p:spPr>
          <a:xfrm>
            <a:off x="4553712" y="193852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The actual process that runs FastAPI in production. Sits behind Gunicorn workers on Render.</a:t>
            </a:r>
            <a:endParaRPr lang="en-US" sz="950" dirty="0"/>
          </a:p>
        </p:txBody>
      </p:sp>
      <p:sp>
        <p:nvSpPr>
          <p:cNvPr id="15" name="Shape 13"/>
          <p:cNvSpPr/>
          <p:nvPr/>
        </p:nvSpPr>
        <p:spPr>
          <a:xfrm>
            <a:off x="8138160" y="1371600"/>
            <a:ext cx="3611880" cy="1097280"/>
          </a:xfrm>
          <a:prstGeom prst="rect">
            <a:avLst/>
          </a:prstGeom>
          <a:solidFill>
            <a:srgbClr val="121C3A"/>
          </a:solidFill>
          <a:ln w="9525">
            <a:solidFill>
              <a:srgbClr val="2A3A6E"/>
            </a:solidFill>
            <a:prstDash val="solid"/>
          </a:ln>
        </p:spPr>
        <p:txBody>
          <a:bodyPr/>
          <a:lstStyle/>
          <a:p>
            <a:endParaRPr lang="en-US"/>
          </a:p>
        </p:txBody>
      </p:sp>
      <p:sp>
        <p:nvSpPr>
          <p:cNvPr id="16" name="Shape 14"/>
          <p:cNvSpPr/>
          <p:nvPr/>
        </p:nvSpPr>
        <p:spPr>
          <a:xfrm>
            <a:off x="8138160" y="1371600"/>
            <a:ext cx="64008" cy="1097280"/>
          </a:xfrm>
          <a:prstGeom prst="rect">
            <a:avLst/>
          </a:prstGeom>
          <a:solidFill>
            <a:srgbClr val="C8F751"/>
          </a:solidFill>
          <a:ln w="12700">
            <a:solidFill>
              <a:srgbClr val="C8F751"/>
            </a:solidFill>
            <a:prstDash val="solid"/>
          </a:ln>
        </p:spPr>
        <p:txBody>
          <a:bodyPr/>
          <a:lstStyle/>
          <a:p>
            <a:endParaRPr lang="en-US"/>
          </a:p>
        </p:txBody>
      </p:sp>
      <p:sp>
        <p:nvSpPr>
          <p:cNvPr id="17" name="Text 15"/>
          <p:cNvSpPr/>
          <p:nvPr/>
        </p:nvSpPr>
        <p:spPr>
          <a:xfrm>
            <a:off x="8302752" y="144475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ML LIBRARY</a:t>
            </a:r>
            <a:endParaRPr lang="en-US" sz="900" dirty="0"/>
          </a:p>
        </p:txBody>
      </p:sp>
      <p:sp>
        <p:nvSpPr>
          <p:cNvPr id="18" name="Text 16"/>
          <p:cNvSpPr/>
          <p:nvPr/>
        </p:nvSpPr>
        <p:spPr>
          <a:xfrm>
            <a:off x="8302752" y="166420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scikit-learn 1.4.2</a:t>
            </a:r>
            <a:endParaRPr lang="en-US" sz="1200" dirty="0"/>
          </a:p>
        </p:txBody>
      </p:sp>
      <p:sp>
        <p:nvSpPr>
          <p:cNvPr id="19" name="Text 17"/>
          <p:cNvSpPr/>
          <p:nvPr/>
        </p:nvSpPr>
        <p:spPr>
          <a:xfrm>
            <a:off x="8302752" y="193852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The standard Python machine-learning toolkit. We use it for Random Forest and the Poisson estimator.</a:t>
            </a:r>
            <a:endParaRPr lang="en-US" sz="950" dirty="0"/>
          </a:p>
        </p:txBody>
      </p:sp>
      <p:sp>
        <p:nvSpPr>
          <p:cNvPr id="20" name="Shape 18"/>
          <p:cNvSpPr/>
          <p:nvPr/>
        </p:nvSpPr>
        <p:spPr>
          <a:xfrm>
            <a:off x="640080" y="2606040"/>
            <a:ext cx="3611880" cy="1097280"/>
          </a:xfrm>
          <a:prstGeom prst="rect">
            <a:avLst/>
          </a:prstGeom>
          <a:solidFill>
            <a:srgbClr val="121C3A"/>
          </a:solidFill>
          <a:ln w="9525">
            <a:solidFill>
              <a:srgbClr val="2A3A6E"/>
            </a:solidFill>
            <a:prstDash val="solid"/>
          </a:ln>
        </p:spPr>
        <p:txBody>
          <a:bodyPr/>
          <a:lstStyle/>
          <a:p>
            <a:endParaRPr lang="en-US"/>
          </a:p>
        </p:txBody>
      </p:sp>
      <p:sp>
        <p:nvSpPr>
          <p:cNvPr id="21" name="Shape 19"/>
          <p:cNvSpPr/>
          <p:nvPr/>
        </p:nvSpPr>
        <p:spPr>
          <a:xfrm>
            <a:off x="640080" y="2606040"/>
            <a:ext cx="64008" cy="1097280"/>
          </a:xfrm>
          <a:prstGeom prst="rect">
            <a:avLst/>
          </a:prstGeom>
          <a:solidFill>
            <a:srgbClr val="C8F751"/>
          </a:solidFill>
          <a:ln w="12700">
            <a:solidFill>
              <a:srgbClr val="C8F751"/>
            </a:solidFill>
            <a:prstDash val="solid"/>
          </a:ln>
        </p:spPr>
        <p:txBody>
          <a:bodyPr/>
          <a:lstStyle/>
          <a:p>
            <a:endParaRPr lang="en-US"/>
          </a:p>
        </p:txBody>
      </p:sp>
      <p:sp>
        <p:nvSpPr>
          <p:cNvPr id="22" name="Text 20"/>
          <p:cNvSpPr/>
          <p:nvPr/>
        </p:nvSpPr>
        <p:spPr>
          <a:xfrm>
            <a:off x="804672" y="267919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BACKGROUND JOBS</a:t>
            </a:r>
            <a:endParaRPr lang="en-US" sz="900" dirty="0"/>
          </a:p>
        </p:txBody>
      </p:sp>
      <p:sp>
        <p:nvSpPr>
          <p:cNvPr id="23" name="Text 21"/>
          <p:cNvSpPr/>
          <p:nvPr/>
        </p:nvSpPr>
        <p:spPr>
          <a:xfrm>
            <a:off x="804672" y="289864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APScheduler 3.10.4</a:t>
            </a:r>
            <a:endParaRPr lang="en-US" sz="1200" dirty="0"/>
          </a:p>
        </p:txBody>
      </p:sp>
      <p:sp>
        <p:nvSpPr>
          <p:cNvPr id="24" name="Text 22"/>
          <p:cNvSpPr/>
          <p:nvPr/>
        </p:nvSpPr>
        <p:spPr>
          <a:xfrm>
            <a:off x="804672" y="317296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An in-process scheduler — like a built-in cron — running 3 recurring jobs for alerts, polling and weekly reports.</a:t>
            </a:r>
            <a:endParaRPr lang="en-US" sz="950" dirty="0"/>
          </a:p>
        </p:txBody>
      </p:sp>
      <p:sp>
        <p:nvSpPr>
          <p:cNvPr id="25" name="Shape 23"/>
          <p:cNvSpPr/>
          <p:nvPr/>
        </p:nvSpPr>
        <p:spPr>
          <a:xfrm>
            <a:off x="4389120" y="2606040"/>
            <a:ext cx="3611880" cy="1097280"/>
          </a:xfrm>
          <a:prstGeom prst="rect">
            <a:avLst/>
          </a:prstGeom>
          <a:solidFill>
            <a:srgbClr val="121C3A"/>
          </a:solidFill>
          <a:ln w="9525">
            <a:solidFill>
              <a:srgbClr val="2A3A6E"/>
            </a:solidFill>
            <a:prstDash val="solid"/>
          </a:ln>
        </p:spPr>
        <p:txBody>
          <a:bodyPr/>
          <a:lstStyle/>
          <a:p>
            <a:endParaRPr lang="en-US"/>
          </a:p>
        </p:txBody>
      </p:sp>
      <p:sp>
        <p:nvSpPr>
          <p:cNvPr id="26" name="Shape 24"/>
          <p:cNvSpPr/>
          <p:nvPr/>
        </p:nvSpPr>
        <p:spPr>
          <a:xfrm>
            <a:off x="4389120" y="2606040"/>
            <a:ext cx="64008" cy="1097280"/>
          </a:xfrm>
          <a:prstGeom prst="rect">
            <a:avLst/>
          </a:prstGeom>
          <a:solidFill>
            <a:srgbClr val="C8F751"/>
          </a:solidFill>
          <a:ln w="12700">
            <a:solidFill>
              <a:srgbClr val="C8F751"/>
            </a:solidFill>
            <a:prstDash val="solid"/>
          </a:ln>
        </p:spPr>
        <p:txBody>
          <a:bodyPr/>
          <a:lstStyle/>
          <a:p>
            <a:endParaRPr lang="en-US"/>
          </a:p>
        </p:txBody>
      </p:sp>
      <p:sp>
        <p:nvSpPr>
          <p:cNvPr id="27" name="Text 25"/>
          <p:cNvSpPr/>
          <p:nvPr/>
        </p:nvSpPr>
        <p:spPr>
          <a:xfrm>
            <a:off x="4553712" y="267919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WEB PUSH</a:t>
            </a:r>
            <a:endParaRPr lang="en-US" sz="900" dirty="0"/>
          </a:p>
        </p:txBody>
      </p:sp>
      <p:sp>
        <p:nvSpPr>
          <p:cNvPr id="28" name="Text 26"/>
          <p:cNvSpPr/>
          <p:nvPr/>
        </p:nvSpPr>
        <p:spPr>
          <a:xfrm>
            <a:off x="4553712" y="289864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pywebpush 1.14.0</a:t>
            </a:r>
            <a:endParaRPr lang="en-US" sz="1200" dirty="0"/>
          </a:p>
        </p:txBody>
      </p:sp>
      <p:sp>
        <p:nvSpPr>
          <p:cNvPr id="29" name="Text 27"/>
          <p:cNvSpPr/>
          <p:nvPr/>
        </p:nvSpPr>
        <p:spPr>
          <a:xfrm>
            <a:off x="4553712" y="317296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Sends signed notifications from the server to a user's browser, even when the tab is closed.</a:t>
            </a:r>
            <a:endParaRPr lang="en-US" sz="950" dirty="0"/>
          </a:p>
        </p:txBody>
      </p:sp>
      <p:sp>
        <p:nvSpPr>
          <p:cNvPr id="30" name="Shape 28"/>
          <p:cNvSpPr/>
          <p:nvPr/>
        </p:nvSpPr>
        <p:spPr>
          <a:xfrm>
            <a:off x="8138160" y="2606040"/>
            <a:ext cx="3611880" cy="1097280"/>
          </a:xfrm>
          <a:prstGeom prst="rect">
            <a:avLst/>
          </a:prstGeom>
          <a:solidFill>
            <a:srgbClr val="121C3A"/>
          </a:solidFill>
          <a:ln w="9525">
            <a:solidFill>
              <a:srgbClr val="2A3A6E"/>
            </a:solidFill>
            <a:prstDash val="solid"/>
          </a:ln>
        </p:spPr>
        <p:txBody>
          <a:bodyPr/>
          <a:lstStyle/>
          <a:p>
            <a:endParaRPr lang="en-US"/>
          </a:p>
        </p:txBody>
      </p:sp>
      <p:sp>
        <p:nvSpPr>
          <p:cNvPr id="31" name="Shape 29"/>
          <p:cNvSpPr/>
          <p:nvPr/>
        </p:nvSpPr>
        <p:spPr>
          <a:xfrm>
            <a:off x="8138160" y="2606040"/>
            <a:ext cx="64008" cy="1097280"/>
          </a:xfrm>
          <a:prstGeom prst="rect">
            <a:avLst/>
          </a:prstGeom>
          <a:solidFill>
            <a:srgbClr val="C8F751"/>
          </a:solidFill>
          <a:ln w="12700">
            <a:solidFill>
              <a:srgbClr val="C8F751"/>
            </a:solidFill>
            <a:prstDash val="solid"/>
          </a:ln>
        </p:spPr>
        <p:txBody>
          <a:bodyPr/>
          <a:lstStyle/>
          <a:p>
            <a:endParaRPr lang="en-US"/>
          </a:p>
        </p:txBody>
      </p:sp>
      <p:sp>
        <p:nvSpPr>
          <p:cNvPr id="32" name="Text 30"/>
          <p:cNvSpPr/>
          <p:nvPr/>
        </p:nvSpPr>
        <p:spPr>
          <a:xfrm>
            <a:off x="8302752" y="267919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LLM SDK</a:t>
            </a:r>
            <a:endParaRPr lang="en-US" sz="900" dirty="0"/>
          </a:p>
        </p:txBody>
      </p:sp>
      <p:sp>
        <p:nvSpPr>
          <p:cNvPr id="33" name="Text 31"/>
          <p:cNvSpPr/>
          <p:nvPr/>
        </p:nvSpPr>
        <p:spPr>
          <a:xfrm>
            <a:off x="8302752" y="289864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google-genai 1.16.1</a:t>
            </a:r>
            <a:endParaRPr lang="en-US" sz="1200" dirty="0"/>
          </a:p>
        </p:txBody>
      </p:sp>
      <p:sp>
        <p:nvSpPr>
          <p:cNvPr id="34" name="Text 32"/>
          <p:cNvSpPr/>
          <p:nvPr/>
        </p:nvSpPr>
        <p:spPr>
          <a:xfrm>
            <a:off x="8302752" y="317296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The Python client for Google's Gemini AI, used to read difficult Urdu rows on FIR scans.</a:t>
            </a:r>
            <a:endParaRPr lang="en-US" sz="950" dirty="0"/>
          </a:p>
        </p:txBody>
      </p:sp>
      <p:sp>
        <p:nvSpPr>
          <p:cNvPr id="35" name="Shape 33"/>
          <p:cNvSpPr/>
          <p:nvPr/>
        </p:nvSpPr>
        <p:spPr>
          <a:xfrm>
            <a:off x="640080" y="3840480"/>
            <a:ext cx="3611880" cy="1097280"/>
          </a:xfrm>
          <a:prstGeom prst="rect">
            <a:avLst/>
          </a:prstGeom>
          <a:solidFill>
            <a:srgbClr val="121C3A"/>
          </a:solidFill>
          <a:ln w="9525">
            <a:solidFill>
              <a:srgbClr val="2A3A6E"/>
            </a:solidFill>
            <a:prstDash val="solid"/>
          </a:ln>
        </p:spPr>
        <p:txBody>
          <a:bodyPr/>
          <a:lstStyle/>
          <a:p>
            <a:endParaRPr lang="en-US"/>
          </a:p>
        </p:txBody>
      </p:sp>
      <p:sp>
        <p:nvSpPr>
          <p:cNvPr id="36" name="Shape 34"/>
          <p:cNvSpPr/>
          <p:nvPr/>
        </p:nvSpPr>
        <p:spPr>
          <a:xfrm>
            <a:off x="640080" y="3840480"/>
            <a:ext cx="64008" cy="1097280"/>
          </a:xfrm>
          <a:prstGeom prst="rect">
            <a:avLst/>
          </a:prstGeom>
          <a:solidFill>
            <a:srgbClr val="C8F751"/>
          </a:solidFill>
          <a:ln w="12700">
            <a:solidFill>
              <a:srgbClr val="C8F751"/>
            </a:solidFill>
            <a:prstDash val="solid"/>
          </a:ln>
        </p:spPr>
        <p:txBody>
          <a:bodyPr/>
          <a:lstStyle/>
          <a:p>
            <a:endParaRPr lang="en-US"/>
          </a:p>
        </p:txBody>
      </p:sp>
      <p:sp>
        <p:nvSpPr>
          <p:cNvPr id="37" name="Text 35"/>
          <p:cNvSpPr/>
          <p:nvPr/>
        </p:nvSpPr>
        <p:spPr>
          <a:xfrm>
            <a:off x="804672" y="391363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PASSWORD HASHING</a:t>
            </a:r>
            <a:endParaRPr lang="en-US" sz="900" dirty="0"/>
          </a:p>
        </p:txBody>
      </p:sp>
      <p:sp>
        <p:nvSpPr>
          <p:cNvPr id="38" name="Text 36"/>
          <p:cNvSpPr/>
          <p:nvPr/>
        </p:nvSpPr>
        <p:spPr>
          <a:xfrm>
            <a:off x="804672" y="413308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bcrypt + passlib 4.0</a:t>
            </a:r>
            <a:endParaRPr lang="en-US" sz="1200" dirty="0"/>
          </a:p>
        </p:txBody>
      </p:sp>
      <p:sp>
        <p:nvSpPr>
          <p:cNvPr id="39" name="Text 37"/>
          <p:cNvSpPr/>
          <p:nvPr/>
        </p:nvSpPr>
        <p:spPr>
          <a:xfrm>
            <a:off x="804672" y="440740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Industry-standard password protection — passwords are never stored in plain text.</a:t>
            </a:r>
            <a:endParaRPr lang="en-US" sz="950" dirty="0"/>
          </a:p>
        </p:txBody>
      </p:sp>
      <p:sp>
        <p:nvSpPr>
          <p:cNvPr id="40" name="Shape 38"/>
          <p:cNvSpPr/>
          <p:nvPr/>
        </p:nvSpPr>
        <p:spPr>
          <a:xfrm>
            <a:off x="4389120" y="3840480"/>
            <a:ext cx="3611880" cy="1097280"/>
          </a:xfrm>
          <a:prstGeom prst="rect">
            <a:avLst/>
          </a:prstGeom>
          <a:solidFill>
            <a:srgbClr val="121C3A"/>
          </a:solidFill>
          <a:ln w="9525">
            <a:solidFill>
              <a:srgbClr val="2A3A6E"/>
            </a:solidFill>
            <a:prstDash val="solid"/>
          </a:ln>
        </p:spPr>
        <p:txBody>
          <a:bodyPr/>
          <a:lstStyle/>
          <a:p>
            <a:endParaRPr lang="en-US"/>
          </a:p>
        </p:txBody>
      </p:sp>
      <p:sp>
        <p:nvSpPr>
          <p:cNvPr id="41" name="Shape 39"/>
          <p:cNvSpPr/>
          <p:nvPr/>
        </p:nvSpPr>
        <p:spPr>
          <a:xfrm>
            <a:off x="4389120" y="3840480"/>
            <a:ext cx="64008" cy="1097280"/>
          </a:xfrm>
          <a:prstGeom prst="rect">
            <a:avLst/>
          </a:prstGeom>
          <a:solidFill>
            <a:srgbClr val="C8F751"/>
          </a:solidFill>
          <a:ln w="12700">
            <a:solidFill>
              <a:srgbClr val="C8F751"/>
            </a:solidFill>
            <a:prstDash val="solid"/>
          </a:ln>
        </p:spPr>
        <p:txBody>
          <a:bodyPr/>
          <a:lstStyle/>
          <a:p>
            <a:endParaRPr lang="en-US"/>
          </a:p>
        </p:txBody>
      </p:sp>
      <p:sp>
        <p:nvSpPr>
          <p:cNvPr id="42" name="Text 40"/>
          <p:cNvSpPr/>
          <p:nvPr/>
        </p:nvSpPr>
        <p:spPr>
          <a:xfrm>
            <a:off x="4553712" y="391363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JWT TOKENS</a:t>
            </a:r>
            <a:endParaRPr lang="en-US" sz="900" dirty="0"/>
          </a:p>
        </p:txBody>
      </p:sp>
      <p:sp>
        <p:nvSpPr>
          <p:cNvPr id="43" name="Text 41"/>
          <p:cNvSpPr/>
          <p:nvPr/>
        </p:nvSpPr>
        <p:spPr>
          <a:xfrm>
            <a:off x="4553712" y="413308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python-jose 3.5.0</a:t>
            </a:r>
            <a:endParaRPr lang="en-US" sz="1200" dirty="0"/>
          </a:p>
        </p:txBody>
      </p:sp>
      <p:sp>
        <p:nvSpPr>
          <p:cNvPr id="44" name="Text 42"/>
          <p:cNvSpPr/>
          <p:nvPr/>
        </p:nvSpPr>
        <p:spPr>
          <a:xfrm>
            <a:off x="4553712" y="440740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Generates the signed login tokens that prove who the user is on every API call.</a:t>
            </a:r>
            <a:endParaRPr lang="en-US" sz="950" dirty="0"/>
          </a:p>
        </p:txBody>
      </p:sp>
      <p:sp>
        <p:nvSpPr>
          <p:cNvPr id="45" name="Shape 43"/>
          <p:cNvSpPr/>
          <p:nvPr/>
        </p:nvSpPr>
        <p:spPr>
          <a:xfrm>
            <a:off x="8138160" y="3840480"/>
            <a:ext cx="3611880" cy="1097280"/>
          </a:xfrm>
          <a:prstGeom prst="rect">
            <a:avLst/>
          </a:prstGeom>
          <a:solidFill>
            <a:srgbClr val="121C3A"/>
          </a:solidFill>
          <a:ln w="9525">
            <a:solidFill>
              <a:srgbClr val="2A3A6E"/>
            </a:solidFill>
            <a:prstDash val="solid"/>
          </a:ln>
        </p:spPr>
        <p:txBody>
          <a:bodyPr/>
          <a:lstStyle/>
          <a:p>
            <a:endParaRPr lang="en-US"/>
          </a:p>
        </p:txBody>
      </p:sp>
      <p:sp>
        <p:nvSpPr>
          <p:cNvPr id="46" name="Shape 44"/>
          <p:cNvSpPr/>
          <p:nvPr/>
        </p:nvSpPr>
        <p:spPr>
          <a:xfrm>
            <a:off x="8138160" y="3840480"/>
            <a:ext cx="64008" cy="1097280"/>
          </a:xfrm>
          <a:prstGeom prst="rect">
            <a:avLst/>
          </a:prstGeom>
          <a:solidFill>
            <a:srgbClr val="C8F751"/>
          </a:solidFill>
          <a:ln w="12700">
            <a:solidFill>
              <a:srgbClr val="C8F751"/>
            </a:solidFill>
            <a:prstDash val="solid"/>
          </a:ln>
        </p:spPr>
        <p:txBody>
          <a:bodyPr/>
          <a:lstStyle/>
          <a:p>
            <a:endParaRPr lang="en-US"/>
          </a:p>
        </p:txBody>
      </p:sp>
      <p:sp>
        <p:nvSpPr>
          <p:cNvPr id="47" name="Text 45"/>
          <p:cNvSpPr/>
          <p:nvPr/>
        </p:nvSpPr>
        <p:spPr>
          <a:xfrm>
            <a:off x="8302752" y="391363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TOTP</a:t>
            </a:r>
            <a:endParaRPr lang="en-US" sz="900" dirty="0"/>
          </a:p>
        </p:txBody>
      </p:sp>
      <p:sp>
        <p:nvSpPr>
          <p:cNvPr id="48" name="Text 46"/>
          <p:cNvSpPr/>
          <p:nvPr/>
        </p:nvSpPr>
        <p:spPr>
          <a:xfrm>
            <a:off x="8302752" y="413308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pyotp 2.9.0</a:t>
            </a:r>
            <a:endParaRPr lang="en-US" sz="1200" dirty="0"/>
          </a:p>
        </p:txBody>
      </p:sp>
      <p:sp>
        <p:nvSpPr>
          <p:cNvPr id="49" name="Text 47"/>
          <p:cNvSpPr/>
          <p:nvPr/>
        </p:nvSpPr>
        <p:spPr>
          <a:xfrm>
            <a:off x="8302752" y="440740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Generates the 6-digit codes used in Google Authenticator for two-factor login.</a:t>
            </a:r>
            <a:endParaRPr lang="en-US" sz="950" dirty="0"/>
          </a:p>
        </p:txBody>
      </p:sp>
      <p:sp>
        <p:nvSpPr>
          <p:cNvPr id="50" name="Shape 48"/>
          <p:cNvSpPr/>
          <p:nvPr/>
        </p:nvSpPr>
        <p:spPr>
          <a:xfrm>
            <a:off x="640080" y="5074920"/>
            <a:ext cx="3611880" cy="1097280"/>
          </a:xfrm>
          <a:prstGeom prst="rect">
            <a:avLst/>
          </a:prstGeom>
          <a:solidFill>
            <a:srgbClr val="121C3A"/>
          </a:solidFill>
          <a:ln w="9525">
            <a:solidFill>
              <a:srgbClr val="2A3A6E"/>
            </a:solidFill>
            <a:prstDash val="solid"/>
          </a:ln>
        </p:spPr>
        <p:txBody>
          <a:bodyPr/>
          <a:lstStyle/>
          <a:p>
            <a:endParaRPr lang="en-US"/>
          </a:p>
        </p:txBody>
      </p:sp>
      <p:sp>
        <p:nvSpPr>
          <p:cNvPr id="51" name="Shape 49"/>
          <p:cNvSpPr/>
          <p:nvPr/>
        </p:nvSpPr>
        <p:spPr>
          <a:xfrm>
            <a:off x="640080" y="5074920"/>
            <a:ext cx="64008" cy="1097280"/>
          </a:xfrm>
          <a:prstGeom prst="rect">
            <a:avLst/>
          </a:prstGeom>
          <a:solidFill>
            <a:srgbClr val="C8F751"/>
          </a:solidFill>
          <a:ln w="12700">
            <a:solidFill>
              <a:srgbClr val="C8F751"/>
            </a:solidFill>
            <a:prstDash val="solid"/>
          </a:ln>
        </p:spPr>
        <p:txBody>
          <a:bodyPr/>
          <a:lstStyle/>
          <a:p>
            <a:endParaRPr lang="en-US"/>
          </a:p>
        </p:txBody>
      </p:sp>
      <p:sp>
        <p:nvSpPr>
          <p:cNvPr id="52" name="Text 50"/>
          <p:cNvSpPr/>
          <p:nvPr/>
        </p:nvSpPr>
        <p:spPr>
          <a:xfrm>
            <a:off x="804672" y="514807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DATABASE DRIVER</a:t>
            </a:r>
            <a:endParaRPr lang="en-US" sz="900" dirty="0"/>
          </a:p>
        </p:txBody>
      </p:sp>
      <p:sp>
        <p:nvSpPr>
          <p:cNvPr id="53" name="Text 51"/>
          <p:cNvSpPr/>
          <p:nvPr/>
        </p:nvSpPr>
        <p:spPr>
          <a:xfrm>
            <a:off x="804672" y="536752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mysql-connector 8.1</a:t>
            </a:r>
            <a:endParaRPr lang="en-US" sz="1200" dirty="0"/>
          </a:p>
        </p:txBody>
      </p:sp>
      <p:sp>
        <p:nvSpPr>
          <p:cNvPr id="54" name="Text 52"/>
          <p:cNvSpPr/>
          <p:nvPr/>
        </p:nvSpPr>
        <p:spPr>
          <a:xfrm>
            <a:off x="804672" y="564184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How Python talks to TiDB Cloud (TiDB speaks the MySQL wire protocol).</a:t>
            </a:r>
            <a:endParaRPr lang="en-US" sz="950" dirty="0"/>
          </a:p>
        </p:txBody>
      </p:sp>
      <p:sp>
        <p:nvSpPr>
          <p:cNvPr id="55" name="Shape 53"/>
          <p:cNvSpPr/>
          <p:nvPr/>
        </p:nvSpPr>
        <p:spPr>
          <a:xfrm>
            <a:off x="4389120" y="5074920"/>
            <a:ext cx="3611880" cy="1097280"/>
          </a:xfrm>
          <a:prstGeom prst="rect">
            <a:avLst/>
          </a:prstGeom>
          <a:solidFill>
            <a:srgbClr val="121C3A"/>
          </a:solidFill>
          <a:ln w="9525">
            <a:solidFill>
              <a:srgbClr val="2A3A6E"/>
            </a:solidFill>
            <a:prstDash val="solid"/>
          </a:ln>
        </p:spPr>
        <p:txBody>
          <a:bodyPr/>
          <a:lstStyle/>
          <a:p>
            <a:endParaRPr lang="en-US"/>
          </a:p>
        </p:txBody>
      </p:sp>
      <p:sp>
        <p:nvSpPr>
          <p:cNvPr id="56" name="Shape 54"/>
          <p:cNvSpPr/>
          <p:nvPr/>
        </p:nvSpPr>
        <p:spPr>
          <a:xfrm>
            <a:off x="4389120" y="5074920"/>
            <a:ext cx="64008" cy="1097280"/>
          </a:xfrm>
          <a:prstGeom prst="rect">
            <a:avLst/>
          </a:prstGeom>
          <a:solidFill>
            <a:srgbClr val="C8F751"/>
          </a:solidFill>
          <a:ln w="12700">
            <a:solidFill>
              <a:srgbClr val="C8F751"/>
            </a:solidFill>
            <a:prstDash val="solid"/>
          </a:ln>
        </p:spPr>
        <p:txBody>
          <a:bodyPr/>
          <a:lstStyle/>
          <a:p>
            <a:endParaRPr lang="en-US"/>
          </a:p>
        </p:txBody>
      </p:sp>
      <p:sp>
        <p:nvSpPr>
          <p:cNvPr id="57" name="Text 55"/>
          <p:cNvSpPr/>
          <p:nvPr/>
        </p:nvSpPr>
        <p:spPr>
          <a:xfrm>
            <a:off x="4553712" y="514807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COMPUTER VISION</a:t>
            </a:r>
            <a:endParaRPr lang="en-US" sz="900" dirty="0"/>
          </a:p>
        </p:txBody>
      </p:sp>
      <p:sp>
        <p:nvSpPr>
          <p:cNvPr id="58" name="Text 56"/>
          <p:cNvSpPr/>
          <p:nvPr/>
        </p:nvSpPr>
        <p:spPr>
          <a:xfrm>
            <a:off x="4553712" y="536752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OpenCV + Pillow</a:t>
            </a:r>
            <a:endParaRPr lang="en-US" sz="1200" dirty="0"/>
          </a:p>
        </p:txBody>
      </p:sp>
      <p:sp>
        <p:nvSpPr>
          <p:cNvPr id="59" name="Text 57"/>
          <p:cNvSpPr/>
          <p:nvPr/>
        </p:nvSpPr>
        <p:spPr>
          <a:xfrm>
            <a:off x="4553712" y="564184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Cleans up FIR images before OCR — fixes tilt, brightness, and finds row boundaries.</a:t>
            </a:r>
            <a:endParaRPr lang="en-US" sz="950" dirty="0"/>
          </a:p>
        </p:txBody>
      </p:sp>
      <p:sp>
        <p:nvSpPr>
          <p:cNvPr id="60" name="Shape 58"/>
          <p:cNvSpPr/>
          <p:nvPr/>
        </p:nvSpPr>
        <p:spPr>
          <a:xfrm>
            <a:off x="8138160" y="5074920"/>
            <a:ext cx="3611880" cy="1097280"/>
          </a:xfrm>
          <a:prstGeom prst="rect">
            <a:avLst/>
          </a:prstGeom>
          <a:solidFill>
            <a:srgbClr val="121C3A"/>
          </a:solidFill>
          <a:ln w="9525">
            <a:solidFill>
              <a:srgbClr val="2A3A6E"/>
            </a:solidFill>
            <a:prstDash val="solid"/>
          </a:ln>
        </p:spPr>
        <p:txBody>
          <a:bodyPr/>
          <a:lstStyle/>
          <a:p>
            <a:endParaRPr lang="en-US"/>
          </a:p>
        </p:txBody>
      </p:sp>
      <p:sp>
        <p:nvSpPr>
          <p:cNvPr id="61" name="Shape 59"/>
          <p:cNvSpPr/>
          <p:nvPr/>
        </p:nvSpPr>
        <p:spPr>
          <a:xfrm>
            <a:off x="8138160" y="5074920"/>
            <a:ext cx="64008" cy="1097280"/>
          </a:xfrm>
          <a:prstGeom prst="rect">
            <a:avLst/>
          </a:prstGeom>
          <a:solidFill>
            <a:srgbClr val="C8F751"/>
          </a:solidFill>
          <a:ln w="12700">
            <a:solidFill>
              <a:srgbClr val="C8F751"/>
            </a:solidFill>
            <a:prstDash val="solid"/>
          </a:ln>
        </p:spPr>
        <p:txBody>
          <a:bodyPr/>
          <a:lstStyle/>
          <a:p>
            <a:endParaRPr lang="en-US"/>
          </a:p>
        </p:txBody>
      </p:sp>
      <p:sp>
        <p:nvSpPr>
          <p:cNvPr id="62" name="Text 60"/>
          <p:cNvSpPr/>
          <p:nvPr/>
        </p:nvSpPr>
        <p:spPr>
          <a:xfrm>
            <a:off x="8302752" y="514807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TEMPLATING</a:t>
            </a:r>
            <a:endParaRPr lang="en-US" sz="900" dirty="0"/>
          </a:p>
        </p:txBody>
      </p:sp>
      <p:sp>
        <p:nvSpPr>
          <p:cNvPr id="63" name="Text 61"/>
          <p:cNvSpPr/>
          <p:nvPr/>
        </p:nvSpPr>
        <p:spPr>
          <a:xfrm>
            <a:off x="8302752" y="536752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Jinja2 3.1</a:t>
            </a:r>
            <a:endParaRPr lang="en-US" sz="1200" dirty="0"/>
          </a:p>
        </p:txBody>
      </p:sp>
      <p:sp>
        <p:nvSpPr>
          <p:cNvPr id="64" name="Text 62"/>
          <p:cNvSpPr/>
          <p:nvPr/>
        </p:nvSpPr>
        <p:spPr>
          <a:xfrm>
            <a:off x="8302752" y="564184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Renders the HTML used in the weekly safety report emails.</a:t>
            </a:r>
            <a:endParaRPr lang="en-US" sz="950" dirty="0"/>
          </a:p>
        </p:txBody>
      </p:sp>
      <p:sp>
        <p:nvSpPr>
          <p:cNvPr id="65" name="Text 63"/>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66" name="Text 64"/>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7 / 28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FRONTEND TECH STACK</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108 React screens powered by carefully chosen libraries</a:t>
            </a:r>
            <a:endParaRPr lang="en-US" sz="1200" dirty="0"/>
          </a:p>
        </p:txBody>
      </p:sp>
      <p:sp>
        <p:nvSpPr>
          <p:cNvPr id="5" name="Shape 3"/>
          <p:cNvSpPr/>
          <p:nvPr/>
        </p:nvSpPr>
        <p:spPr>
          <a:xfrm>
            <a:off x="640080" y="1371600"/>
            <a:ext cx="3611880" cy="109728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109728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04672" y="144475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UI RUNTIME</a:t>
            </a:r>
            <a:endParaRPr lang="en-US" sz="900" dirty="0"/>
          </a:p>
        </p:txBody>
      </p:sp>
      <p:sp>
        <p:nvSpPr>
          <p:cNvPr id="8" name="Text 6"/>
          <p:cNvSpPr/>
          <p:nvPr/>
        </p:nvSpPr>
        <p:spPr>
          <a:xfrm>
            <a:off x="804672" y="166420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React 18.2</a:t>
            </a:r>
            <a:endParaRPr lang="en-US" sz="1200" dirty="0"/>
          </a:p>
        </p:txBody>
      </p:sp>
      <p:sp>
        <p:nvSpPr>
          <p:cNvPr id="9" name="Text 7"/>
          <p:cNvSpPr/>
          <p:nvPr/>
        </p:nvSpPr>
        <p:spPr>
          <a:xfrm>
            <a:off x="804672" y="193852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The library that builds and updates the user interface — fast, reactive screens.</a:t>
            </a:r>
            <a:endParaRPr lang="en-US" sz="950" dirty="0"/>
          </a:p>
        </p:txBody>
      </p:sp>
      <p:sp>
        <p:nvSpPr>
          <p:cNvPr id="10" name="Shape 8"/>
          <p:cNvSpPr/>
          <p:nvPr/>
        </p:nvSpPr>
        <p:spPr>
          <a:xfrm>
            <a:off x="4389120" y="1371600"/>
            <a:ext cx="3611880" cy="1097280"/>
          </a:xfrm>
          <a:prstGeom prst="rect">
            <a:avLst/>
          </a:prstGeom>
          <a:solidFill>
            <a:srgbClr val="121C3A"/>
          </a:solidFill>
          <a:ln w="9525">
            <a:solidFill>
              <a:srgbClr val="2A3A6E"/>
            </a:solidFill>
            <a:prstDash val="solid"/>
          </a:ln>
        </p:spPr>
        <p:txBody>
          <a:bodyPr/>
          <a:lstStyle/>
          <a:p>
            <a:endParaRPr lang="en-US"/>
          </a:p>
        </p:txBody>
      </p:sp>
      <p:sp>
        <p:nvSpPr>
          <p:cNvPr id="11" name="Shape 9"/>
          <p:cNvSpPr/>
          <p:nvPr/>
        </p:nvSpPr>
        <p:spPr>
          <a:xfrm>
            <a:off x="4389120" y="1371600"/>
            <a:ext cx="64008" cy="1097280"/>
          </a:xfrm>
          <a:prstGeom prst="rect">
            <a:avLst/>
          </a:prstGeom>
          <a:solidFill>
            <a:srgbClr val="C8F751"/>
          </a:solidFill>
          <a:ln w="12700">
            <a:solidFill>
              <a:srgbClr val="C8F751"/>
            </a:solidFill>
            <a:prstDash val="solid"/>
          </a:ln>
        </p:spPr>
        <p:txBody>
          <a:bodyPr/>
          <a:lstStyle/>
          <a:p>
            <a:endParaRPr lang="en-US"/>
          </a:p>
        </p:txBody>
      </p:sp>
      <p:sp>
        <p:nvSpPr>
          <p:cNvPr id="12" name="Text 10"/>
          <p:cNvSpPr/>
          <p:nvPr/>
        </p:nvSpPr>
        <p:spPr>
          <a:xfrm>
            <a:off x="4553712" y="144475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BUILD TOOL</a:t>
            </a:r>
            <a:endParaRPr lang="en-US" sz="900" dirty="0"/>
          </a:p>
        </p:txBody>
      </p:sp>
      <p:sp>
        <p:nvSpPr>
          <p:cNvPr id="13" name="Text 11"/>
          <p:cNvSpPr/>
          <p:nvPr/>
        </p:nvSpPr>
        <p:spPr>
          <a:xfrm>
            <a:off x="4553712" y="166420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Vite 4.5</a:t>
            </a:r>
            <a:endParaRPr lang="en-US" sz="1200" dirty="0"/>
          </a:p>
        </p:txBody>
      </p:sp>
      <p:sp>
        <p:nvSpPr>
          <p:cNvPr id="14" name="Text 12"/>
          <p:cNvSpPr/>
          <p:nvPr/>
        </p:nvSpPr>
        <p:spPr>
          <a:xfrm>
            <a:off x="4553712" y="193852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Bundles and serves the frontend. Reloads in under a second during development.</a:t>
            </a:r>
            <a:endParaRPr lang="en-US" sz="950" dirty="0"/>
          </a:p>
        </p:txBody>
      </p:sp>
      <p:sp>
        <p:nvSpPr>
          <p:cNvPr id="15" name="Shape 13"/>
          <p:cNvSpPr/>
          <p:nvPr/>
        </p:nvSpPr>
        <p:spPr>
          <a:xfrm>
            <a:off x="8138160" y="1371600"/>
            <a:ext cx="3611880" cy="1097280"/>
          </a:xfrm>
          <a:prstGeom prst="rect">
            <a:avLst/>
          </a:prstGeom>
          <a:solidFill>
            <a:srgbClr val="121C3A"/>
          </a:solidFill>
          <a:ln w="9525">
            <a:solidFill>
              <a:srgbClr val="2A3A6E"/>
            </a:solidFill>
            <a:prstDash val="solid"/>
          </a:ln>
        </p:spPr>
        <p:txBody>
          <a:bodyPr/>
          <a:lstStyle/>
          <a:p>
            <a:endParaRPr lang="en-US"/>
          </a:p>
        </p:txBody>
      </p:sp>
      <p:sp>
        <p:nvSpPr>
          <p:cNvPr id="16" name="Shape 14"/>
          <p:cNvSpPr/>
          <p:nvPr/>
        </p:nvSpPr>
        <p:spPr>
          <a:xfrm>
            <a:off x="8138160" y="1371600"/>
            <a:ext cx="64008" cy="1097280"/>
          </a:xfrm>
          <a:prstGeom prst="rect">
            <a:avLst/>
          </a:prstGeom>
          <a:solidFill>
            <a:srgbClr val="C8F751"/>
          </a:solidFill>
          <a:ln w="12700">
            <a:solidFill>
              <a:srgbClr val="C8F751"/>
            </a:solidFill>
            <a:prstDash val="solid"/>
          </a:ln>
        </p:spPr>
        <p:txBody>
          <a:bodyPr/>
          <a:lstStyle/>
          <a:p>
            <a:endParaRPr lang="en-US"/>
          </a:p>
        </p:txBody>
      </p:sp>
      <p:sp>
        <p:nvSpPr>
          <p:cNvPr id="17" name="Text 15"/>
          <p:cNvSpPr/>
          <p:nvPr/>
        </p:nvSpPr>
        <p:spPr>
          <a:xfrm>
            <a:off x="8302752" y="144475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ROUTING</a:t>
            </a:r>
            <a:endParaRPr lang="en-US" sz="900" dirty="0"/>
          </a:p>
        </p:txBody>
      </p:sp>
      <p:sp>
        <p:nvSpPr>
          <p:cNvPr id="18" name="Text 16"/>
          <p:cNvSpPr/>
          <p:nvPr/>
        </p:nvSpPr>
        <p:spPr>
          <a:xfrm>
            <a:off x="8302752" y="166420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React Router 7.9</a:t>
            </a:r>
            <a:endParaRPr lang="en-US" sz="1200" dirty="0"/>
          </a:p>
        </p:txBody>
      </p:sp>
      <p:sp>
        <p:nvSpPr>
          <p:cNvPr id="19" name="Text 17"/>
          <p:cNvSpPr/>
          <p:nvPr/>
        </p:nvSpPr>
        <p:spPr>
          <a:xfrm>
            <a:off x="8302752" y="193852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Handles page navigation inside the app without reloading the whole site.</a:t>
            </a:r>
            <a:endParaRPr lang="en-US" sz="950" dirty="0"/>
          </a:p>
        </p:txBody>
      </p:sp>
      <p:sp>
        <p:nvSpPr>
          <p:cNvPr id="20" name="Shape 18"/>
          <p:cNvSpPr/>
          <p:nvPr/>
        </p:nvSpPr>
        <p:spPr>
          <a:xfrm>
            <a:off x="640080" y="2606040"/>
            <a:ext cx="3611880" cy="1097280"/>
          </a:xfrm>
          <a:prstGeom prst="rect">
            <a:avLst/>
          </a:prstGeom>
          <a:solidFill>
            <a:srgbClr val="121C3A"/>
          </a:solidFill>
          <a:ln w="9525">
            <a:solidFill>
              <a:srgbClr val="2A3A6E"/>
            </a:solidFill>
            <a:prstDash val="solid"/>
          </a:ln>
        </p:spPr>
        <p:txBody>
          <a:bodyPr/>
          <a:lstStyle/>
          <a:p>
            <a:endParaRPr lang="en-US"/>
          </a:p>
        </p:txBody>
      </p:sp>
      <p:sp>
        <p:nvSpPr>
          <p:cNvPr id="21" name="Shape 19"/>
          <p:cNvSpPr/>
          <p:nvPr/>
        </p:nvSpPr>
        <p:spPr>
          <a:xfrm>
            <a:off x="640080" y="2606040"/>
            <a:ext cx="64008" cy="1097280"/>
          </a:xfrm>
          <a:prstGeom prst="rect">
            <a:avLst/>
          </a:prstGeom>
          <a:solidFill>
            <a:srgbClr val="C8F751"/>
          </a:solidFill>
          <a:ln w="12700">
            <a:solidFill>
              <a:srgbClr val="C8F751"/>
            </a:solidFill>
            <a:prstDash val="solid"/>
          </a:ln>
        </p:spPr>
        <p:txBody>
          <a:bodyPr/>
          <a:lstStyle/>
          <a:p>
            <a:endParaRPr lang="en-US"/>
          </a:p>
        </p:txBody>
      </p:sp>
      <p:sp>
        <p:nvSpPr>
          <p:cNvPr id="22" name="Text 20"/>
          <p:cNvSpPr/>
          <p:nvPr/>
        </p:nvSpPr>
        <p:spPr>
          <a:xfrm>
            <a:off x="804672" y="267919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MAPS</a:t>
            </a:r>
            <a:endParaRPr lang="en-US" sz="900" dirty="0"/>
          </a:p>
        </p:txBody>
      </p:sp>
      <p:sp>
        <p:nvSpPr>
          <p:cNvPr id="23" name="Text 21"/>
          <p:cNvSpPr/>
          <p:nvPr/>
        </p:nvSpPr>
        <p:spPr>
          <a:xfrm>
            <a:off x="804672" y="289864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Leaflet + react-leaflet</a:t>
            </a:r>
            <a:endParaRPr lang="en-US" sz="1200" dirty="0"/>
          </a:p>
        </p:txBody>
      </p:sp>
      <p:sp>
        <p:nvSpPr>
          <p:cNvPr id="24" name="Text 22"/>
          <p:cNvSpPr/>
          <p:nvPr/>
        </p:nvSpPr>
        <p:spPr>
          <a:xfrm>
            <a:off x="804672" y="317296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Powers the interactive map of Lahore — pan, zoom, tap on a hotspot.</a:t>
            </a:r>
            <a:endParaRPr lang="en-US" sz="950" dirty="0"/>
          </a:p>
        </p:txBody>
      </p:sp>
      <p:sp>
        <p:nvSpPr>
          <p:cNvPr id="25" name="Shape 23"/>
          <p:cNvSpPr/>
          <p:nvPr/>
        </p:nvSpPr>
        <p:spPr>
          <a:xfrm>
            <a:off x="4389120" y="2606040"/>
            <a:ext cx="3611880" cy="1097280"/>
          </a:xfrm>
          <a:prstGeom prst="rect">
            <a:avLst/>
          </a:prstGeom>
          <a:solidFill>
            <a:srgbClr val="121C3A"/>
          </a:solidFill>
          <a:ln w="9525">
            <a:solidFill>
              <a:srgbClr val="2A3A6E"/>
            </a:solidFill>
            <a:prstDash val="solid"/>
          </a:ln>
        </p:spPr>
        <p:txBody>
          <a:bodyPr/>
          <a:lstStyle/>
          <a:p>
            <a:endParaRPr lang="en-US"/>
          </a:p>
        </p:txBody>
      </p:sp>
      <p:sp>
        <p:nvSpPr>
          <p:cNvPr id="26" name="Shape 24"/>
          <p:cNvSpPr/>
          <p:nvPr/>
        </p:nvSpPr>
        <p:spPr>
          <a:xfrm>
            <a:off x="4389120" y="2606040"/>
            <a:ext cx="64008" cy="1097280"/>
          </a:xfrm>
          <a:prstGeom prst="rect">
            <a:avLst/>
          </a:prstGeom>
          <a:solidFill>
            <a:srgbClr val="C8F751"/>
          </a:solidFill>
          <a:ln w="12700">
            <a:solidFill>
              <a:srgbClr val="C8F751"/>
            </a:solidFill>
            <a:prstDash val="solid"/>
          </a:ln>
        </p:spPr>
        <p:txBody>
          <a:bodyPr/>
          <a:lstStyle/>
          <a:p>
            <a:endParaRPr lang="en-US"/>
          </a:p>
        </p:txBody>
      </p:sp>
      <p:sp>
        <p:nvSpPr>
          <p:cNvPr id="27" name="Text 25"/>
          <p:cNvSpPr/>
          <p:nvPr/>
        </p:nvSpPr>
        <p:spPr>
          <a:xfrm>
            <a:off x="4553712" y="267919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HEATMAP</a:t>
            </a:r>
            <a:endParaRPr lang="en-US" sz="900" dirty="0"/>
          </a:p>
        </p:txBody>
      </p:sp>
      <p:sp>
        <p:nvSpPr>
          <p:cNvPr id="28" name="Text 26"/>
          <p:cNvSpPr/>
          <p:nvPr/>
        </p:nvSpPr>
        <p:spPr>
          <a:xfrm>
            <a:off x="4553712" y="289864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leaflet.heat 0.2</a:t>
            </a:r>
            <a:endParaRPr lang="en-US" sz="1200" dirty="0"/>
          </a:p>
        </p:txBody>
      </p:sp>
      <p:sp>
        <p:nvSpPr>
          <p:cNvPr id="29" name="Text 27"/>
          <p:cNvSpPr/>
          <p:nvPr/>
        </p:nvSpPr>
        <p:spPr>
          <a:xfrm>
            <a:off x="4553712" y="317296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Draws the colored crime intensity overlay on top of the map.</a:t>
            </a:r>
            <a:endParaRPr lang="en-US" sz="950" dirty="0"/>
          </a:p>
        </p:txBody>
      </p:sp>
      <p:sp>
        <p:nvSpPr>
          <p:cNvPr id="30" name="Shape 28"/>
          <p:cNvSpPr/>
          <p:nvPr/>
        </p:nvSpPr>
        <p:spPr>
          <a:xfrm>
            <a:off x="8138160" y="2606040"/>
            <a:ext cx="3611880" cy="1097280"/>
          </a:xfrm>
          <a:prstGeom prst="rect">
            <a:avLst/>
          </a:prstGeom>
          <a:solidFill>
            <a:srgbClr val="121C3A"/>
          </a:solidFill>
          <a:ln w="9525">
            <a:solidFill>
              <a:srgbClr val="2A3A6E"/>
            </a:solidFill>
            <a:prstDash val="solid"/>
          </a:ln>
        </p:spPr>
        <p:txBody>
          <a:bodyPr/>
          <a:lstStyle/>
          <a:p>
            <a:endParaRPr lang="en-US"/>
          </a:p>
        </p:txBody>
      </p:sp>
      <p:sp>
        <p:nvSpPr>
          <p:cNvPr id="31" name="Shape 29"/>
          <p:cNvSpPr/>
          <p:nvPr/>
        </p:nvSpPr>
        <p:spPr>
          <a:xfrm>
            <a:off x="8138160" y="2606040"/>
            <a:ext cx="64008" cy="1097280"/>
          </a:xfrm>
          <a:prstGeom prst="rect">
            <a:avLst/>
          </a:prstGeom>
          <a:solidFill>
            <a:srgbClr val="C8F751"/>
          </a:solidFill>
          <a:ln w="12700">
            <a:solidFill>
              <a:srgbClr val="C8F751"/>
            </a:solidFill>
            <a:prstDash val="solid"/>
          </a:ln>
        </p:spPr>
        <p:txBody>
          <a:bodyPr/>
          <a:lstStyle/>
          <a:p>
            <a:endParaRPr lang="en-US"/>
          </a:p>
        </p:txBody>
      </p:sp>
      <p:sp>
        <p:nvSpPr>
          <p:cNvPr id="32" name="Text 30"/>
          <p:cNvSpPr/>
          <p:nvPr/>
        </p:nvSpPr>
        <p:spPr>
          <a:xfrm>
            <a:off x="8302752" y="267919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ROUTING UI</a:t>
            </a:r>
            <a:endParaRPr lang="en-US" sz="900" dirty="0"/>
          </a:p>
        </p:txBody>
      </p:sp>
      <p:sp>
        <p:nvSpPr>
          <p:cNvPr id="33" name="Text 31"/>
          <p:cNvSpPr/>
          <p:nvPr/>
        </p:nvSpPr>
        <p:spPr>
          <a:xfrm>
            <a:off x="8302752" y="289864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leaflet-routing-machine</a:t>
            </a:r>
            <a:endParaRPr lang="en-US" sz="1200" dirty="0"/>
          </a:p>
        </p:txBody>
      </p:sp>
      <p:sp>
        <p:nvSpPr>
          <p:cNvPr id="34" name="Text 32"/>
          <p:cNvSpPr/>
          <p:nvPr/>
        </p:nvSpPr>
        <p:spPr>
          <a:xfrm>
            <a:off x="8302752" y="317296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Draws the three alternate routes from our backend, color-tinted by their risk score.</a:t>
            </a:r>
            <a:endParaRPr lang="en-US" sz="950" dirty="0"/>
          </a:p>
        </p:txBody>
      </p:sp>
      <p:sp>
        <p:nvSpPr>
          <p:cNvPr id="35" name="Shape 33"/>
          <p:cNvSpPr/>
          <p:nvPr/>
        </p:nvSpPr>
        <p:spPr>
          <a:xfrm>
            <a:off x="640080" y="3840480"/>
            <a:ext cx="3611880" cy="1097280"/>
          </a:xfrm>
          <a:prstGeom prst="rect">
            <a:avLst/>
          </a:prstGeom>
          <a:solidFill>
            <a:srgbClr val="121C3A"/>
          </a:solidFill>
          <a:ln w="9525">
            <a:solidFill>
              <a:srgbClr val="2A3A6E"/>
            </a:solidFill>
            <a:prstDash val="solid"/>
          </a:ln>
        </p:spPr>
        <p:txBody>
          <a:bodyPr/>
          <a:lstStyle/>
          <a:p>
            <a:endParaRPr lang="en-US"/>
          </a:p>
        </p:txBody>
      </p:sp>
      <p:sp>
        <p:nvSpPr>
          <p:cNvPr id="36" name="Shape 34"/>
          <p:cNvSpPr/>
          <p:nvPr/>
        </p:nvSpPr>
        <p:spPr>
          <a:xfrm>
            <a:off x="640080" y="3840480"/>
            <a:ext cx="64008" cy="1097280"/>
          </a:xfrm>
          <a:prstGeom prst="rect">
            <a:avLst/>
          </a:prstGeom>
          <a:solidFill>
            <a:srgbClr val="C8F751"/>
          </a:solidFill>
          <a:ln w="12700">
            <a:solidFill>
              <a:srgbClr val="C8F751"/>
            </a:solidFill>
            <a:prstDash val="solid"/>
          </a:ln>
        </p:spPr>
        <p:txBody>
          <a:bodyPr/>
          <a:lstStyle/>
          <a:p>
            <a:endParaRPr lang="en-US"/>
          </a:p>
        </p:txBody>
      </p:sp>
      <p:sp>
        <p:nvSpPr>
          <p:cNvPr id="37" name="Text 35"/>
          <p:cNvSpPr/>
          <p:nvPr/>
        </p:nvSpPr>
        <p:spPr>
          <a:xfrm>
            <a:off x="804672" y="391363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CHARTS</a:t>
            </a:r>
            <a:endParaRPr lang="en-US" sz="900" dirty="0"/>
          </a:p>
        </p:txBody>
      </p:sp>
      <p:sp>
        <p:nvSpPr>
          <p:cNvPr id="38" name="Text 36"/>
          <p:cNvSpPr/>
          <p:nvPr/>
        </p:nvSpPr>
        <p:spPr>
          <a:xfrm>
            <a:off x="804672" y="413308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Chart.js + react-chartjs-2</a:t>
            </a:r>
            <a:endParaRPr lang="en-US" sz="1200" dirty="0"/>
          </a:p>
        </p:txBody>
      </p:sp>
      <p:sp>
        <p:nvSpPr>
          <p:cNvPr id="39" name="Text 37"/>
          <p:cNvSpPr/>
          <p:nvPr/>
        </p:nvSpPr>
        <p:spPr>
          <a:xfrm>
            <a:off x="804672" y="440740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Draws the radar chart for safety breakdown and the trend line/bar dashboards.</a:t>
            </a:r>
            <a:endParaRPr lang="en-US" sz="950" dirty="0"/>
          </a:p>
        </p:txBody>
      </p:sp>
      <p:sp>
        <p:nvSpPr>
          <p:cNvPr id="40" name="Shape 38"/>
          <p:cNvSpPr/>
          <p:nvPr/>
        </p:nvSpPr>
        <p:spPr>
          <a:xfrm>
            <a:off x="4389120" y="3840480"/>
            <a:ext cx="3611880" cy="1097280"/>
          </a:xfrm>
          <a:prstGeom prst="rect">
            <a:avLst/>
          </a:prstGeom>
          <a:solidFill>
            <a:srgbClr val="121C3A"/>
          </a:solidFill>
          <a:ln w="9525">
            <a:solidFill>
              <a:srgbClr val="2A3A6E"/>
            </a:solidFill>
            <a:prstDash val="solid"/>
          </a:ln>
        </p:spPr>
        <p:txBody>
          <a:bodyPr/>
          <a:lstStyle/>
          <a:p>
            <a:endParaRPr lang="en-US"/>
          </a:p>
        </p:txBody>
      </p:sp>
      <p:sp>
        <p:nvSpPr>
          <p:cNvPr id="41" name="Shape 39"/>
          <p:cNvSpPr/>
          <p:nvPr/>
        </p:nvSpPr>
        <p:spPr>
          <a:xfrm>
            <a:off x="4389120" y="3840480"/>
            <a:ext cx="64008" cy="1097280"/>
          </a:xfrm>
          <a:prstGeom prst="rect">
            <a:avLst/>
          </a:prstGeom>
          <a:solidFill>
            <a:srgbClr val="C8F751"/>
          </a:solidFill>
          <a:ln w="12700">
            <a:solidFill>
              <a:srgbClr val="C8F751"/>
            </a:solidFill>
            <a:prstDash val="solid"/>
          </a:ln>
        </p:spPr>
        <p:txBody>
          <a:bodyPr/>
          <a:lstStyle/>
          <a:p>
            <a:endParaRPr lang="en-US"/>
          </a:p>
        </p:txBody>
      </p:sp>
      <p:sp>
        <p:nvSpPr>
          <p:cNvPr id="42" name="Text 40"/>
          <p:cNvSpPr/>
          <p:nvPr/>
        </p:nvSpPr>
        <p:spPr>
          <a:xfrm>
            <a:off x="4553712" y="391363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COMPONENT LIBRARY</a:t>
            </a:r>
            <a:endParaRPr lang="en-US" sz="900" dirty="0"/>
          </a:p>
        </p:txBody>
      </p:sp>
      <p:sp>
        <p:nvSpPr>
          <p:cNvPr id="43" name="Text 41"/>
          <p:cNvSpPr/>
          <p:nvPr/>
        </p:nvSpPr>
        <p:spPr>
          <a:xfrm>
            <a:off x="4553712" y="413308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Ant Design 5.27</a:t>
            </a:r>
            <a:endParaRPr lang="en-US" sz="1200" dirty="0"/>
          </a:p>
        </p:txBody>
      </p:sp>
      <p:sp>
        <p:nvSpPr>
          <p:cNvPr id="44" name="Text 42"/>
          <p:cNvSpPr/>
          <p:nvPr/>
        </p:nvSpPr>
        <p:spPr>
          <a:xfrm>
            <a:off x="4553712" y="440740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Pre-built professional UI elements — modals, tables, forms, date pickers.</a:t>
            </a:r>
            <a:endParaRPr lang="en-US" sz="950" dirty="0"/>
          </a:p>
        </p:txBody>
      </p:sp>
      <p:sp>
        <p:nvSpPr>
          <p:cNvPr id="45" name="Shape 43"/>
          <p:cNvSpPr/>
          <p:nvPr/>
        </p:nvSpPr>
        <p:spPr>
          <a:xfrm>
            <a:off x="8138160" y="3840480"/>
            <a:ext cx="3611880" cy="1097280"/>
          </a:xfrm>
          <a:prstGeom prst="rect">
            <a:avLst/>
          </a:prstGeom>
          <a:solidFill>
            <a:srgbClr val="121C3A"/>
          </a:solidFill>
          <a:ln w="9525">
            <a:solidFill>
              <a:srgbClr val="2A3A6E"/>
            </a:solidFill>
            <a:prstDash val="solid"/>
          </a:ln>
        </p:spPr>
        <p:txBody>
          <a:bodyPr/>
          <a:lstStyle/>
          <a:p>
            <a:endParaRPr lang="en-US"/>
          </a:p>
        </p:txBody>
      </p:sp>
      <p:sp>
        <p:nvSpPr>
          <p:cNvPr id="46" name="Shape 44"/>
          <p:cNvSpPr/>
          <p:nvPr/>
        </p:nvSpPr>
        <p:spPr>
          <a:xfrm>
            <a:off x="8138160" y="3840480"/>
            <a:ext cx="64008" cy="1097280"/>
          </a:xfrm>
          <a:prstGeom prst="rect">
            <a:avLst/>
          </a:prstGeom>
          <a:solidFill>
            <a:srgbClr val="C8F751"/>
          </a:solidFill>
          <a:ln w="12700">
            <a:solidFill>
              <a:srgbClr val="C8F751"/>
            </a:solidFill>
            <a:prstDash val="solid"/>
          </a:ln>
        </p:spPr>
        <p:txBody>
          <a:bodyPr/>
          <a:lstStyle/>
          <a:p>
            <a:endParaRPr lang="en-US"/>
          </a:p>
        </p:txBody>
      </p:sp>
      <p:sp>
        <p:nvSpPr>
          <p:cNvPr id="47" name="Text 45"/>
          <p:cNvSpPr/>
          <p:nvPr/>
        </p:nvSpPr>
        <p:spPr>
          <a:xfrm>
            <a:off x="8302752" y="391363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HTTP CLIENT</a:t>
            </a:r>
            <a:endParaRPr lang="en-US" sz="900" dirty="0"/>
          </a:p>
        </p:txBody>
      </p:sp>
      <p:sp>
        <p:nvSpPr>
          <p:cNvPr id="48" name="Text 46"/>
          <p:cNvSpPr/>
          <p:nvPr/>
        </p:nvSpPr>
        <p:spPr>
          <a:xfrm>
            <a:off x="8302752" y="413308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Axios 1.6</a:t>
            </a:r>
            <a:endParaRPr lang="en-US" sz="1200" dirty="0"/>
          </a:p>
        </p:txBody>
      </p:sp>
      <p:sp>
        <p:nvSpPr>
          <p:cNvPr id="49" name="Text 47"/>
          <p:cNvSpPr/>
          <p:nvPr/>
        </p:nvSpPr>
        <p:spPr>
          <a:xfrm>
            <a:off x="8302752" y="440740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The library that sends requests to our API and automatically attaches the login token.</a:t>
            </a:r>
            <a:endParaRPr lang="en-US" sz="950" dirty="0"/>
          </a:p>
        </p:txBody>
      </p:sp>
      <p:sp>
        <p:nvSpPr>
          <p:cNvPr id="50" name="Shape 48"/>
          <p:cNvSpPr/>
          <p:nvPr/>
        </p:nvSpPr>
        <p:spPr>
          <a:xfrm>
            <a:off x="640080" y="5074920"/>
            <a:ext cx="3611880" cy="1097280"/>
          </a:xfrm>
          <a:prstGeom prst="rect">
            <a:avLst/>
          </a:prstGeom>
          <a:solidFill>
            <a:srgbClr val="121C3A"/>
          </a:solidFill>
          <a:ln w="9525">
            <a:solidFill>
              <a:srgbClr val="2A3A6E"/>
            </a:solidFill>
            <a:prstDash val="solid"/>
          </a:ln>
        </p:spPr>
        <p:txBody>
          <a:bodyPr/>
          <a:lstStyle/>
          <a:p>
            <a:endParaRPr lang="en-US"/>
          </a:p>
        </p:txBody>
      </p:sp>
      <p:sp>
        <p:nvSpPr>
          <p:cNvPr id="51" name="Shape 49"/>
          <p:cNvSpPr/>
          <p:nvPr/>
        </p:nvSpPr>
        <p:spPr>
          <a:xfrm>
            <a:off x="640080" y="5074920"/>
            <a:ext cx="64008" cy="1097280"/>
          </a:xfrm>
          <a:prstGeom prst="rect">
            <a:avLst/>
          </a:prstGeom>
          <a:solidFill>
            <a:srgbClr val="C8F751"/>
          </a:solidFill>
          <a:ln w="12700">
            <a:solidFill>
              <a:srgbClr val="C8F751"/>
            </a:solidFill>
            <a:prstDash val="solid"/>
          </a:ln>
        </p:spPr>
        <p:txBody>
          <a:bodyPr/>
          <a:lstStyle/>
          <a:p>
            <a:endParaRPr lang="en-US"/>
          </a:p>
        </p:txBody>
      </p:sp>
      <p:sp>
        <p:nvSpPr>
          <p:cNvPr id="52" name="Text 50"/>
          <p:cNvSpPr/>
          <p:nvPr/>
        </p:nvSpPr>
        <p:spPr>
          <a:xfrm>
            <a:off x="804672" y="514807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PDF EXPORT</a:t>
            </a:r>
            <a:endParaRPr lang="en-US" sz="900" dirty="0"/>
          </a:p>
        </p:txBody>
      </p:sp>
      <p:sp>
        <p:nvSpPr>
          <p:cNvPr id="53" name="Text 51"/>
          <p:cNvSpPr/>
          <p:nvPr/>
        </p:nvSpPr>
        <p:spPr>
          <a:xfrm>
            <a:off x="804672" y="536752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jsPDF + html2canvas</a:t>
            </a:r>
            <a:endParaRPr lang="en-US" sz="1200" dirty="0"/>
          </a:p>
        </p:txBody>
      </p:sp>
      <p:sp>
        <p:nvSpPr>
          <p:cNvPr id="54" name="Text 52"/>
          <p:cNvSpPr/>
          <p:nvPr/>
        </p:nvSpPr>
        <p:spPr>
          <a:xfrm>
            <a:off x="804672" y="564184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Lets users download their weekly safety reports as polished PDF files.</a:t>
            </a:r>
            <a:endParaRPr lang="en-US" sz="950" dirty="0"/>
          </a:p>
        </p:txBody>
      </p:sp>
      <p:sp>
        <p:nvSpPr>
          <p:cNvPr id="55" name="Shape 53"/>
          <p:cNvSpPr/>
          <p:nvPr/>
        </p:nvSpPr>
        <p:spPr>
          <a:xfrm>
            <a:off x="4389120" y="5074920"/>
            <a:ext cx="3611880" cy="1097280"/>
          </a:xfrm>
          <a:prstGeom prst="rect">
            <a:avLst/>
          </a:prstGeom>
          <a:solidFill>
            <a:srgbClr val="121C3A"/>
          </a:solidFill>
          <a:ln w="9525">
            <a:solidFill>
              <a:srgbClr val="2A3A6E"/>
            </a:solidFill>
            <a:prstDash val="solid"/>
          </a:ln>
        </p:spPr>
        <p:txBody>
          <a:bodyPr/>
          <a:lstStyle/>
          <a:p>
            <a:endParaRPr lang="en-US"/>
          </a:p>
        </p:txBody>
      </p:sp>
      <p:sp>
        <p:nvSpPr>
          <p:cNvPr id="56" name="Shape 54"/>
          <p:cNvSpPr/>
          <p:nvPr/>
        </p:nvSpPr>
        <p:spPr>
          <a:xfrm>
            <a:off x="4389120" y="5074920"/>
            <a:ext cx="64008" cy="1097280"/>
          </a:xfrm>
          <a:prstGeom prst="rect">
            <a:avLst/>
          </a:prstGeom>
          <a:solidFill>
            <a:srgbClr val="C8F751"/>
          </a:solidFill>
          <a:ln w="12700">
            <a:solidFill>
              <a:srgbClr val="C8F751"/>
            </a:solidFill>
            <a:prstDash val="solid"/>
          </a:ln>
        </p:spPr>
        <p:txBody>
          <a:bodyPr/>
          <a:lstStyle/>
          <a:p>
            <a:endParaRPr lang="en-US"/>
          </a:p>
        </p:txBody>
      </p:sp>
      <p:sp>
        <p:nvSpPr>
          <p:cNvPr id="57" name="Text 55"/>
          <p:cNvSpPr/>
          <p:nvPr/>
        </p:nvSpPr>
        <p:spPr>
          <a:xfrm>
            <a:off x="4553712" y="514807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QR CODES</a:t>
            </a:r>
            <a:endParaRPr lang="en-US" sz="900" dirty="0"/>
          </a:p>
        </p:txBody>
      </p:sp>
      <p:sp>
        <p:nvSpPr>
          <p:cNvPr id="58" name="Text 56"/>
          <p:cNvSpPr/>
          <p:nvPr/>
        </p:nvSpPr>
        <p:spPr>
          <a:xfrm>
            <a:off x="4553712" y="536752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qrcode 1.5</a:t>
            </a:r>
            <a:endParaRPr lang="en-US" sz="1200" dirty="0"/>
          </a:p>
        </p:txBody>
      </p:sp>
      <p:sp>
        <p:nvSpPr>
          <p:cNvPr id="59" name="Text 57"/>
          <p:cNvSpPr/>
          <p:nvPr/>
        </p:nvSpPr>
        <p:spPr>
          <a:xfrm>
            <a:off x="4553712" y="564184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Generates the QR code used during 2FA enrolment for Google Authenticator.</a:t>
            </a:r>
            <a:endParaRPr lang="en-US" sz="950" dirty="0"/>
          </a:p>
        </p:txBody>
      </p:sp>
      <p:sp>
        <p:nvSpPr>
          <p:cNvPr id="60" name="Shape 58"/>
          <p:cNvSpPr/>
          <p:nvPr/>
        </p:nvSpPr>
        <p:spPr>
          <a:xfrm>
            <a:off x="8138160" y="5074920"/>
            <a:ext cx="3611880" cy="1097280"/>
          </a:xfrm>
          <a:prstGeom prst="rect">
            <a:avLst/>
          </a:prstGeom>
          <a:solidFill>
            <a:srgbClr val="121C3A"/>
          </a:solidFill>
          <a:ln w="9525">
            <a:solidFill>
              <a:srgbClr val="2A3A6E"/>
            </a:solidFill>
            <a:prstDash val="solid"/>
          </a:ln>
        </p:spPr>
        <p:txBody>
          <a:bodyPr/>
          <a:lstStyle/>
          <a:p>
            <a:endParaRPr lang="en-US"/>
          </a:p>
        </p:txBody>
      </p:sp>
      <p:sp>
        <p:nvSpPr>
          <p:cNvPr id="61" name="Shape 59"/>
          <p:cNvSpPr/>
          <p:nvPr/>
        </p:nvSpPr>
        <p:spPr>
          <a:xfrm>
            <a:off x="8138160" y="5074920"/>
            <a:ext cx="64008" cy="1097280"/>
          </a:xfrm>
          <a:prstGeom prst="rect">
            <a:avLst/>
          </a:prstGeom>
          <a:solidFill>
            <a:srgbClr val="C8F751"/>
          </a:solidFill>
          <a:ln w="12700">
            <a:solidFill>
              <a:srgbClr val="C8F751"/>
            </a:solidFill>
            <a:prstDash val="solid"/>
          </a:ln>
        </p:spPr>
        <p:txBody>
          <a:bodyPr/>
          <a:lstStyle/>
          <a:p>
            <a:endParaRPr lang="en-US"/>
          </a:p>
        </p:txBody>
      </p:sp>
      <p:sp>
        <p:nvSpPr>
          <p:cNvPr id="62" name="Text 60"/>
          <p:cNvSpPr/>
          <p:nvPr/>
        </p:nvSpPr>
        <p:spPr>
          <a:xfrm>
            <a:off x="8302752" y="5148072"/>
            <a:ext cx="320040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TOASTS</a:t>
            </a:r>
            <a:endParaRPr lang="en-US" sz="900" dirty="0"/>
          </a:p>
        </p:txBody>
      </p:sp>
      <p:sp>
        <p:nvSpPr>
          <p:cNvPr id="63" name="Text 61"/>
          <p:cNvSpPr/>
          <p:nvPr/>
        </p:nvSpPr>
        <p:spPr>
          <a:xfrm>
            <a:off x="8302752" y="5367528"/>
            <a:ext cx="33832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react-toastify 11.0</a:t>
            </a:r>
            <a:endParaRPr lang="en-US" sz="1200" dirty="0"/>
          </a:p>
        </p:txBody>
      </p:sp>
      <p:sp>
        <p:nvSpPr>
          <p:cNvPr id="64" name="Text 62"/>
          <p:cNvSpPr/>
          <p:nvPr/>
        </p:nvSpPr>
        <p:spPr>
          <a:xfrm>
            <a:off x="8302752" y="5641848"/>
            <a:ext cx="3383280" cy="50292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Shows non-blocking pop-ups for alerts received while the app is open.</a:t>
            </a:r>
            <a:endParaRPr lang="en-US" sz="950" dirty="0"/>
          </a:p>
        </p:txBody>
      </p:sp>
      <p:sp>
        <p:nvSpPr>
          <p:cNvPr id="65" name="Text 63"/>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66" name="Text 64"/>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8 / 28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DATABASE FOUNDATION</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37 tables grouped into 6 logical domains</a:t>
            </a:r>
            <a:endParaRPr lang="en-US" sz="1200" dirty="0"/>
          </a:p>
        </p:txBody>
      </p:sp>
      <p:sp>
        <p:nvSpPr>
          <p:cNvPr id="5" name="Shape 3"/>
          <p:cNvSpPr/>
          <p:nvPr/>
        </p:nvSpPr>
        <p:spPr>
          <a:xfrm>
            <a:off x="640080" y="1371600"/>
            <a:ext cx="365760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777240" y="1554480"/>
            <a:ext cx="3291840" cy="1920240"/>
          </a:xfrm>
          <a:prstGeom prst="rect">
            <a:avLst/>
          </a:prstGeom>
          <a:noFill/>
          <a:ln/>
        </p:spPr>
        <p:txBody>
          <a:bodyPr wrap="square" lIns="0" tIns="0" rIns="0" bIns="0" rtlCol="0" anchor="ctr"/>
          <a:lstStyle/>
          <a:p>
            <a:pPr marL="0" indent="0" algn="ctr">
              <a:buNone/>
            </a:pPr>
            <a:r>
              <a:rPr lang="en-US" sz="13000" b="1" dirty="0">
                <a:solidFill>
                  <a:srgbClr val="C8F751"/>
                </a:solidFill>
                <a:latin typeface="Calibri" pitchFamily="34" charset="0"/>
                <a:ea typeface="Calibri" pitchFamily="34" charset="-122"/>
                <a:cs typeface="Calibri" pitchFamily="34" charset="-120"/>
              </a:rPr>
              <a:t>37</a:t>
            </a:r>
            <a:endParaRPr lang="en-US" sz="13000" dirty="0"/>
          </a:p>
        </p:txBody>
      </p:sp>
      <p:sp>
        <p:nvSpPr>
          <p:cNvPr id="8" name="Text 6"/>
          <p:cNvSpPr/>
          <p:nvPr/>
        </p:nvSpPr>
        <p:spPr>
          <a:xfrm>
            <a:off x="777240" y="3520440"/>
            <a:ext cx="3291840" cy="365760"/>
          </a:xfrm>
          <a:prstGeom prst="rect">
            <a:avLst/>
          </a:prstGeom>
          <a:noFill/>
          <a:ln/>
        </p:spPr>
        <p:txBody>
          <a:bodyPr wrap="square" lIns="0" tIns="0" rIns="0" bIns="0"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TOTAL TABLES</a:t>
            </a:r>
            <a:endParaRPr lang="en-US" sz="1300" dirty="0"/>
          </a:p>
        </p:txBody>
      </p:sp>
      <p:sp>
        <p:nvSpPr>
          <p:cNvPr id="9" name="Text 7"/>
          <p:cNvSpPr/>
          <p:nvPr/>
        </p:nvSpPr>
        <p:spPr>
          <a:xfrm>
            <a:off x="868680" y="4023360"/>
            <a:ext cx="3200400" cy="210312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Designed with foreign-key relationships, indexed latitude/longitude columns for fast spatial queries, and JSON columns for flexible per-user preferences.</a:t>
            </a:r>
            <a:endParaRPr lang="en-US" sz="1100" dirty="0"/>
          </a:p>
        </p:txBody>
      </p:sp>
      <p:sp>
        <p:nvSpPr>
          <p:cNvPr id="10" name="Shape 8"/>
          <p:cNvSpPr/>
          <p:nvPr/>
        </p:nvSpPr>
        <p:spPr>
          <a:xfrm>
            <a:off x="4526280" y="1371600"/>
            <a:ext cx="3520440" cy="1600200"/>
          </a:xfrm>
          <a:prstGeom prst="rect">
            <a:avLst/>
          </a:prstGeom>
          <a:solidFill>
            <a:srgbClr val="121C3A"/>
          </a:solidFill>
          <a:ln w="9525">
            <a:solidFill>
              <a:srgbClr val="2A3A6E"/>
            </a:solidFill>
            <a:prstDash val="solid"/>
          </a:ln>
        </p:spPr>
        <p:txBody>
          <a:bodyPr/>
          <a:lstStyle/>
          <a:p>
            <a:endParaRPr lang="en-US"/>
          </a:p>
        </p:txBody>
      </p:sp>
      <p:sp>
        <p:nvSpPr>
          <p:cNvPr id="11" name="Shape 9"/>
          <p:cNvSpPr/>
          <p:nvPr/>
        </p:nvSpPr>
        <p:spPr>
          <a:xfrm>
            <a:off x="4526280" y="1371600"/>
            <a:ext cx="64008" cy="1600200"/>
          </a:xfrm>
          <a:prstGeom prst="rect">
            <a:avLst/>
          </a:prstGeom>
          <a:solidFill>
            <a:srgbClr val="C8F751"/>
          </a:solidFill>
          <a:ln w="12700">
            <a:solidFill>
              <a:srgbClr val="C8F751"/>
            </a:solidFill>
            <a:prstDash val="solid"/>
          </a:ln>
        </p:spPr>
        <p:txBody>
          <a:bodyPr/>
          <a:lstStyle/>
          <a:p>
            <a:endParaRPr lang="en-US"/>
          </a:p>
        </p:txBody>
      </p:sp>
      <p:sp>
        <p:nvSpPr>
          <p:cNvPr id="12" name="Text 10"/>
          <p:cNvSpPr/>
          <p:nvPr/>
        </p:nvSpPr>
        <p:spPr>
          <a:xfrm>
            <a:off x="4709160" y="1463040"/>
            <a:ext cx="3200400" cy="292608"/>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Users &amp; Auth  ·  5 tables</a:t>
            </a:r>
            <a:endParaRPr lang="en-US" sz="1200" dirty="0"/>
          </a:p>
        </p:txBody>
      </p:sp>
      <p:sp>
        <p:nvSpPr>
          <p:cNvPr id="13" name="Text 11"/>
          <p:cNvSpPr/>
          <p:nvPr/>
        </p:nvSpPr>
        <p:spPr>
          <a:xfrm>
            <a:off x="4709160" y="1783080"/>
            <a:ext cx="3200400" cy="59436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Stores accounts, login sessions, admin records and failed-login tracking.</a:t>
            </a:r>
            <a:endParaRPr lang="en-US" sz="1000" dirty="0"/>
          </a:p>
        </p:txBody>
      </p:sp>
      <p:sp>
        <p:nvSpPr>
          <p:cNvPr id="14" name="Text 12"/>
          <p:cNvSpPr/>
          <p:nvPr/>
        </p:nvSpPr>
        <p:spPr>
          <a:xfrm>
            <a:off x="4709160" y="2377440"/>
            <a:ext cx="3200400" cy="548640"/>
          </a:xfrm>
          <a:prstGeom prst="rect">
            <a:avLst/>
          </a:prstGeom>
          <a:noFill/>
          <a:ln/>
        </p:spPr>
        <p:txBody>
          <a:bodyPr wrap="square" lIns="0" tIns="0" rIns="0" bIns="0" rtlCol="0" anchor="ctr"/>
          <a:lstStyle/>
          <a:p>
            <a:pPr marL="0" indent="0">
              <a:buNone/>
            </a:pPr>
            <a:r>
              <a:rPr lang="en-US" sz="850" dirty="0">
                <a:solidFill>
                  <a:srgbClr val="9AA8C7"/>
                </a:solidFill>
                <a:latin typeface="Consolas" pitchFamily="34" charset="0"/>
                <a:ea typeface="Consolas" pitchFamily="34" charset="-122"/>
                <a:cs typeface="Consolas" pitchFamily="34" charset="-120"/>
              </a:rPr>
              <a:t>users, users_info (55 cols), admins, admin_sessions, login_attempts</a:t>
            </a:r>
            <a:endParaRPr lang="en-US" sz="850" dirty="0"/>
          </a:p>
        </p:txBody>
      </p:sp>
      <p:sp>
        <p:nvSpPr>
          <p:cNvPr id="15" name="Shape 13"/>
          <p:cNvSpPr/>
          <p:nvPr/>
        </p:nvSpPr>
        <p:spPr>
          <a:xfrm>
            <a:off x="8183880" y="1371600"/>
            <a:ext cx="3520440" cy="1600200"/>
          </a:xfrm>
          <a:prstGeom prst="rect">
            <a:avLst/>
          </a:prstGeom>
          <a:solidFill>
            <a:srgbClr val="121C3A"/>
          </a:solidFill>
          <a:ln w="9525">
            <a:solidFill>
              <a:srgbClr val="2A3A6E"/>
            </a:solidFill>
            <a:prstDash val="solid"/>
          </a:ln>
        </p:spPr>
        <p:txBody>
          <a:bodyPr/>
          <a:lstStyle/>
          <a:p>
            <a:endParaRPr lang="en-US"/>
          </a:p>
        </p:txBody>
      </p:sp>
      <p:sp>
        <p:nvSpPr>
          <p:cNvPr id="16" name="Shape 14"/>
          <p:cNvSpPr/>
          <p:nvPr/>
        </p:nvSpPr>
        <p:spPr>
          <a:xfrm>
            <a:off x="8183880" y="1371600"/>
            <a:ext cx="64008" cy="1600200"/>
          </a:xfrm>
          <a:prstGeom prst="rect">
            <a:avLst/>
          </a:prstGeom>
          <a:solidFill>
            <a:srgbClr val="C8F751"/>
          </a:solidFill>
          <a:ln w="12700">
            <a:solidFill>
              <a:srgbClr val="C8F751"/>
            </a:solidFill>
            <a:prstDash val="solid"/>
          </a:ln>
        </p:spPr>
        <p:txBody>
          <a:bodyPr/>
          <a:lstStyle/>
          <a:p>
            <a:endParaRPr lang="en-US"/>
          </a:p>
        </p:txBody>
      </p:sp>
      <p:sp>
        <p:nvSpPr>
          <p:cNvPr id="17" name="Text 15"/>
          <p:cNvSpPr/>
          <p:nvPr/>
        </p:nvSpPr>
        <p:spPr>
          <a:xfrm>
            <a:off x="8366760" y="1463040"/>
            <a:ext cx="3200400" cy="292608"/>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Crime Data  ·  5 tables</a:t>
            </a:r>
            <a:endParaRPr lang="en-US" sz="1200" dirty="0"/>
          </a:p>
        </p:txBody>
      </p:sp>
      <p:sp>
        <p:nvSpPr>
          <p:cNvPr id="18" name="Text 16"/>
          <p:cNvSpPr/>
          <p:nvPr/>
        </p:nvSpPr>
        <p:spPr>
          <a:xfrm>
            <a:off x="8366760" y="1783080"/>
            <a:ext cx="3200400" cy="59436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Holds verified crimes, areas, coordinates, and the Pakistan Penal Code lookup.</a:t>
            </a:r>
            <a:endParaRPr lang="en-US" sz="1000" dirty="0"/>
          </a:p>
        </p:txBody>
      </p:sp>
      <p:sp>
        <p:nvSpPr>
          <p:cNvPr id="19" name="Text 17"/>
          <p:cNvSpPr/>
          <p:nvPr/>
        </p:nvSpPr>
        <p:spPr>
          <a:xfrm>
            <a:off x="8366760" y="2377440"/>
            <a:ext cx="3200400" cy="548640"/>
          </a:xfrm>
          <a:prstGeom prst="rect">
            <a:avLst/>
          </a:prstGeom>
          <a:noFill/>
          <a:ln/>
        </p:spPr>
        <p:txBody>
          <a:bodyPr wrap="square" lIns="0" tIns="0" rIns="0" bIns="0" rtlCol="0" anchor="ctr"/>
          <a:lstStyle/>
          <a:p>
            <a:pPr marL="0" indent="0">
              <a:buNone/>
            </a:pPr>
            <a:r>
              <a:rPr lang="en-US" sz="850" dirty="0">
                <a:solidFill>
                  <a:srgbClr val="9AA8C7"/>
                </a:solidFill>
                <a:latin typeface="Consolas" pitchFamily="34" charset="0"/>
                <a:ea typeface="Consolas" pitchFamily="34" charset="-122"/>
                <a:cs typeface="Consolas" pitchFamily="34" charset="-120"/>
              </a:rPr>
              <a:t>crimes, areas, area_coordinates, law_sections, law_sections_audit</a:t>
            </a:r>
            <a:endParaRPr lang="en-US" sz="850" dirty="0"/>
          </a:p>
        </p:txBody>
      </p:sp>
      <p:sp>
        <p:nvSpPr>
          <p:cNvPr id="20" name="Shape 18"/>
          <p:cNvSpPr/>
          <p:nvPr/>
        </p:nvSpPr>
        <p:spPr>
          <a:xfrm>
            <a:off x="4526280" y="3063240"/>
            <a:ext cx="3520440" cy="1600200"/>
          </a:xfrm>
          <a:prstGeom prst="rect">
            <a:avLst/>
          </a:prstGeom>
          <a:solidFill>
            <a:srgbClr val="121C3A"/>
          </a:solidFill>
          <a:ln w="9525">
            <a:solidFill>
              <a:srgbClr val="2A3A6E"/>
            </a:solidFill>
            <a:prstDash val="solid"/>
          </a:ln>
        </p:spPr>
        <p:txBody>
          <a:bodyPr/>
          <a:lstStyle/>
          <a:p>
            <a:endParaRPr lang="en-US"/>
          </a:p>
        </p:txBody>
      </p:sp>
      <p:sp>
        <p:nvSpPr>
          <p:cNvPr id="21" name="Shape 19"/>
          <p:cNvSpPr/>
          <p:nvPr/>
        </p:nvSpPr>
        <p:spPr>
          <a:xfrm>
            <a:off x="4526280" y="3063240"/>
            <a:ext cx="64008" cy="1600200"/>
          </a:xfrm>
          <a:prstGeom prst="rect">
            <a:avLst/>
          </a:prstGeom>
          <a:solidFill>
            <a:srgbClr val="C8F751"/>
          </a:solidFill>
          <a:ln w="12700">
            <a:solidFill>
              <a:srgbClr val="C8F751"/>
            </a:solidFill>
            <a:prstDash val="solid"/>
          </a:ln>
        </p:spPr>
        <p:txBody>
          <a:bodyPr/>
          <a:lstStyle/>
          <a:p>
            <a:endParaRPr lang="en-US"/>
          </a:p>
        </p:txBody>
      </p:sp>
      <p:sp>
        <p:nvSpPr>
          <p:cNvPr id="22" name="Text 20"/>
          <p:cNvSpPr/>
          <p:nvPr/>
        </p:nvSpPr>
        <p:spPr>
          <a:xfrm>
            <a:off x="4709160" y="3154680"/>
            <a:ext cx="3200400" cy="292608"/>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Alerts &amp; Notify  ·  8 tables</a:t>
            </a:r>
            <a:endParaRPr lang="en-US" sz="1200" dirty="0"/>
          </a:p>
        </p:txBody>
      </p:sp>
      <p:sp>
        <p:nvSpPr>
          <p:cNvPr id="23" name="Text 21"/>
          <p:cNvSpPr/>
          <p:nvPr/>
        </p:nvSpPr>
        <p:spPr>
          <a:xfrm>
            <a:off x="4709160" y="3474720"/>
            <a:ext cx="3200400" cy="59436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Manages every notification: web push, in-app, system, scheduled and audit trails.</a:t>
            </a:r>
            <a:endParaRPr lang="en-US" sz="1000" dirty="0"/>
          </a:p>
        </p:txBody>
      </p:sp>
      <p:sp>
        <p:nvSpPr>
          <p:cNvPr id="24" name="Text 22"/>
          <p:cNvSpPr/>
          <p:nvPr/>
        </p:nvSpPr>
        <p:spPr>
          <a:xfrm>
            <a:off x="4709160" y="4069080"/>
            <a:ext cx="3200400" cy="548640"/>
          </a:xfrm>
          <a:prstGeom prst="rect">
            <a:avLst/>
          </a:prstGeom>
          <a:noFill/>
          <a:ln/>
        </p:spPr>
        <p:txBody>
          <a:bodyPr wrap="square" lIns="0" tIns="0" rIns="0" bIns="0" rtlCol="0" anchor="ctr"/>
          <a:lstStyle/>
          <a:p>
            <a:pPr marL="0" indent="0">
              <a:buNone/>
            </a:pPr>
            <a:r>
              <a:rPr lang="en-US" sz="850" dirty="0">
                <a:solidFill>
                  <a:srgbClr val="9AA8C7"/>
                </a:solidFill>
                <a:latin typeface="Consolas" pitchFamily="34" charset="0"/>
                <a:ea typeface="Consolas" pitchFamily="34" charset="-122"/>
                <a:cs typeface="Consolas" pitchFamily="34" charset="-120"/>
              </a:rPr>
              <a:t>alert_notifications, push_subscriptions, notifications, system_alerts and 4 more</a:t>
            </a:r>
            <a:endParaRPr lang="en-US" sz="850" dirty="0"/>
          </a:p>
        </p:txBody>
      </p:sp>
      <p:sp>
        <p:nvSpPr>
          <p:cNvPr id="25" name="Shape 23"/>
          <p:cNvSpPr/>
          <p:nvPr/>
        </p:nvSpPr>
        <p:spPr>
          <a:xfrm>
            <a:off x="8183880" y="3063240"/>
            <a:ext cx="3520440" cy="1600200"/>
          </a:xfrm>
          <a:prstGeom prst="rect">
            <a:avLst/>
          </a:prstGeom>
          <a:solidFill>
            <a:srgbClr val="121C3A"/>
          </a:solidFill>
          <a:ln w="9525">
            <a:solidFill>
              <a:srgbClr val="2A3A6E"/>
            </a:solidFill>
            <a:prstDash val="solid"/>
          </a:ln>
        </p:spPr>
        <p:txBody>
          <a:bodyPr/>
          <a:lstStyle/>
          <a:p>
            <a:endParaRPr lang="en-US"/>
          </a:p>
        </p:txBody>
      </p:sp>
      <p:sp>
        <p:nvSpPr>
          <p:cNvPr id="26" name="Shape 24"/>
          <p:cNvSpPr/>
          <p:nvPr/>
        </p:nvSpPr>
        <p:spPr>
          <a:xfrm>
            <a:off x="8183880" y="3063240"/>
            <a:ext cx="64008" cy="1600200"/>
          </a:xfrm>
          <a:prstGeom prst="rect">
            <a:avLst/>
          </a:prstGeom>
          <a:solidFill>
            <a:srgbClr val="C8F751"/>
          </a:solidFill>
          <a:ln w="12700">
            <a:solidFill>
              <a:srgbClr val="C8F751"/>
            </a:solidFill>
            <a:prstDash val="solid"/>
          </a:ln>
        </p:spPr>
        <p:txBody>
          <a:bodyPr/>
          <a:lstStyle/>
          <a:p>
            <a:endParaRPr lang="en-US"/>
          </a:p>
        </p:txBody>
      </p:sp>
      <p:sp>
        <p:nvSpPr>
          <p:cNvPr id="27" name="Text 25"/>
          <p:cNvSpPr/>
          <p:nvPr/>
        </p:nvSpPr>
        <p:spPr>
          <a:xfrm>
            <a:off x="8366760" y="3154680"/>
            <a:ext cx="3200400" cy="292608"/>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Emergency  ·  2 tables</a:t>
            </a:r>
            <a:endParaRPr lang="en-US" sz="1200" dirty="0"/>
          </a:p>
        </p:txBody>
      </p:sp>
      <p:sp>
        <p:nvSpPr>
          <p:cNvPr id="28" name="Text 26"/>
          <p:cNvSpPr/>
          <p:nvPr/>
        </p:nvSpPr>
        <p:spPr>
          <a:xfrm>
            <a:off x="8366760" y="3474720"/>
            <a:ext cx="3200400" cy="59436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Tracks SOS calls and patrol-request submissions from citizens.</a:t>
            </a:r>
            <a:endParaRPr lang="en-US" sz="1000" dirty="0"/>
          </a:p>
        </p:txBody>
      </p:sp>
      <p:sp>
        <p:nvSpPr>
          <p:cNvPr id="29" name="Text 27"/>
          <p:cNvSpPr/>
          <p:nvPr/>
        </p:nvSpPr>
        <p:spPr>
          <a:xfrm>
            <a:off x="8366760" y="4069080"/>
            <a:ext cx="3200400" cy="548640"/>
          </a:xfrm>
          <a:prstGeom prst="rect">
            <a:avLst/>
          </a:prstGeom>
          <a:noFill/>
          <a:ln/>
        </p:spPr>
        <p:txBody>
          <a:bodyPr wrap="square" lIns="0" tIns="0" rIns="0" bIns="0" rtlCol="0" anchor="ctr"/>
          <a:lstStyle/>
          <a:p>
            <a:pPr marL="0" indent="0">
              <a:buNone/>
            </a:pPr>
            <a:r>
              <a:rPr lang="en-US" sz="850" dirty="0">
                <a:solidFill>
                  <a:srgbClr val="9AA8C7"/>
                </a:solidFill>
                <a:latin typeface="Consolas" pitchFamily="34" charset="0"/>
                <a:ea typeface="Consolas" pitchFamily="34" charset="-122"/>
                <a:cs typeface="Consolas" pitchFamily="34" charset="-120"/>
              </a:rPr>
              <a:t>emergency_calls, patrol_requests</a:t>
            </a:r>
            <a:endParaRPr lang="en-US" sz="850" dirty="0"/>
          </a:p>
        </p:txBody>
      </p:sp>
      <p:sp>
        <p:nvSpPr>
          <p:cNvPr id="30" name="Shape 28"/>
          <p:cNvSpPr/>
          <p:nvPr/>
        </p:nvSpPr>
        <p:spPr>
          <a:xfrm>
            <a:off x="4526280" y="4754880"/>
            <a:ext cx="3520440" cy="1600200"/>
          </a:xfrm>
          <a:prstGeom prst="rect">
            <a:avLst/>
          </a:prstGeom>
          <a:solidFill>
            <a:srgbClr val="121C3A"/>
          </a:solidFill>
          <a:ln w="9525">
            <a:solidFill>
              <a:srgbClr val="2A3A6E"/>
            </a:solidFill>
            <a:prstDash val="solid"/>
          </a:ln>
        </p:spPr>
        <p:txBody>
          <a:bodyPr/>
          <a:lstStyle/>
          <a:p>
            <a:endParaRPr lang="en-US"/>
          </a:p>
        </p:txBody>
      </p:sp>
      <p:sp>
        <p:nvSpPr>
          <p:cNvPr id="31" name="Shape 29"/>
          <p:cNvSpPr/>
          <p:nvPr/>
        </p:nvSpPr>
        <p:spPr>
          <a:xfrm>
            <a:off x="4526280" y="4754880"/>
            <a:ext cx="64008" cy="1600200"/>
          </a:xfrm>
          <a:prstGeom prst="rect">
            <a:avLst/>
          </a:prstGeom>
          <a:solidFill>
            <a:srgbClr val="C8F751"/>
          </a:solidFill>
          <a:ln w="12700">
            <a:solidFill>
              <a:srgbClr val="C8F751"/>
            </a:solidFill>
            <a:prstDash val="solid"/>
          </a:ln>
        </p:spPr>
        <p:txBody>
          <a:bodyPr/>
          <a:lstStyle/>
          <a:p>
            <a:endParaRPr lang="en-US"/>
          </a:p>
        </p:txBody>
      </p:sp>
      <p:sp>
        <p:nvSpPr>
          <p:cNvPr id="32" name="Text 30"/>
          <p:cNvSpPr/>
          <p:nvPr/>
        </p:nvSpPr>
        <p:spPr>
          <a:xfrm>
            <a:off x="4709160" y="4846320"/>
            <a:ext cx="3200400" cy="292608"/>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Audit &amp; Logs  ·  3 tables</a:t>
            </a:r>
            <a:endParaRPr lang="en-US" sz="1200" dirty="0"/>
          </a:p>
        </p:txBody>
      </p:sp>
      <p:sp>
        <p:nvSpPr>
          <p:cNvPr id="33" name="Text 31"/>
          <p:cNvSpPr/>
          <p:nvPr/>
        </p:nvSpPr>
        <p:spPr>
          <a:xfrm>
            <a:off x="4709160" y="5166360"/>
            <a:ext cx="3200400" cy="59436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Append-only record of every privileged action for accountability.</a:t>
            </a:r>
            <a:endParaRPr lang="en-US" sz="1000" dirty="0"/>
          </a:p>
        </p:txBody>
      </p:sp>
      <p:sp>
        <p:nvSpPr>
          <p:cNvPr id="34" name="Text 32"/>
          <p:cNvSpPr/>
          <p:nvPr/>
        </p:nvSpPr>
        <p:spPr>
          <a:xfrm>
            <a:off x="4709160" y="5760720"/>
            <a:ext cx="3200400" cy="548640"/>
          </a:xfrm>
          <a:prstGeom prst="rect">
            <a:avLst/>
          </a:prstGeom>
          <a:noFill/>
          <a:ln/>
        </p:spPr>
        <p:txBody>
          <a:bodyPr wrap="square" lIns="0" tIns="0" rIns="0" bIns="0" rtlCol="0" anchor="ctr"/>
          <a:lstStyle/>
          <a:p>
            <a:pPr marL="0" indent="0">
              <a:buNone/>
            </a:pPr>
            <a:r>
              <a:rPr lang="en-US" sz="850" dirty="0">
                <a:solidFill>
                  <a:srgbClr val="9AA8C7"/>
                </a:solidFill>
                <a:latin typeface="Consolas" pitchFamily="34" charset="0"/>
                <a:ea typeface="Consolas" pitchFamily="34" charset="-122"/>
                <a:cs typeface="Consolas" pitchFamily="34" charset="-120"/>
              </a:rPr>
              <a:t>audit_logs (append-only), system_logs, user_activity_logs</a:t>
            </a:r>
            <a:endParaRPr lang="en-US" sz="850" dirty="0"/>
          </a:p>
        </p:txBody>
      </p:sp>
      <p:sp>
        <p:nvSpPr>
          <p:cNvPr id="35" name="Shape 33"/>
          <p:cNvSpPr/>
          <p:nvPr/>
        </p:nvSpPr>
        <p:spPr>
          <a:xfrm>
            <a:off x="8183880" y="4754880"/>
            <a:ext cx="3520440" cy="1600200"/>
          </a:xfrm>
          <a:prstGeom prst="rect">
            <a:avLst/>
          </a:prstGeom>
          <a:solidFill>
            <a:srgbClr val="121C3A"/>
          </a:solidFill>
          <a:ln w="9525">
            <a:solidFill>
              <a:srgbClr val="2A3A6E"/>
            </a:solidFill>
            <a:prstDash val="solid"/>
          </a:ln>
        </p:spPr>
        <p:txBody>
          <a:bodyPr/>
          <a:lstStyle/>
          <a:p>
            <a:endParaRPr lang="en-US"/>
          </a:p>
        </p:txBody>
      </p:sp>
      <p:sp>
        <p:nvSpPr>
          <p:cNvPr id="36" name="Shape 34"/>
          <p:cNvSpPr/>
          <p:nvPr/>
        </p:nvSpPr>
        <p:spPr>
          <a:xfrm>
            <a:off x="8183880" y="4754880"/>
            <a:ext cx="64008" cy="1600200"/>
          </a:xfrm>
          <a:prstGeom prst="rect">
            <a:avLst/>
          </a:prstGeom>
          <a:solidFill>
            <a:srgbClr val="C8F751"/>
          </a:solidFill>
          <a:ln w="12700">
            <a:solidFill>
              <a:srgbClr val="C8F751"/>
            </a:solidFill>
            <a:prstDash val="solid"/>
          </a:ln>
        </p:spPr>
        <p:txBody>
          <a:bodyPr/>
          <a:lstStyle/>
          <a:p>
            <a:endParaRPr lang="en-US"/>
          </a:p>
        </p:txBody>
      </p:sp>
      <p:sp>
        <p:nvSpPr>
          <p:cNvPr id="37" name="Text 35"/>
          <p:cNvSpPr/>
          <p:nvPr/>
        </p:nvSpPr>
        <p:spPr>
          <a:xfrm>
            <a:off x="8366760" y="4846320"/>
            <a:ext cx="3200400" cy="292608"/>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Reports &amp; Misc  ·  14 tables</a:t>
            </a:r>
            <a:endParaRPr lang="en-US" sz="1200" dirty="0"/>
          </a:p>
        </p:txBody>
      </p:sp>
      <p:sp>
        <p:nvSpPr>
          <p:cNvPr id="38" name="Text 36"/>
          <p:cNvSpPr/>
          <p:nvPr/>
        </p:nvSpPr>
        <p:spPr>
          <a:xfrm>
            <a:off x="8366760" y="5166360"/>
            <a:ext cx="3200400" cy="59436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Weekly user reports, scheduled admin reports, API keys, preferences and saved locations.</a:t>
            </a:r>
            <a:endParaRPr lang="en-US" sz="1000" dirty="0"/>
          </a:p>
        </p:txBody>
      </p:sp>
      <p:sp>
        <p:nvSpPr>
          <p:cNvPr id="39" name="Text 37"/>
          <p:cNvSpPr/>
          <p:nvPr/>
        </p:nvSpPr>
        <p:spPr>
          <a:xfrm>
            <a:off x="8366760" y="5760720"/>
            <a:ext cx="3200400" cy="548640"/>
          </a:xfrm>
          <a:prstGeom prst="rect">
            <a:avLst/>
          </a:prstGeom>
          <a:noFill/>
          <a:ln/>
        </p:spPr>
        <p:txBody>
          <a:bodyPr wrap="square" lIns="0" tIns="0" rIns="0" bIns="0" rtlCol="0" anchor="ctr"/>
          <a:lstStyle/>
          <a:p>
            <a:pPr marL="0" indent="0">
              <a:buNone/>
            </a:pPr>
            <a:r>
              <a:rPr lang="en-US" sz="850" dirty="0">
                <a:solidFill>
                  <a:srgbClr val="9AA8C7"/>
                </a:solidFill>
                <a:latin typeface="Consolas" pitchFamily="34" charset="0"/>
                <a:ea typeface="Consolas" pitchFamily="34" charset="-122"/>
                <a:cs typeface="Consolas" pitchFamily="34" charset="-120"/>
              </a:rPr>
              <a:t>reports, scheduled_reports, api_keys, user_alert_preferences, user_locations and 9 more</a:t>
            </a:r>
            <a:endParaRPr lang="en-US" sz="850" dirty="0"/>
          </a:p>
        </p:txBody>
      </p:sp>
      <p:sp>
        <p:nvSpPr>
          <p:cNvPr id="40" name="Text 38"/>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41" name="Text 39"/>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9 / 28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TWO CRITICAL TABLES UP CLOSE</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users_info (55 columns) and crimes (the spatial backbone)</a:t>
            </a:r>
            <a:endParaRPr lang="en-US" sz="1200" dirty="0"/>
          </a:p>
        </p:txBody>
      </p:sp>
      <p:sp>
        <p:nvSpPr>
          <p:cNvPr id="5" name="Shape 3"/>
          <p:cNvSpPr/>
          <p:nvPr/>
        </p:nvSpPr>
        <p:spPr>
          <a:xfrm>
            <a:off x="640080" y="1371600"/>
            <a:ext cx="553212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54480"/>
            <a:ext cx="5212080" cy="365760"/>
          </a:xfrm>
          <a:prstGeom prst="rect">
            <a:avLst/>
          </a:prstGeom>
          <a:noFill/>
          <a:ln/>
        </p:spPr>
        <p:txBody>
          <a:bodyPr wrap="square" lIns="0" tIns="0" rIns="0" bIns="0" rtlCol="0" anchor="ctr"/>
          <a:lstStyle/>
          <a:p>
            <a:pPr marL="0" indent="0">
              <a:buNone/>
            </a:pPr>
            <a:r>
              <a:rPr lang="en-US" sz="1400" b="1" dirty="0">
                <a:solidFill>
                  <a:srgbClr val="C8F751"/>
                </a:solidFill>
                <a:latin typeface="Consolas" pitchFamily="34" charset="0"/>
                <a:ea typeface="Consolas" pitchFamily="34" charset="-122"/>
                <a:cs typeface="Consolas" pitchFamily="34" charset="-120"/>
              </a:rPr>
              <a:t>users_info  ·  55 columns</a:t>
            </a:r>
            <a:endParaRPr lang="en-US" sz="1400" dirty="0"/>
          </a:p>
        </p:txBody>
      </p:sp>
      <p:sp>
        <p:nvSpPr>
          <p:cNvPr id="8" name="Text 6"/>
          <p:cNvSpPr/>
          <p:nvPr/>
        </p:nvSpPr>
        <p:spPr>
          <a:xfrm>
            <a:off x="868680" y="1874520"/>
            <a:ext cx="5212080" cy="274320"/>
          </a:xfrm>
          <a:prstGeom prst="rect">
            <a:avLst/>
          </a:prstGeom>
          <a:noFill/>
          <a:ln/>
        </p:spPr>
        <p:txBody>
          <a:bodyPr wrap="square" lIns="0" tIns="0" rIns="0" bIns="0" rtlCol="0" anchor="ctr"/>
          <a:lstStyle/>
          <a:p>
            <a:pPr marL="0" indent="0">
              <a:buNone/>
            </a:pPr>
            <a:r>
              <a:rPr lang="en-US" sz="1000" i="1" dirty="0">
                <a:solidFill>
                  <a:srgbClr val="9AA8C7"/>
                </a:solidFill>
                <a:latin typeface="Calibri" pitchFamily="34" charset="0"/>
                <a:ea typeface="Calibri" pitchFamily="34" charset="-122"/>
                <a:cs typeface="Calibri" pitchFamily="34" charset="-120"/>
              </a:rPr>
              <a:t>Holds everything we need to know about a citizen account</a:t>
            </a:r>
            <a:endParaRPr lang="en-US" sz="1000" dirty="0"/>
          </a:p>
        </p:txBody>
      </p:sp>
      <p:sp>
        <p:nvSpPr>
          <p:cNvPr id="9" name="Text 7"/>
          <p:cNvSpPr/>
          <p:nvPr/>
        </p:nvSpPr>
        <p:spPr>
          <a:xfrm>
            <a:off x="868680" y="2240280"/>
            <a:ext cx="1371600" cy="5029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Identity</a:t>
            </a:r>
            <a:endParaRPr lang="en-US" sz="1100" dirty="0"/>
          </a:p>
        </p:txBody>
      </p:sp>
      <p:sp>
        <p:nvSpPr>
          <p:cNvPr id="10" name="Text 8"/>
          <p:cNvSpPr/>
          <p:nvPr/>
        </p:nvSpPr>
        <p:spPr>
          <a:xfrm>
            <a:off x="2286000" y="2240280"/>
            <a:ext cx="379476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Name, CNIC, phone, email, gender, date of birth</a:t>
            </a:r>
            <a:endParaRPr lang="en-US" sz="1000" dirty="0"/>
          </a:p>
        </p:txBody>
      </p:sp>
      <p:sp>
        <p:nvSpPr>
          <p:cNvPr id="11" name="Text 9"/>
          <p:cNvSpPr/>
          <p:nvPr/>
        </p:nvSpPr>
        <p:spPr>
          <a:xfrm>
            <a:off x="868680" y="2807208"/>
            <a:ext cx="1371600" cy="5029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Security</a:t>
            </a:r>
            <a:endParaRPr lang="en-US" sz="1100" dirty="0"/>
          </a:p>
        </p:txBody>
      </p:sp>
      <p:sp>
        <p:nvSpPr>
          <p:cNvPr id="12" name="Text 10"/>
          <p:cNvSpPr/>
          <p:nvPr/>
        </p:nvSpPr>
        <p:spPr>
          <a:xfrm>
            <a:off x="2286000" y="2807208"/>
            <a:ext cx="379476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Hashed password, password-reset token, email-verification token, OTP code</a:t>
            </a:r>
            <a:endParaRPr lang="en-US" sz="1000" dirty="0"/>
          </a:p>
        </p:txBody>
      </p:sp>
      <p:sp>
        <p:nvSpPr>
          <p:cNvPr id="13" name="Text 11"/>
          <p:cNvSpPr/>
          <p:nvPr/>
        </p:nvSpPr>
        <p:spPr>
          <a:xfrm>
            <a:off x="868680" y="3374136"/>
            <a:ext cx="1371600" cy="5029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2FA</a:t>
            </a:r>
            <a:endParaRPr lang="en-US" sz="1100" dirty="0"/>
          </a:p>
        </p:txBody>
      </p:sp>
      <p:sp>
        <p:nvSpPr>
          <p:cNvPr id="14" name="Text 12"/>
          <p:cNvSpPr/>
          <p:nvPr/>
        </p:nvSpPr>
        <p:spPr>
          <a:xfrm>
            <a:off x="2286000" y="3374136"/>
            <a:ext cx="379476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Authenticator secret, 2FA on/off flag, verification status</a:t>
            </a:r>
            <a:endParaRPr lang="en-US" sz="1000" dirty="0"/>
          </a:p>
        </p:txBody>
      </p:sp>
      <p:sp>
        <p:nvSpPr>
          <p:cNvPr id="15" name="Text 13"/>
          <p:cNvSpPr/>
          <p:nvPr/>
        </p:nvSpPr>
        <p:spPr>
          <a:xfrm>
            <a:off x="868680" y="3941064"/>
            <a:ext cx="1371600" cy="5029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Home Geo</a:t>
            </a:r>
            <a:endParaRPr lang="en-US" sz="1100" dirty="0"/>
          </a:p>
        </p:txBody>
      </p:sp>
      <p:sp>
        <p:nvSpPr>
          <p:cNvPr id="16" name="Text 14"/>
          <p:cNvSpPr/>
          <p:nvPr/>
        </p:nvSpPr>
        <p:spPr>
          <a:xfrm>
            <a:off x="2286000" y="3941064"/>
            <a:ext cx="379476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Saved home address with precise latitude/longitude — for proximity alerts</a:t>
            </a:r>
            <a:endParaRPr lang="en-US" sz="1000" dirty="0"/>
          </a:p>
        </p:txBody>
      </p:sp>
      <p:sp>
        <p:nvSpPr>
          <p:cNvPr id="17" name="Text 15"/>
          <p:cNvSpPr/>
          <p:nvPr/>
        </p:nvSpPr>
        <p:spPr>
          <a:xfrm>
            <a:off x="868680" y="4507992"/>
            <a:ext cx="1371600" cy="5029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Work Geo</a:t>
            </a:r>
            <a:endParaRPr lang="en-US" sz="1100" dirty="0"/>
          </a:p>
        </p:txBody>
      </p:sp>
      <p:sp>
        <p:nvSpPr>
          <p:cNvPr id="18" name="Text 16"/>
          <p:cNvSpPr/>
          <p:nvPr/>
        </p:nvSpPr>
        <p:spPr>
          <a:xfrm>
            <a:off x="2286000" y="4507992"/>
            <a:ext cx="379476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Saved work address — used to alert during commute hours</a:t>
            </a:r>
            <a:endParaRPr lang="en-US" sz="1000" dirty="0"/>
          </a:p>
        </p:txBody>
      </p:sp>
      <p:sp>
        <p:nvSpPr>
          <p:cNvPr id="19" name="Text 17"/>
          <p:cNvSpPr/>
          <p:nvPr/>
        </p:nvSpPr>
        <p:spPr>
          <a:xfrm>
            <a:off x="868680" y="5074920"/>
            <a:ext cx="1371600" cy="5029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Live Location</a:t>
            </a:r>
            <a:endParaRPr lang="en-US" sz="1100" dirty="0"/>
          </a:p>
        </p:txBody>
      </p:sp>
      <p:sp>
        <p:nvSpPr>
          <p:cNvPr id="20" name="Text 18"/>
          <p:cNvSpPr/>
          <p:nvPr/>
        </p:nvSpPr>
        <p:spPr>
          <a:xfrm>
            <a:off x="2286000" y="5074920"/>
            <a:ext cx="379476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Current GPS coordinates, last update time, tracking on/off toggle</a:t>
            </a:r>
            <a:endParaRPr lang="en-US" sz="1000" dirty="0"/>
          </a:p>
        </p:txBody>
      </p:sp>
      <p:sp>
        <p:nvSpPr>
          <p:cNvPr id="21" name="Text 19"/>
          <p:cNvSpPr/>
          <p:nvPr/>
        </p:nvSpPr>
        <p:spPr>
          <a:xfrm>
            <a:off x="868680" y="5641848"/>
            <a:ext cx="1371600" cy="502920"/>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Preferences</a:t>
            </a:r>
            <a:endParaRPr lang="en-US" sz="1100" dirty="0"/>
          </a:p>
        </p:txBody>
      </p:sp>
      <p:sp>
        <p:nvSpPr>
          <p:cNvPr id="22" name="Text 20"/>
          <p:cNvSpPr/>
          <p:nvPr/>
        </p:nvSpPr>
        <p:spPr>
          <a:xfrm>
            <a:off x="2286000" y="5641848"/>
            <a:ext cx="379476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Alert rules in JSON, browser-notifications toggle, language choice</a:t>
            </a:r>
            <a:endParaRPr lang="en-US" sz="1000" dirty="0"/>
          </a:p>
        </p:txBody>
      </p:sp>
      <p:sp>
        <p:nvSpPr>
          <p:cNvPr id="23" name="Shape 21"/>
          <p:cNvSpPr/>
          <p:nvPr/>
        </p:nvSpPr>
        <p:spPr>
          <a:xfrm>
            <a:off x="6355080" y="1371600"/>
            <a:ext cx="5349240" cy="4937760"/>
          </a:xfrm>
          <a:prstGeom prst="rect">
            <a:avLst/>
          </a:prstGeom>
          <a:solidFill>
            <a:srgbClr val="121C3A"/>
          </a:solidFill>
          <a:ln w="9525">
            <a:solidFill>
              <a:srgbClr val="2A3A6E"/>
            </a:solidFill>
            <a:prstDash val="solid"/>
          </a:ln>
        </p:spPr>
        <p:txBody>
          <a:bodyPr/>
          <a:lstStyle/>
          <a:p>
            <a:endParaRPr lang="en-US"/>
          </a:p>
        </p:txBody>
      </p:sp>
      <p:sp>
        <p:nvSpPr>
          <p:cNvPr id="24" name="Shape 22"/>
          <p:cNvSpPr/>
          <p:nvPr/>
        </p:nvSpPr>
        <p:spPr>
          <a:xfrm>
            <a:off x="6355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25" name="Text 23"/>
          <p:cNvSpPr/>
          <p:nvPr/>
        </p:nvSpPr>
        <p:spPr>
          <a:xfrm>
            <a:off x="6583680" y="1554480"/>
            <a:ext cx="5029200" cy="365760"/>
          </a:xfrm>
          <a:prstGeom prst="rect">
            <a:avLst/>
          </a:prstGeom>
          <a:noFill/>
          <a:ln/>
        </p:spPr>
        <p:txBody>
          <a:bodyPr wrap="square" lIns="0" tIns="0" rIns="0" bIns="0" rtlCol="0" anchor="ctr"/>
          <a:lstStyle/>
          <a:p>
            <a:pPr marL="0" indent="0">
              <a:buNone/>
            </a:pPr>
            <a:r>
              <a:rPr lang="en-US" sz="1400" b="1" dirty="0">
                <a:solidFill>
                  <a:srgbClr val="C8F751"/>
                </a:solidFill>
                <a:latin typeface="Consolas" pitchFamily="34" charset="0"/>
                <a:ea typeface="Consolas" pitchFamily="34" charset="-122"/>
                <a:cs typeface="Consolas" pitchFamily="34" charset="-120"/>
              </a:rPr>
              <a:t>crimes  ·  spatial backbone</a:t>
            </a:r>
            <a:endParaRPr lang="en-US" sz="1400" dirty="0"/>
          </a:p>
        </p:txBody>
      </p:sp>
      <p:sp>
        <p:nvSpPr>
          <p:cNvPr id="26" name="Text 24"/>
          <p:cNvSpPr/>
          <p:nvPr/>
        </p:nvSpPr>
        <p:spPr>
          <a:xfrm>
            <a:off x="6583680" y="1874520"/>
            <a:ext cx="5029200" cy="274320"/>
          </a:xfrm>
          <a:prstGeom prst="rect">
            <a:avLst/>
          </a:prstGeom>
          <a:noFill/>
          <a:ln/>
        </p:spPr>
        <p:txBody>
          <a:bodyPr wrap="square" lIns="0" tIns="0" rIns="0" bIns="0" rtlCol="0" anchor="ctr"/>
          <a:lstStyle/>
          <a:p>
            <a:pPr marL="0" indent="0">
              <a:buNone/>
            </a:pPr>
            <a:r>
              <a:rPr lang="en-US" sz="1000" i="1" dirty="0">
                <a:solidFill>
                  <a:srgbClr val="9AA8C7"/>
                </a:solidFill>
                <a:latin typeface="Calibri" pitchFamily="34" charset="0"/>
                <a:ea typeface="Calibri" pitchFamily="34" charset="-122"/>
                <a:cs typeface="Calibri" pitchFamily="34" charset="-120"/>
              </a:rPr>
              <a:t>Every prediction and every alert reads from this table</a:t>
            </a:r>
            <a:endParaRPr lang="en-US" sz="1000" dirty="0"/>
          </a:p>
        </p:txBody>
      </p:sp>
      <p:sp>
        <p:nvSpPr>
          <p:cNvPr id="27" name="Shape 25"/>
          <p:cNvSpPr/>
          <p:nvPr/>
        </p:nvSpPr>
        <p:spPr>
          <a:xfrm>
            <a:off x="6583680" y="2240280"/>
            <a:ext cx="4937760" cy="2331720"/>
          </a:xfrm>
          <a:prstGeom prst="rect">
            <a:avLst/>
          </a:prstGeom>
          <a:solidFill>
            <a:srgbClr val="0A1228"/>
          </a:solidFill>
          <a:ln w="6350">
            <a:solidFill>
              <a:srgbClr val="2A3A6E"/>
            </a:solidFill>
            <a:prstDash val="solid"/>
          </a:ln>
        </p:spPr>
        <p:txBody>
          <a:bodyPr/>
          <a:lstStyle/>
          <a:p>
            <a:endParaRPr lang="en-US"/>
          </a:p>
        </p:txBody>
      </p:sp>
      <p:sp>
        <p:nvSpPr>
          <p:cNvPr id="28" name="Text 26"/>
          <p:cNvSpPr/>
          <p:nvPr/>
        </p:nvSpPr>
        <p:spPr>
          <a:xfrm>
            <a:off x="6675120" y="2331720"/>
            <a:ext cx="4754880" cy="2194560"/>
          </a:xfrm>
          <a:prstGeom prst="rect">
            <a:avLst/>
          </a:prstGeom>
          <a:noFill/>
          <a:ln/>
        </p:spPr>
        <p:txBody>
          <a:bodyPr wrap="square" lIns="0" tIns="0" rIns="0" bIns="0" rtlCol="0" anchor="ctr"/>
          <a:lstStyle/>
          <a:p>
            <a:pPr marL="0" indent="0">
              <a:buNone/>
            </a:pPr>
            <a:r>
              <a:rPr lang="en-US" sz="950" dirty="0">
                <a:solidFill>
                  <a:srgbClr val="F4E9D8"/>
                </a:solidFill>
                <a:latin typeface="Consolas" pitchFamily="34" charset="0"/>
                <a:ea typeface="Consolas" pitchFamily="34" charset="-122"/>
                <a:cs typeface="Consolas" pitchFamily="34" charset="-120"/>
              </a:rPr>
              <a:t>crime_date     </a:t>
            </a:r>
            <a:r>
              <a:rPr lang="en-US" sz="950" dirty="0">
                <a:solidFill>
                  <a:srgbClr val="9AA8C7"/>
                </a:solidFill>
                <a:latin typeface="Consolas" pitchFamily="34" charset="0"/>
                <a:ea typeface="Consolas" pitchFamily="34" charset="-122"/>
                <a:cs typeface="Consolas" pitchFamily="34" charset="-120"/>
              </a:rPr>
              <a:t>→ when it happened</a:t>
            </a:r>
            <a:endParaRPr lang="en-US" sz="950" dirty="0"/>
          </a:p>
          <a:p>
            <a:pPr marL="0" indent="0">
              <a:buNone/>
            </a:pPr>
            <a:r>
              <a:rPr lang="en-US" sz="950" dirty="0">
                <a:solidFill>
                  <a:srgbClr val="F4E9D8"/>
                </a:solidFill>
                <a:latin typeface="Consolas" pitchFamily="34" charset="0"/>
                <a:ea typeface="Consolas" pitchFamily="34" charset="-122"/>
                <a:cs typeface="Consolas" pitchFamily="34" charset="-120"/>
              </a:rPr>
              <a:t>crime_type     </a:t>
            </a:r>
            <a:r>
              <a:rPr lang="en-US" sz="950" dirty="0">
                <a:solidFill>
                  <a:srgbClr val="9AA8C7"/>
                </a:solidFill>
                <a:latin typeface="Consolas" pitchFamily="34" charset="0"/>
                <a:ea typeface="Consolas" pitchFamily="34" charset="-122"/>
                <a:cs typeface="Consolas" pitchFamily="34" charset="-120"/>
              </a:rPr>
              <a:t>→ what happened (e.g. theft)</a:t>
            </a:r>
            <a:endParaRPr lang="en-US" sz="950" dirty="0"/>
          </a:p>
          <a:p>
            <a:pPr marL="0" indent="0">
              <a:buNone/>
            </a:pPr>
            <a:r>
              <a:rPr lang="en-US" sz="950" dirty="0">
                <a:solidFill>
                  <a:srgbClr val="F4E9D8"/>
                </a:solidFill>
                <a:latin typeface="Consolas" pitchFamily="34" charset="0"/>
                <a:ea typeface="Consolas" pitchFamily="34" charset="-122"/>
                <a:cs typeface="Consolas" pitchFamily="34" charset="-120"/>
              </a:rPr>
              <a:t>area_urdu      </a:t>
            </a:r>
            <a:r>
              <a:rPr lang="en-US" sz="950" dirty="0">
                <a:solidFill>
                  <a:srgbClr val="F5A524"/>
                </a:solidFill>
                <a:latin typeface="Consolas" pitchFamily="34" charset="0"/>
                <a:ea typeface="Consolas" pitchFamily="34" charset="-122"/>
                <a:cs typeface="Consolas" pitchFamily="34" charset="-120"/>
              </a:rPr>
              <a:t>→ original Urdu place name</a:t>
            </a:r>
            <a:endParaRPr lang="en-US" sz="950" dirty="0"/>
          </a:p>
          <a:p>
            <a:pPr marL="0" indent="0">
              <a:buNone/>
            </a:pPr>
            <a:r>
              <a:rPr lang="en-US" sz="950" dirty="0">
                <a:solidFill>
                  <a:srgbClr val="F4E9D8"/>
                </a:solidFill>
                <a:latin typeface="Consolas" pitchFamily="34" charset="0"/>
                <a:ea typeface="Consolas" pitchFamily="34" charset="-122"/>
                <a:cs typeface="Consolas" pitchFamily="34" charset="-120"/>
              </a:rPr>
              <a:t>area_translit  </a:t>
            </a:r>
            <a:r>
              <a:rPr lang="en-US" sz="950" dirty="0">
                <a:solidFill>
                  <a:srgbClr val="9AA8C7"/>
                </a:solidFill>
                <a:latin typeface="Consolas" pitchFamily="34" charset="0"/>
                <a:ea typeface="Consolas" pitchFamily="34" charset="-122"/>
                <a:cs typeface="Consolas" pitchFamily="34" charset="-120"/>
              </a:rPr>
              <a:t>→ Roman-Urdu version</a:t>
            </a:r>
            <a:endParaRPr lang="en-US" sz="950" dirty="0"/>
          </a:p>
          <a:p>
            <a:pPr marL="0" indent="0">
              <a:buNone/>
            </a:pPr>
            <a:r>
              <a:rPr lang="en-US" sz="950" dirty="0">
                <a:solidFill>
                  <a:srgbClr val="F4E9D8"/>
                </a:solidFill>
                <a:latin typeface="Consolas" pitchFamily="34" charset="0"/>
                <a:ea typeface="Consolas" pitchFamily="34" charset="-122"/>
                <a:cs typeface="Consolas" pitchFamily="34" charset="-120"/>
              </a:rPr>
              <a:t>latitude       </a:t>
            </a:r>
            <a:r>
              <a:rPr lang="en-US" sz="950" dirty="0">
                <a:solidFill>
                  <a:srgbClr val="9AA8C7"/>
                </a:solidFill>
                <a:latin typeface="Consolas" pitchFamily="34" charset="0"/>
                <a:ea typeface="Consolas" pitchFamily="34" charset="-122"/>
                <a:cs typeface="Consolas" pitchFamily="34" charset="-120"/>
              </a:rPr>
              <a:t>→ exact location</a:t>
            </a:r>
            <a:endParaRPr lang="en-US" sz="950" dirty="0"/>
          </a:p>
          <a:p>
            <a:pPr marL="0" indent="0">
              <a:buNone/>
            </a:pPr>
            <a:r>
              <a:rPr lang="en-US" sz="950" dirty="0">
                <a:solidFill>
                  <a:srgbClr val="F4E9D8"/>
                </a:solidFill>
                <a:latin typeface="Consolas" pitchFamily="34" charset="0"/>
                <a:ea typeface="Consolas" pitchFamily="34" charset="-122"/>
                <a:cs typeface="Consolas" pitchFamily="34" charset="-120"/>
              </a:rPr>
              <a:t>longitude      </a:t>
            </a:r>
            <a:r>
              <a:rPr lang="en-US" sz="950" dirty="0">
                <a:solidFill>
                  <a:srgbClr val="9AA8C7"/>
                </a:solidFill>
                <a:latin typeface="Consolas" pitchFamily="34" charset="0"/>
                <a:ea typeface="Consolas" pitchFamily="34" charset="-122"/>
                <a:cs typeface="Consolas" pitchFamily="34" charset="-120"/>
              </a:rPr>
              <a:t>→ exact location</a:t>
            </a:r>
            <a:endParaRPr lang="en-US" sz="950" dirty="0"/>
          </a:p>
          <a:p>
            <a:pPr marL="0" indent="0">
              <a:buNone/>
            </a:pPr>
            <a:r>
              <a:rPr lang="en-US" sz="950" dirty="0">
                <a:solidFill>
                  <a:srgbClr val="F4E9D8"/>
                </a:solidFill>
                <a:latin typeface="Consolas" pitchFamily="34" charset="0"/>
                <a:ea typeface="Consolas" pitchFamily="34" charset="-122"/>
                <a:cs typeface="Consolas" pitchFamily="34" charset="-120"/>
              </a:rPr>
              <a:t>risk_level     </a:t>
            </a:r>
            <a:r>
              <a:rPr lang="en-US" sz="950" dirty="0">
                <a:solidFill>
                  <a:srgbClr val="9AA8C7"/>
                </a:solidFill>
                <a:latin typeface="Consolas" pitchFamily="34" charset="0"/>
                <a:ea typeface="Consolas" pitchFamily="34" charset="-122"/>
                <a:cs typeface="Consolas" pitchFamily="34" charset="-120"/>
              </a:rPr>
              <a:t>→ Low / Med / High</a:t>
            </a:r>
            <a:endParaRPr lang="en-US" sz="950" dirty="0"/>
          </a:p>
          <a:p>
            <a:pPr marL="0" indent="0">
              <a:buNone/>
            </a:pPr>
            <a:r>
              <a:rPr lang="en-US" sz="950" dirty="0">
                <a:solidFill>
                  <a:srgbClr val="F4E9D8"/>
                </a:solidFill>
                <a:latin typeface="Consolas" pitchFamily="34" charset="0"/>
                <a:ea typeface="Consolas" pitchFamily="34" charset="-122"/>
                <a:cs typeface="Consolas" pitchFamily="34" charset="-120"/>
              </a:rPr>
              <a:t>source         </a:t>
            </a:r>
            <a:r>
              <a:rPr lang="en-US" sz="950" dirty="0">
                <a:solidFill>
                  <a:srgbClr val="9AA8C7"/>
                </a:solidFill>
                <a:latin typeface="Consolas" pitchFamily="34" charset="0"/>
                <a:ea typeface="Consolas" pitchFamily="34" charset="-122"/>
                <a:cs typeface="Consolas" pitchFamily="34" charset="-120"/>
              </a:rPr>
              <a:t>→ admin / public / predicted</a:t>
            </a:r>
            <a:endParaRPr lang="en-US" sz="950" dirty="0"/>
          </a:p>
          <a:p>
            <a:pPr marL="0" indent="0">
              <a:buNone/>
            </a:pPr>
            <a:r>
              <a:rPr lang="en-US" sz="950" dirty="0">
                <a:solidFill>
                  <a:srgbClr val="F4E9D8"/>
                </a:solidFill>
                <a:latin typeface="Consolas" pitchFamily="34" charset="0"/>
                <a:ea typeface="Consolas" pitchFamily="34" charset="-122"/>
                <a:cs typeface="Consolas" pitchFamily="34" charset="-120"/>
              </a:rPr>
              <a:t>status         </a:t>
            </a:r>
            <a:r>
              <a:rPr lang="en-US" sz="950" dirty="0">
                <a:solidFill>
                  <a:srgbClr val="9AA8C7"/>
                </a:solidFill>
                <a:latin typeface="Consolas" pitchFamily="34" charset="0"/>
                <a:ea typeface="Consolas" pitchFamily="34" charset="-122"/>
                <a:cs typeface="Consolas" pitchFamily="34" charset="-120"/>
              </a:rPr>
              <a:t>→ verified / unverified</a:t>
            </a:r>
            <a:endParaRPr lang="en-US" sz="950" dirty="0"/>
          </a:p>
          <a:p>
            <a:pPr marL="0" indent="0">
              <a:buNone/>
            </a:pPr>
            <a:r>
              <a:rPr lang="en-US" sz="950" dirty="0">
                <a:solidFill>
                  <a:srgbClr val="F4E9D8"/>
                </a:solidFill>
                <a:latin typeface="Consolas" pitchFamily="34" charset="0"/>
                <a:ea typeface="Consolas" pitchFamily="34" charset="-122"/>
                <a:cs typeface="Consolas" pitchFamily="34" charset="-120"/>
              </a:rPr>
              <a:t>sections_text  </a:t>
            </a:r>
            <a:r>
              <a:rPr lang="en-US" sz="950" dirty="0">
                <a:solidFill>
                  <a:srgbClr val="F5A524"/>
                </a:solidFill>
                <a:latin typeface="Consolas" pitchFamily="34" charset="0"/>
                <a:ea typeface="Consolas" pitchFamily="34" charset="-122"/>
                <a:cs typeface="Consolas" pitchFamily="34" charset="-120"/>
              </a:rPr>
              <a:t>→ PPC sections cited in FIR</a:t>
            </a:r>
            <a:endParaRPr lang="en-US" sz="950" dirty="0"/>
          </a:p>
        </p:txBody>
      </p:sp>
      <p:sp>
        <p:nvSpPr>
          <p:cNvPr id="29" name="Shape 27"/>
          <p:cNvSpPr/>
          <p:nvPr/>
        </p:nvSpPr>
        <p:spPr>
          <a:xfrm>
            <a:off x="6583680" y="4754880"/>
            <a:ext cx="4937760" cy="1463040"/>
          </a:xfrm>
          <a:prstGeom prst="rect">
            <a:avLst/>
          </a:prstGeom>
          <a:solidFill>
            <a:srgbClr val="1B2752"/>
          </a:solidFill>
          <a:ln w="6350">
            <a:solidFill>
              <a:srgbClr val="2A3A6E"/>
            </a:solidFill>
            <a:prstDash val="solid"/>
          </a:ln>
        </p:spPr>
        <p:txBody>
          <a:bodyPr/>
          <a:lstStyle/>
          <a:p>
            <a:endParaRPr lang="en-US"/>
          </a:p>
        </p:txBody>
      </p:sp>
      <p:sp>
        <p:nvSpPr>
          <p:cNvPr id="30" name="Text 28"/>
          <p:cNvSpPr/>
          <p:nvPr/>
        </p:nvSpPr>
        <p:spPr>
          <a:xfrm>
            <a:off x="6720840" y="4846320"/>
            <a:ext cx="4663440" cy="292608"/>
          </a:xfrm>
          <a:prstGeom prst="rect">
            <a:avLst/>
          </a:prstGeom>
          <a:noFill/>
          <a:ln/>
        </p:spPr>
        <p:txBody>
          <a:bodyPr wrap="square" lIns="0" tIns="0" rIns="0" bIns="0" rtlCol="0" anchor="ctr"/>
          <a:lstStyle/>
          <a:p>
            <a:pPr marL="0" indent="0">
              <a:buNone/>
            </a:pPr>
            <a:r>
              <a:rPr lang="en-US" sz="1100" b="1" dirty="0">
                <a:solidFill>
                  <a:srgbClr val="C8F751"/>
                </a:solidFill>
                <a:latin typeface="Calibri" pitchFamily="34" charset="0"/>
                <a:ea typeface="Calibri" pitchFamily="34" charset="-122"/>
                <a:cs typeface="Calibri" pitchFamily="34" charset="-120"/>
              </a:rPr>
              <a:t>Why we compute distances ourselves</a:t>
            </a:r>
            <a:endParaRPr lang="en-US" sz="1100" dirty="0"/>
          </a:p>
        </p:txBody>
      </p:sp>
      <p:sp>
        <p:nvSpPr>
          <p:cNvPr id="31" name="Text 29"/>
          <p:cNvSpPr/>
          <p:nvPr/>
        </p:nvSpPr>
        <p:spPr>
          <a:xfrm>
            <a:off x="6720840" y="5138928"/>
            <a:ext cx="4663440" cy="105156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TiDB Cloud doesn't expose MySQL's built-in spatial functions. So instead of using ST_Distance_Sphere(), we calculate distance in Python using the Haversine formula — the standard great-circle distance equation — with Earth's radius set to 6,371 km.</a:t>
            </a:r>
            <a:endParaRPr lang="en-US" sz="1000" dirty="0"/>
          </a:p>
        </p:txBody>
      </p:sp>
      <p:sp>
        <p:nvSpPr>
          <p:cNvPr id="32" name="Text 30"/>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33" name="Text 31"/>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10 / 28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API SURFACE</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128 endpoints organised across 11 routers — total 13,776 LOC</a:t>
            </a:r>
            <a:endParaRPr lang="en-US" sz="1200" dirty="0"/>
          </a:p>
        </p:txBody>
      </p:sp>
      <p:sp>
        <p:nvSpPr>
          <p:cNvPr id="5" name="Shape 3"/>
          <p:cNvSpPr/>
          <p:nvPr/>
        </p:nvSpPr>
        <p:spPr>
          <a:xfrm>
            <a:off x="640080" y="1371600"/>
            <a:ext cx="11064240" cy="41148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1148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417320"/>
            <a:ext cx="2743200" cy="320040"/>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ROUTER FILE</a:t>
            </a:r>
            <a:endParaRPr lang="en-US" sz="1000" dirty="0"/>
          </a:p>
        </p:txBody>
      </p:sp>
      <p:sp>
        <p:nvSpPr>
          <p:cNvPr id="8" name="Text 6"/>
          <p:cNvSpPr/>
          <p:nvPr/>
        </p:nvSpPr>
        <p:spPr>
          <a:xfrm>
            <a:off x="3657600" y="1417320"/>
            <a:ext cx="1463040" cy="320040"/>
          </a:xfrm>
          <a:prstGeom prst="rect">
            <a:avLst/>
          </a:prstGeom>
          <a:noFill/>
          <a:ln/>
        </p:spPr>
        <p:txBody>
          <a:bodyPr wrap="square" lIns="0" tIns="0" rIns="0" bIns="0" rtlCol="0" anchor="ctr"/>
          <a:lstStyle/>
          <a:p>
            <a:pPr marL="0" indent="0" algn="ctr">
              <a:buNone/>
            </a:pPr>
            <a:r>
              <a:rPr lang="en-US" sz="1000" b="1" kern="0" spc="300" dirty="0">
                <a:solidFill>
                  <a:srgbClr val="C8F751"/>
                </a:solidFill>
                <a:latin typeface="Calibri" pitchFamily="34" charset="0"/>
                <a:ea typeface="Calibri" pitchFamily="34" charset="-122"/>
                <a:cs typeface="Calibri" pitchFamily="34" charset="-120"/>
              </a:rPr>
              <a:t>ENDPOINTS</a:t>
            </a:r>
            <a:endParaRPr lang="en-US" sz="1000" dirty="0"/>
          </a:p>
        </p:txBody>
      </p:sp>
      <p:sp>
        <p:nvSpPr>
          <p:cNvPr id="9" name="Text 7"/>
          <p:cNvSpPr/>
          <p:nvPr/>
        </p:nvSpPr>
        <p:spPr>
          <a:xfrm>
            <a:off x="5166360" y="1417320"/>
            <a:ext cx="1463040" cy="320040"/>
          </a:xfrm>
          <a:prstGeom prst="rect">
            <a:avLst/>
          </a:prstGeom>
          <a:noFill/>
          <a:ln/>
        </p:spPr>
        <p:txBody>
          <a:bodyPr wrap="square" lIns="0" tIns="0" rIns="0" bIns="0" rtlCol="0" anchor="ctr"/>
          <a:lstStyle/>
          <a:p>
            <a:pPr marL="0" indent="0" algn="ctr">
              <a:buNone/>
            </a:pPr>
            <a:r>
              <a:rPr lang="en-US" sz="1000" b="1" kern="0" spc="300" dirty="0">
                <a:solidFill>
                  <a:srgbClr val="C8F751"/>
                </a:solidFill>
                <a:latin typeface="Calibri" pitchFamily="34" charset="0"/>
                <a:ea typeface="Calibri" pitchFamily="34" charset="-122"/>
                <a:cs typeface="Calibri" pitchFamily="34" charset="-120"/>
              </a:rPr>
              <a:t>LINES</a:t>
            </a:r>
            <a:endParaRPr lang="en-US" sz="1000" dirty="0"/>
          </a:p>
        </p:txBody>
      </p:sp>
      <p:sp>
        <p:nvSpPr>
          <p:cNvPr id="10" name="Text 8"/>
          <p:cNvSpPr/>
          <p:nvPr/>
        </p:nvSpPr>
        <p:spPr>
          <a:xfrm>
            <a:off x="6766560" y="1417320"/>
            <a:ext cx="4846320" cy="320040"/>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WHAT IT DOES</a:t>
            </a:r>
            <a:endParaRPr lang="en-US" sz="1000" dirty="0"/>
          </a:p>
        </p:txBody>
      </p:sp>
      <p:sp>
        <p:nvSpPr>
          <p:cNvPr id="11" name="Shape 9"/>
          <p:cNvSpPr/>
          <p:nvPr/>
        </p:nvSpPr>
        <p:spPr>
          <a:xfrm>
            <a:off x="640080" y="1874520"/>
            <a:ext cx="11064240" cy="374904"/>
          </a:xfrm>
          <a:prstGeom prst="rect">
            <a:avLst/>
          </a:prstGeom>
          <a:solidFill>
            <a:srgbClr val="121C3A"/>
          </a:solidFill>
          <a:ln w="12700">
            <a:solidFill>
              <a:srgbClr val="121C3A"/>
            </a:solidFill>
            <a:prstDash val="solid"/>
          </a:ln>
        </p:spPr>
        <p:txBody>
          <a:bodyPr/>
          <a:lstStyle/>
          <a:p>
            <a:endParaRPr lang="en-US"/>
          </a:p>
        </p:txBody>
      </p:sp>
      <p:sp>
        <p:nvSpPr>
          <p:cNvPr id="12" name="Text 10"/>
          <p:cNvSpPr/>
          <p:nvPr/>
        </p:nvSpPr>
        <p:spPr>
          <a:xfrm>
            <a:off x="868680" y="1911096"/>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auth.py</a:t>
            </a:r>
            <a:endParaRPr lang="en-US" sz="1100" dirty="0"/>
          </a:p>
        </p:txBody>
      </p:sp>
      <p:sp>
        <p:nvSpPr>
          <p:cNvPr id="13" name="Text 11"/>
          <p:cNvSpPr/>
          <p:nvPr/>
        </p:nvSpPr>
        <p:spPr>
          <a:xfrm>
            <a:off x="3657600" y="1911096"/>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26</a:t>
            </a:r>
            <a:endParaRPr lang="en-US" sz="1100" dirty="0"/>
          </a:p>
        </p:txBody>
      </p:sp>
      <p:sp>
        <p:nvSpPr>
          <p:cNvPr id="14" name="Text 12"/>
          <p:cNvSpPr/>
          <p:nvPr/>
        </p:nvSpPr>
        <p:spPr>
          <a:xfrm>
            <a:off x="5166360" y="1911096"/>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1,636</a:t>
            </a:r>
            <a:endParaRPr lang="en-US" sz="1100" dirty="0"/>
          </a:p>
        </p:txBody>
      </p:sp>
      <p:sp>
        <p:nvSpPr>
          <p:cNvPr id="15" name="Text 13"/>
          <p:cNvSpPr/>
          <p:nvPr/>
        </p:nvSpPr>
        <p:spPr>
          <a:xfrm>
            <a:off x="6766560" y="1911096"/>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Login, registration, OTP, 2FA, token refresh, password reset</a:t>
            </a:r>
            <a:endParaRPr lang="en-US" sz="1000" dirty="0"/>
          </a:p>
        </p:txBody>
      </p:sp>
      <p:sp>
        <p:nvSpPr>
          <p:cNvPr id="16" name="Text 14"/>
          <p:cNvSpPr/>
          <p:nvPr/>
        </p:nvSpPr>
        <p:spPr>
          <a:xfrm>
            <a:off x="868680" y="2286000"/>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admin.py</a:t>
            </a:r>
            <a:endParaRPr lang="en-US" sz="1100" dirty="0"/>
          </a:p>
        </p:txBody>
      </p:sp>
      <p:sp>
        <p:nvSpPr>
          <p:cNvPr id="17" name="Text 15"/>
          <p:cNvSpPr/>
          <p:nvPr/>
        </p:nvSpPr>
        <p:spPr>
          <a:xfrm>
            <a:off x="3657600" y="2286000"/>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23</a:t>
            </a:r>
            <a:endParaRPr lang="en-US" sz="1100" dirty="0"/>
          </a:p>
        </p:txBody>
      </p:sp>
      <p:sp>
        <p:nvSpPr>
          <p:cNvPr id="18" name="Text 16"/>
          <p:cNvSpPr/>
          <p:nvPr/>
        </p:nvSpPr>
        <p:spPr>
          <a:xfrm>
            <a:off x="5166360" y="2286000"/>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1,827</a:t>
            </a:r>
            <a:endParaRPr lang="en-US" sz="1100" dirty="0"/>
          </a:p>
        </p:txBody>
      </p:sp>
      <p:sp>
        <p:nvSpPr>
          <p:cNvPr id="19" name="Text 17"/>
          <p:cNvSpPr/>
          <p:nvPr/>
        </p:nvSpPr>
        <p:spPr>
          <a:xfrm>
            <a:off x="6766560" y="2286000"/>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User management, approval workflows, admin dashboards</a:t>
            </a:r>
            <a:endParaRPr lang="en-US" sz="1000" dirty="0"/>
          </a:p>
        </p:txBody>
      </p:sp>
      <p:sp>
        <p:nvSpPr>
          <p:cNvPr id="20" name="Shape 18"/>
          <p:cNvSpPr/>
          <p:nvPr/>
        </p:nvSpPr>
        <p:spPr>
          <a:xfrm>
            <a:off x="640080" y="2624328"/>
            <a:ext cx="11064240" cy="374904"/>
          </a:xfrm>
          <a:prstGeom prst="rect">
            <a:avLst/>
          </a:prstGeom>
          <a:solidFill>
            <a:srgbClr val="121C3A"/>
          </a:solidFill>
          <a:ln w="12700">
            <a:solidFill>
              <a:srgbClr val="121C3A"/>
            </a:solidFill>
            <a:prstDash val="solid"/>
          </a:ln>
        </p:spPr>
        <p:txBody>
          <a:bodyPr/>
          <a:lstStyle/>
          <a:p>
            <a:endParaRPr lang="en-US"/>
          </a:p>
        </p:txBody>
      </p:sp>
      <p:sp>
        <p:nvSpPr>
          <p:cNvPr id="21" name="Text 19"/>
          <p:cNvSpPr/>
          <p:nvPr/>
        </p:nvSpPr>
        <p:spPr>
          <a:xfrm>
            <a:off x="868680" y="2660904"/>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alerts.py</a:t>
            </a:r>
            <a:endParaRPr lang="en-US" sz="1100" dirty="0"/>
          </a:p>
        </p:txBody>
      </p:sp>
      <p:sp>
        <p:nvSpPr>
          <p:cNvPr id="22" name="Text 20"/>
          <p:cNvSpPr/>
          <p:nvPr/>
        </p:nvSpPr>
        <p:spPr>
          <a:xfrm>
            <a:off x="3657600" y="2660904"/>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17</a:t>
            </a:r>
            <a:endParaRPr lang="en-US" sz="1100" dirty="0"/>
          </a:p>
        </p:txBody>
      </p:sp>
      <p:sp>
        <p:nvSpPr>
          <p:cNvPr id="23" name="Text 21"/>
          <p:cNvSpPr/>
          <p:nvPr/>
        </p:nvSpPr>
        <p:spPr>
          <a:xfrm>
            <a:off x="5166360" y="2660904"/>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2,967</a:t>
            </a:r>
            <a:endParaRPr lang="en-US" sz="1100" dirty="0"/>
          </a:p>
        </p:txBody>
      </p:sp>
      <p:sp>
        <p:nvSpPr>
          <p:cNvPr id="24" name="Text 22"/>
          <p:cNvSpPr/>
          <p:nvPr/>
        </p:nvSpPr>
        <p:spPr>
          <a:xfrm>
            <a:off x="6766560" y="2660904"/>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Web-push subscribe, alert dispatch, cooldown logic</a:t>
            </a:r>
            <a:endParaRPr lang="en-US" sz="1000" dirty="0"/>
          </a:p>
        </p:txBody>
      </p:sp>
      <p:sp>
        <p:nvSpPr>
          <p:cNvPr id="25" name="Text 23"/>
          <p:cNvSpPr/>
          <p:nvPr/>
        </p:nvSpPr>
        <p:spPr>
          <a:xfrm>
            <a:off x="868680" y="3035808"/>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crimes.py</a:t>
            </a:r>
            <a:endParaRPr lang="en-US" sz="1100" dirty="0"/>
          </a:p>
        </p:txBody>
      </p:sp>
      <p:sp>
        <p:nvSpPr>
          <p:cNvPr id="26" name="Text 24"/>
          <p:cNvSpPr/>
          <p:nvPr/>
        </p:nvSpPr>
        <p:spPr>
          <a:xfrm>
            <a:off x="3657600" y="3035808"/>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17</a:t>
            </a:r>
            <a:endParaRPr lang="en-US" sz="1100" dirty="0"/>
          </a:p>
        </p:txBody>
      </p:sp>
      <p:sp>
        <p:nvSpPr>
          <p:cNvPr id="27" name="Text 25"/>
          <p:cNvSpPr/>
          <p:nvPr/>
        </p:nvSpPr>
        <p:spPr>
          <a:xfrm>
            <a:off x="5166360" y="3035808"/>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3,398</a:t>
            </a:r>
            <a:endParaRPr lang="en-US" sz="1100" dirty="0"/>
          </a:p>
        </p:txBody>
      </p:sp>
      <p:sp>
        <p:nvSpPr>
          <p:cNvPr id="28" name="Text 26"/>
          <p:cNvSpPr/>
          <p:nvPr/>
        </p:nvSpPr>
        <p:spPr>
          <a:xfrm>
            <a:off x="6766560" y="3035808"/>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Crime CRUD, prediction endpoints, heatmap data</a:t>
            </a:r>
            <a:endParaRPr lang="en-US" sz="1000" dirty="0"/>
          </a:p>
        </p:txBody>
      </p:sp>
      <p:sp>
        <p:nvSpPr>
          <p:cNvPr id="29" name="Shape 27"/>
          <p:cNvSpPr/>
          <p:nvPr/>
        </p:nvSpPr>
        <p:spPr>
          <a:xfrm>
            <a:off x="640080" y="3374136"/>
            <a:ext cx="11064240" cy="374904"/>
          </a:xfrm>
          <a:prstGeom prst="rect">
            <a:avLst/>
          </a:prstGeom>
          <a:solidFill>
            <a:srgbClr val="121C3A"/>
          </a:solidFill>
          <a:ln w="12700">
            <a:solidFill>
              <a:srgbClr val="121C3A"/>
            </a:solidFill>
            <a:prstDash val="solid"/>
          </a:ln>
        </p:spPr>
        <p:txBody>
          <a:bodyPr/>
          <a:lstStyle/>
          <a:p>
            <a:endParaRPr lang="en-US"/>
          </a:p>
        </p:txBody>
      </p:sp>
      <p:sp>
        <p:nvSpPr>
          <p:cNvPr id="30" name="Text 28"/>
          <p:cNvSpPr/>
          <p:nvPr/>
        </p:nvSpPr>
        <p:spPr>
          <a:xfrm>
            <a:off x="868680" y="3410712"/>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law_sections.py</a:t>
            </a:r>
            <a:endParaRPr lang="en-US" sz="1100" dirty="0"/>
          </a:p>
        </p:txBody>
      </p:sp>
      <p:sp>
        <p:nvSpPr>
          <p:cNvPr id="31" name="Text 29"/>
          <p:cNvSpPr/>
          <p:nvPr/>
        </p:nvSpPr>
        <p:spPr>
          <a:xfrm>
            <a:off x="3657600" y="3410712"/>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11</a:t>
            </a:r>
            <a:endParaRPr lang="en-US" sz="1100" dirty="0"/>
          </a:p>
        </p:txBody>
      </p:sp>
      <p:sp>
        <p:nvSpPr>
          <p:cNvPr id="32" name="Text 30"/>
          <p:cNvSpPr/>
          <p:nvPr/>
        </p:nvSpPr>
        <p:spPr>
          <a:xfrm>
            <a:off x="5166360" y="3410712"/>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565</a:t>
            </a:r>
            <a:endParaRPr lang="en-US" sz="1100" dirty="0"/>
          </a:p>
        </p:txBody>
      </p:sp>
      <p:sp>
        <p:nvSpPr>
          <p:cNvPr id="33" name="Text 31"/>
          <p:cNvSpPr/>
          <p:nvPr/>
        </p:nvSpPr>
        <p:spPr>
          <a:xfrm>
            <a:off x="6766560" y="3410712"/>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Pakistan Penal Code lookup, AI section verification</a:t>
            </a:r>
            <a:endParaRPr lang="en-US" sz="1000" dirty="0"/>
          </a:p>
        </p:txBody>
      </p:sp>
      <p:sp>
        <p:nvSpPr>
          <p:cNvPr id="34" name="Text 32"/>
          <p:cNvSpPr/>
          <p:nvPr/>
        </p:nvSpPr>
        <p:spPr>
          <a:xfrm>
            <a:off x="868680" y="3785616"/>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location.py</a:t>
            </a:r>
            <a:endParaRPr lang="en-US" sz="1100" dirty="0"/>
          </a:p>
        </p:txBody>
      </p:sp>
      <p:sp>
        <p:nvSpPr>
          <p:cNvPr id="35" name="Text 33"/>
          <p:cNvSpPr/>
          <p:nvPr/>
        </p:nvSpPr>
        <p:spPr>
          <a:xfrm>
            <a:off x="3657600" y="3785616"/>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10</a:t>
            </a:r>
            <a:endParaRPr lang="en-US" sz="1100" dirty="0"/>
          </a:p>
        </p:txBody>
      </p:sp>
      <p:sp>
        <p:nvSpPr>
          <p:cNvPr id="36" name="Text 34"/>
          <p:cNvSpPr/>
          <p:nvPr/>
        </p:nvSpPr>
        <p:spPr>
          <a:xfrm>
            <a:off x="5166360" y="3785616"/>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980</a:t>
            </a:r>
            <a:endParaRPr lang="en-US" sz="1100" dirty="0"/>
          </a:p>
        </p:txBody>
      </p:sp>
      <p:sp>
        <p:nvSpPr>
          <p:cNvPr id="37" name="Text 35"/>
          <p:cNvSpPr/>
          <p:nvPr/>
        </p:nvSpPr>
        <p:spPr>
          <a:xfrm>
            <a:off x="6766560" y="3785616"/>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Live GPS updates, location history, geofences</a:t>
            </a:r>
            <a:endParaRPr lang="en-US" sz="1000" dirty="0"/>
          </a:p>
        </p:txBody>
      </p:sp>
      <p:sp>
        <p:nvSpPr>
          <p:cNvPr id="38" name="Shape 36"/>
          <p:cNvSpPr/>
          <p:nvPr/>
        </p:nvSpPr>
        <p:spPr>
          <a:xfrm>
            <a:off x="640080" y="4123944"/>
            <a:ext cx="11064240" cy="374904"/>
          </a:xfrm>
          <a:prstGeom prst="rect">
            <a:avLst/>
          </a:prstGeom>
          <a:solidFill>
            <a:srgbClr val="121C3A"/>
          </a:solidFill>
          <a:ln w="12700">
            <a:solidFill>
              <a:srgbClr val="121C3A"/>
            </a:solidFill>
            <a:prstDash val="solid"/>
          </a:ln>
        </p:spPr>
        <p:txBody>
          <a:bodyPr/>
          <a:lstStyle/>
          <a:p>
            <a:endParaRPr lang="en-US"/>
          </a:p>
        </p:txBody>
      </p:sp>
      <p:sp>
        <p:nvSpPr>
          <p:cNvPr id="39" name="Text 37"/>
          <p:cNvSpPr/>
          <p:nvPr/>
        </p:nvSpPr>
        <p:spPr>
          <a:xfrm>
            <a:off x="868680" y="4160520"/>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admin_reports.py</a:t>
            </a:r>
            <a:endParaRPr lang="en-US" sz="1100" dirty="0"/>
          </a:p>
        </p:txBody>
      </p:sp>
      <p:sp>
        <p:nvSpPr>
          <p:cNvPr id="40" name="Text 38"/>
          <p:cNvSpPr/>
          <p:nvPr/>
        </p:nvSpPr>
        <p:spPr>
          <a:xfrm>
            <a:off x="3657600" y="4160520"/>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8</a:t>
            </a:r>
            <a:endParaRPr lang="en-US" sz="1100" dirty="0"/>
          </a:p>
        </p:txBody>
      </p:sp>
      <p:sp>
        <p:nvSpPr>
          <p:cNvPr id="41" name="Text 39"/>
          <p:cNvSpPr/>
          <p:nvPr/>
        </p:nvSpPr>
        <p:spPr>
          <a:xfrm>
            <a:off x="5166360" y="4160520"/>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788</a:t>
            </a:r>
            <a:endParaRPr lang="en-US" sz="1100" dirty="0"/>
          </a:p>
        </p:txBody>
      </p:sp>
      <p:sp>
        <p:nvSpPr>
          <p:cNvPr id="42" name="Text 40"/>
          <p:cNvSpPr/>
          <p:nvPr/>
        </p:nvSpPr>
        <p:spPr>
          <a:xfrm>
            <a:off x="6766560" y="4160520"/>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Scheduled and on-demand admin reports</a:t>
            </a:r>
            <a:endParaRPr lang="en-US" sz="1000" dirty="0"/>
          </a:p>
        </p:txBody>
      </p:sp>
      <p:sp>
        <p:nvSpPr>
          <p:cNvPr id="43" name="Text 41"/>
          <p:cNvSpPr/>
          <p:nvPr/>
        </p:nvSpPr>
        <p:spPr>
          <a:xfrm>
            <a:off x="868680" y="4535424"/>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emergency.py</a:t>
            </a:r>
            <a:endParaRPr lang="en-US" sz="1100" dirty="0"/>
          </a:p>
        </p:txBody>
      </p:sp>
      <p:sp>
        <p:nvSpPr>
          <p:cNvPr id="44" name="Text 42"/>
          <p:cNvSpPr/>
          <p:nvPr/>
        </p:nvSpPr>
        <p:spPr>
          <a:xfrm>
            <a:off x="3657600" y="4535424"/>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5</a:t>
            </a:r>
            <a:endParaRPr lang="en-US" sz="1100" dirty="0"/>
          </a:p>
        </p:txBody>
      </p:sp>
      <p:sp>
        <p:nvSpPr>
          <p:cNvPr id="45" name="Text 43"/>
          <p:cNvSpPr/>
          <p:nvPr/>
        </p:nvSpPr>
        <p:spPr>
          <a:xfrm>
            <a:off x="5166360" y="4535424"/>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363</a:t>
            </a:r>
            <a:endParaRPr lang="en-US" sz="1100" dirty="0"/>
          </a:p>
        </p:txBody>
      </p:sp>
      <p:sp>
        <p:nvSpPr>
          <p:cNvPr id="46" name="Text 44"/>
          <p:cNvSpPr/>
          <p:nvPr/>
        </p:nvSpPr>
        <p:spPr>
          <a:xfrm>
            <a:off x="6766560" y="4535424"/>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SOS button, patrol-request submissions</a:t>
            </a:r>
            <a:endParaRPr lang="en-US" sz="1000" dirty="0"/>
          </a:p>
        </p:txBody>
      </p:sp>
      <p:sp>
        <p:nvSpPr>
          <p:cNvPr id="47" name="Shape 45"/>
          <p:cNvSpPr/>
          <p:nvPr/>
        </p:nvSpPr>
        <p:spPr>
          <a:xfrm>
            <a:off x="640080" y="4873752"/>
            <a:ext cx="11064240" cy="374904"/>
          </a:xfrm>
          <a:prstGeom prst="rect">
            <a:avLst/>
          </a:prstGeom>
          <a:solidFill>
            <a:srgbClr val="121C3A"/>
          </a:solidFill>
          <a:ln w="12700">
            <a:solidFill>
              <a:srgbClr val="121C3A"/>
            </a:solidFill>
            <a:prstDash val="solid"/>
          </a:ln>
        </p:spPr>
        <p:txBody>
          <a:bodyPr/>
          <a:lstStyle/>
          <a:p>
            <a:endParaRPr lang="en-US"/>
          </a:p>
        </p:txBody>
      </p:sp>
      <p:sp>
        <p:nvSpPr>
          <p:cNvPr id="48" name="Text 46"/>
          <p:cNvSpPr/>
          <p:nvPr/>
        </p:nvSpPr>
        <p:spPr>
          <a:xfrm>
            <a:off x="868680" y="4910328"/>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user_profile.py</a:t>
            </a:r>
            <a:endParaRPr lang="en-US" sz="1100" dirty="0"/>
          </a:p>
        </p:txBody>
      </p:sp>
      <p:sp>
        <p:nvSpPr>
          <p:cNvPr id="49" name="Text 47"/>
          <p:cNvSpPr/>
          <p:nvPr/>
        </p:nvSpPr>
        <p:spPr>
          <a:xfrm>
            <a:off x="3657600" y="4910328"/>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4</a:t>
            </a:r>
            <a:endParaRPr lang="en-US" sz="1100" dirty="0"/>
          </a:p>
        </p:txBody>
      </p:sp>
      <p:sp>
        <p:nvSpPr>
          <p:cNvPr id="50" name="Text 48"/>
          <p:cNvSpPr/>
          <p:nvPr/>
        </p:nvSpPr>
        <p:spPr>
          <a:xfrm>
            <a:off x="5166360" y="4910328"/>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320</a:t>
            </a:r>
            <a:endParaRPr lang="en-US" sz="1100" dirty="0"/>
          </a:p>
        </p:txBody>
      </p:sp>
      <p:sp>
        <p:nvSpPr>
          <p:cNvPr id="51" name="Text 49"/>
          <p:cNvSpPr/>
          <p:nvPr/>
        </p:nvSpPr>
        <p:spPr>
          <a:xfrm>
            <a:off x="6766560" y="4910328"/>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Profile photo upload, user preferences</a:t>
            </a:r>
            <a:endParaRPr lang="en-US" sz="1000" dirty="0"/>
          </a:p>
        </p:txBody>
      </p:sp>
      <p:sp>
        <p:nvSpPr>
          <p:cNvPr id="52" name="Text 50"/>
          <p:cNvSpPr/>
          <p:nvPr/>
        </p:nvSpPr>
        <p:spPr>
          <a:xfrm>
            <a:off x="868680" y="5285232"/>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reports.py</a:t>
            </a:r>
            <a:endParaRPr lang="en-US" sz="1100" dirty="0"/>
          </a:p>
        </p:txBody>
      </p:sp>
      <p:sp>
        <p:nvSpPr>
          <p:cNvPr id="53" name="Text 51"/>
          <p:cNvSpPr/>
          <p:nvPr/>
        </p:nvSpPr>
        <p:spPr>
          <a:xfrm>
            <a:off x="3657600" y="5285232"/>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4</a:t>
            </a:r>
            <a:endParaRPr lang="en-US" sz="1100" dirty="0"/>
          </a:p>
        </p:txBody>
      </p:sp>
      <p:sp>
        <p:nvSpPr>
          <p:cNvPr id="54" name="Text 52"/>
          <p:cNvSpPr/>
          <p:nvPr/>
        </p:nvSpPr>
        <p:spPr>
          <a:xfrm>
            <a:off x="5166360" y="5285232"/>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502</a:t>
            </a:r>
            <a:endParaRPr lang="en-US" sz="1100" dirty="0"/>
          </a:p>
        </p:txBody>
      </p:sp>
      <p:sp>
        <p:nvSpPr>
          <p:cNvPr id="55" name="Text 53"/>
          <p:cNvSpPr/>
          <p:nvPr/>
        </p:nvSpPr>
        <p:spPr>
          <a:xfrm>
            <a:off x="6766560" y="5285232"/>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Weekly user safety reports</a:t>
            </a:r>
            <a:endParaRPr lang="en-US" sz="1000" dirty="0"/>
          </a:p>
        </p:txBody>
      </p:sp>
      <p:sp>
        <p:nvSpPr>
          <p:cNvPr id="56" name="Shape 54"/>
          <p:cNvSpPr/>
          <p:nvPr/>
        </p:nvSpPr>
        <p:spPr>
          <a:xfrm>
            <a:off x="640080" y="5623560"/>
            <a:ext cx="11064240" cy="374904"/>
          </a:xfrm>
          <a:prstGeom prst="rect">
            <a:avLst/>
          </a:prstGeom>
          <a:solidFill>
            <a:srgbClr val="121C3A"/>
          </a:solidFill>
          <a:ln w="12700">
            <a:solidFill>
              <a:srgbClr val="121C3A"/>
            </a:solidFill>
            <a:prstDash val="solid"/>
          </a:ln>
        </p:spPr>
        <p:txBody>
          <a:bodyPr/>
          <a:lstStyle/>
          <a:p>
            <a:endParaRPr lang="en-US"/>
          </a:p>
        </p:txBody>
      </p:sp>
      <p:sp>
        <p:nvSpPr>
          <p:cNvPr id="57" name="Text 55"/>
          <p:cNvSpPr/>
          <p:nvPr/>
        </p:nvSpPr>
        <p:spPr>
          <a:xfrm>
            <a:off x="868680" y="5660136"/>
            <a:ext cx="2743200"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analytics.py</a:t>
            </a:r>
            <a:endParaRPr lang="en-US" sz="1100" dirty="0"/>
          </a:p>
        </p:txBody>
      </p:sp>
      <p:sp>
        <p:nvSpPr>
          <p:cNvPr id="58" name="Text 56"/>
          <p:cNvSpPr/>
          <p:nvPr/>
        </p:nvSpPr>
        <p:spPr>
          <a:xfrm>
            <a:off x="3657600" y="5660136"/>
            <a:ext cx="1463040" cy="310896"/>
          </a:xfrm>
          <a:prstGeom prst="rect">
            <a:avLst/>
          </a:prstGeom>
          <a:noFill/>
          <a:ln/>
        </p:spPr>
        <p:txBody>
          <a:bodyPr wrap="square" lIns="0" tIns="0" rIns="0" bIns="0" rtlCol="0" anchor="ctr"/>
          <a:lstStyle/>
          <a:p>
            <a:pPr marL="0" indent="0" algn="ctr">
              <a:buNone/>
            </a:pPr>
            <a:r>
              <a:rPr lang="en-US" sz="1100" b="1" dirty="0">
                <a:solidFill>
                  <a:srgbClr val="C8F751"/>
                </a:solidFill>
                <a:latin typeface="Calibri" pitchFamily="34" charset="0"/>
                <a:ea typeface="Calibri" pitchFamily="34" charset="-122"/>
                <a:cs typeface="Calibri" pitchFamily="34" charset="-120"/>
              </a:rPr>
              <a:t>3</a:t>
            </a:r>
            <a:endParaRPr lang="en-US" sz="1100" dirty="0"/>
          </a:p>
        </p:txBody>
      </p:sp>
      <p:sp>
        <p:nvSpPr>
          <p:cNvPr id="59" name="Text 57"/>
          <p:cNvSpPr/>
          <p:nvPr/>
        </p:nvSpPr>
        <p:spPr>
          <a:xfrm>
            <a:off x="5166360" y="5660136"/>
            <a:ext cx="1463040" cy="310896"/>
          </a:xfrm>
          <a:prstGeom prst="rect">
            <a:avLst/>
          </a:prstGeom>
          <a:noFill/>
          <a:ln/>
        </p:spPr>
        <p:txBody>
          <a:bodyPr wrap="square" lIns="0" tIns="0" rIns="0" bIns="0" rtlCol="0" anchor="ctr"/>
          <a:lstStyle/>
          <a:p>
            <a:pPr marL="0" indent="0" algn="ctr">
              <a:buNone/>
            </a:pPr>
            <a:r>
              <a:rPr lang="en-US" sz="1100" dirty="0">
                <a:solidFill>
                  <a:srgbClr val="F4E9D8"/>
                </a:solidFill>
                <a:latin typeface="Calibri" pitchFamily="34" charset="0"/>
                <a:ea typeface="Calibri" pitchFamily="34" charset="-122"/>
                <a:cs typeface="Calibri" pitchFamily="34" charset="-120"/>
              </a:rPr>
              <a:t>198</a:t>
            </a:r>
            <a:endParaRPr lang="en-US" sz="1100" dirty="0"/>
          </a:p>
        </p:txBody>
      </p:sp>
      <p:sp>
        <p:nvSpPr>
          <p:cNvPr id="60" name="Text 58"/>
          <p:cNvSpPr/>
          <p:nvPr/>
        </p:nvSpPr>
        <p:spPr>
          <a:xfrm>
            <a:off x="6766560" y="5660136"/>
            <a:ext cx="4846320" cy="310896"/>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Dashboard metrics for the admin panel</a:t>
            </a:r>
            <a:endParaRPr lang="en-US" sz="1000" dirty="0"/>
          </a:p>
        </p:txBody>
      </p:sp>
      <p:sp>
        <p:nvSpPr>
          <p:cNvPr id="61" name="Shape 59"/>
          <p:cNvSpPr/>
          <p:nvPr/>
        </p:nvSpPr>
        <p:spPr>
          <a:xfrm>
            <a:off x="640080" y="6044184"/>
            <a:ext cx="11064240" cy="411480"/>
          </a:xfrm>
          <a:prstGeom prst="rect">
            <a:avLst/>
          </a:prstGeom>
          <a:solidFill>
            <a:srgbClr val="1B2752"/>
          </a:solidFill>
          <a:ln w="12700">
            <a:solidFill>
              <a:srgbClr val="C8F751"/>
            </a:solidFill>
            <a:prstDash val="solid"/>
          </a:ln>
        </p:spPr>
        <p:txBody>
          <a:bodyPr/>
          <a:lstStyle/>
          <a:p>
            <a:endParaRPr lang="en-US"/>
          </a:p>
        </p:txBody>
      </p:sp>
      <p:sp>
        <p:nvSpPr>
          <p:cNvPr id="62" name="Text 60"/>
          <p:cNvSpPr/>
          <p:nvPr/>
        </p:nvSpPr>
        <p:spPr>
          <a:xfrm>
            <a:off x="868680" y="6089904"/>
            <a:ext cx="2743200" cy="320040"/>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TOTAL</a:t>
            </a:r>
            <a:endParaRPr lang="en-US" sz="1200" dirty="0"/>
          </a:p>
        </p:txBody>
      </p:sp>
      <p:sp>
        <p:nvSpPr>
          <p:cNvPr id="63" name="Text 61"/>
          <p:cNvSpPr/>
          <p:nvPr/>
        </p:nvSpPr>
        <p:spPr>
          <a:xfrm>
            <a:off x="3657600" y="6089904"/>
            <a:ext cx="1463040" cy="320040"/>
          </a:xfrm>
          <a:prstGeom prst="rect">
            <a:avLst/>
          </a:prstGeom>
          <a:noFill/>
          <a:ln/>
        </p:spPr>
        <p:txBody>
          <a:bodyPr wrap="square" lIns="0" tIns="0" rIns="0" bIns="0" rtlCol="0" anchor="ctr"/>
          <a:lstStyle/>
          <a:p>
            <a:pPr marL="0" indent="0" algn="ctr">
              <a:buNone/>
            </a:pPr>
            <a:r>
              <a:rPr lang="en-US" sz="1300" b="1" dirty="0">
                <a:solidFill>
                  <a:srgbClr val="C8F751"/>
                </a:solidFill>
                <a:latin typeface="Calibri" pitchFamily="34" charset="0"/>
                <a:ea typeface="Calibri" pitchFamily="34" charset="-122"/>
                <a:cs typeface="Calibri" pitchFamily="34" charset="-120"/>
              </a:rPr>
              <a:t>128</a:t>
            </a:r>
            <a:endParaRPr lang="en-US" sz="1300" dirty="0"/>
          </a:p>
        </p:txBody>
      </p:sp>
      <p:sp>
        <p:nvSpPr>
          <p:cNvPr id="64" name="Text 62"/>
          <p:cNvSpPr/>
          <p:nvPr/>
        </p:nvSpPr>
        <p:spPr>
          <a:xfrm>
            <a:off x="5166360" y="6089904"/>
            <a:ext cx="1463040" cy="320040"/>
          </a:xfrm>
          <a:prstGeom prst="rect">
            <a:avLst/>
          </a:prstGeom>
          <a:noFill/>
          <a:ln/>
        </p:spPr>
        <p:txBody>
          <a:bodyPr wrap="square" lIns="0" tIns="0" rIns="0" bIns="0" rtlCol="0" anchor="ctr"/>
          <a:lstStyle/>
          <a:p>
            <a:pPr marL="0" indent="0" algn="ctr">
              <a:buNone/>
            </a:pPr>
            <a:r>
              <a:rPr lang="en-US" sz="1300" b="1" dirty="0">
                <a:solidFill>
                  <a:srgbClr val="C8F751"/>
                </a:solidFill>
                <a:latin typeface="Calibri" pitchFamily="34" charset="0"/>
                <a:ea typeface="Calibri" pitchFamily="34" charset="-122"/>
                <a:cs typeface="Calibri" pitchFamily="34" charset="-120"/>
              </a:rPr>
              <a:t>13,776</a:t>
            </a:r>
            <a:endParaRPr lang="en-US" sz="1300" dirty="0"/>
          </a:p>
        </p:txBody>
      </p:sp>
      <p:sp>
        <p:nvSpPr>
          <p:cNvPr id="65" name="Text 63"/>
          <p:cNvSpPr/>
          <p:nvPr/>
        </p:nvSpPr>
        <p:spPr>
          <a:xfrm>
            <a:off x="6766560" y="6089904"/>
            <a:ext cx="4846320" cy="32004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Every endpoint is async, login-protected, and audit-logged</a:t>
            </a:r>
            <a:endParaRPr lang="en-US" sz="1000" dirty="0"/>
          </a:p>
        </p:txBody>
      </p:sp>
      <p:sp>
        <p:nvSpPr>
          <p:cNvPr id="66" name="Text 64"/>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67" name="Text 65"/>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11 / 28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AUTHENTICATION — LAYER 1</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Password hashing and signed login tokens</a:t>
            </a:r>
            <a:endParaRPr lang="en-US" sz="1200" dirty="0"/>
          </a:p>
        </p:txBody>
      </p:sp>
      <p:sp>
        <p:nvSpPr>
          <p:cNvPr id="5" name="Shape 3"/>
          <p:cNvSpPr/>
          <p:nvPr/>
        </p:nvSpPr>
        <p:spPr>
          <a:xfrm>
            <a:off x="640080" y="1371600"/>
            <a:ext cx="553212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08760"/>
            <a:ext cx="521208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PASSWORD HASHING</a:t>
            </a:r>
            <a:endParaRPr lang="en-US" sz="1000" dirty="0"/>
          </a:p>
        </p:txBody>
      </p:sp>
      <p:sp>
        <p:nvSpPr>
          <p:cNvPr id="8" name="Text 6"/>
          <p:cNvSpPr/>
          <p:nvPr/>
        </p:nvSpPr>
        <p:spPr>
          <a:xfrm>
            <a:off x="868680" y="1828800"/>
            <a:ext cx="5212080" cy="365760"/>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bcrypt_sha256 (primary) → bcrypt (legacy)</a:t>
            </a:r>
            <a:endParaRPr lang="en-US" sz="1300" dirty="0"/>
          </a:p>
        </p:txBody>
      </p:sp>
      <p:sp>
        <p:nvSpPr>
          <p:cNvPr id="9" name="Shape 7"/>
          <p:cNvSpPr/>
          <p:nvPr/>
        </p:nvSpPr>
        <p:spPr>
          <a:xfrm>
            <a:off x="868680" y="2331720"/>
            <a:ext cx="5074920" cy="1828800"/>
          </a:xfrm>
          <a:prstGeom prst="rect">
            <a:avLst/>
          </a:prstGeom>
          <a:solidFill>
            <a:srgbClr val="0A1228"/>
          </a:solidFill>
          <a:ln w="6350">
            <a:solidFill>
              <a:srgbClr val="2A3A6E"/>
            </a:solidFill>
            <a:prstDash val="solid"/>
          </a:ln>
        </p:spPr>
        <p:txBody>
          <a:bodyPr/>
          <a:lstStyle/>
          <a:p>
            <a:endParaRPr lang="en-US"/>
          </a:p>
        </p:txBody>
      </p:sp>
      <p:sp>
        <p:nvSpPr>
          <p:cNvPr id="10" name="Text 8"/>
          <p:cNvSpPr/>
          <p:nvPr/>
        </p:nvSpPr>
        <p:spPr>
          <a:xfrm>
            <a:off x="960120" y="2423160"/>
            <a:ext cx="4937760" cy="1691640"/>
          </a:xfrm>
          <a:prstGeom prst="rect">
            <a:avLst/>
          </a:prstGeom>
          <a:noFill/>
          <a:ln/>
        </p:spPr>
        <p:txBody>
          <a:bodyPr wrap="square" lIns="0" tIns="0" rIns="0" bIns="0" rtlCol="0" anchor="ctr"/>
          <a:lstStyle/>
          <a:p>
            <a:pPr marL="0" indent="0">
              <a:buNone/>
            </a:pPr>
            <a:r>
              <a:rPr lang="en-US" sz="1000" dirty="0">
                <a:solidFill>
                  <a:srgbClr val="9AA8C7"/>
                </a:solidFill>
                <a:latin typeface="Consolas" pitchFamily="34" charset="0"/>
                <a:ea typeface="Consolas" pitchFamily="34" charset="-122"/>
                <a:cs typeface="Consolas" pitchFamily="34" charset="-120"/>
              </a:rPr>
              <a:t># app/auth_updated.py:42</a:t>
            </a:r>
            <a:endParaRPr lang="en-US" sz="1000" dirty="0"/>
          </a:p>
          <a:p>
            <a:pPr marL="0" indent="0">
              <a:buNone/>
            </a:pPr>
            <a:r>
              <a:rPr lang="en-US" sz="1000" dirty="0">
                <a:solidFill>
                  <a:srgbClr val="F4E9D8"/>
                </a:solidFill>
                <a:latin typeface="Consolas" pitchFamily="34" charset="0"/>
                <a:ea typeface="Consolas" pitchFamily="34" charset="-122"/>
                <a:cs typeface="Consolas" pitchFamily="34" charset="-120"/>
              </a:rPr>
              <a:t>pwd_context = CryptContext(</a:t>
            </a:r>
            <a:endParaRPr lang="en-US" sz="1000" dirty="0"/>
          </a:p>
          <a:p>
            <a:pPr marL="0" indent="0">
              <a:buNone/>
            </a:pPr>
            <a:r>
              <a:rPr lang="en-US" sz="1000" dirty="0">
                <a:solidFill>
                  <a:srgbClr val="F4E9D8"/>
                </a:solidFill>
                <a:latin typeface="Consolas" pitchFamily="34" charset="0"/>
                <a:ea typeface="Consolas" pitchFamily="34" charset="-122"/>
                <a:cs typeface="Consolas" pitchFamily="34" charset="-120"/>
              </a:rPr>
              <a:t>  schemes=["bcrypt_sha256",</a:t>
            </a:r>
            <a:endParaRPr lang="en-US" sz="1000" dirty="0"/>
          </a:p>
          <a:p>
            <a:pPr marL="0" indent="0">
              <a:buNone/>
            </a:pPr>
            <a:r>
              <a:rPr lang="en-US" sz="1000" dirty="0">
                <a:solidFill>
                  <a:srgbClr val="F4E9D8"/>
                </a:solidFill>
                <a:latin typeface="Consolas" pitchFamily="34" charset="0"/>
                <a:ea typeface="Consolas" pitchFamily="34" charset="-122"/>
                <a:cs typeface="Consolas" pitchFamily="34" charset="-120"/>
              </a:rPr>
              <a:t>           "bcrypt"],</a:t>
            </a:r>
            <a:endParaRPr lang="en-US" sz="1000" dirty="0"/>
          </a:p>
          <a:p>
            <a:pPr marL="0" indent="0">
              <a:buNone/>
            </a:pPr>
            <a:r>
              <a:rPr lang="en-US" sz="1000" dirty="0">
                <a:solidFill>
                  <a:srgbClr val="F4E9D8"/>
                </a:solidFill>
                <a:latin typeface="Consolas" pitchFamily="34" charset="0"/>
                <a:ea typeface="Consolas" pitchFamily="34" charset="-122"/>
                <a:cs typeface="Consolas" pitchFamily="34" charset="-120"/>
              </a:rPr>
              <a:t>  deprecated="auto")</a:t>
            </a:r>
            <a:endParaRPr lang="en-US" sz="1000" dirty="0"/>
          </a:p>
          <a:p>
            <a:pPr marL="0" indent="0">
              <a:buNone/>
            </a:pPr>
            <a:r>
              <a:rPr lang="en-US" sz="1000" dirty="0">
                <a:solidFill>
                  <a:srgbClr val="F4E9D8"/>
                </a:solidFill>
                <a:latin typeface="Consolas" pitchFamily="34" charset="0"/>
                <a:ea typeface="Consolas" pitchFamily="34" charset="-122"/>
                <a:cs typeface="Consolas" pitchFamily="34" charset="-120"/>
              </a:rPr>
              <a:t> </a:t>
            </a:r>
            <a:endParaRPr lang="en-US" sz="1000" dirty="0"/>
          </a:p>
          <a:p>
            <a:pPr marL="0" indent="0">
              <a:buNone/>
            </a:pPr>
            <a:r>
              <a:rPr lang="en-US" sz="1000" dirty="0">
                <a:solidFill>
                  <a:srgbClr val="C8F751"/>
                </a:solidFill>
                <a:latin typeface="Consolas" pitchFamily="34" charset="0"/>
                <a:ea typeface="Consolas" pitchFamily="34" charset="-122"/>
                <a:cs typeface="Consolas" pitchFamily="34" charset="-120"/>
              </a:rPr>
              <a:t>truncated = plain_password[:72]</a:t>
            </a:r>
            <a:endParaRPr lang="en-US" sz="1000" dirty="0"/>
          </a:p>
          <a:p>
            <a:pPr marL="0" indent="0">
              <a:buNone/>
            </a:pPr>
            <a:r>
              <a:rPr lang="en-US" sz="1000" dirty="0">
                <a:solidFill>
                  <a:srgbClr val="F4E9D8"/>
                </a:solidFill>
                <a:latin typeface="Consolas" pitchFamily="34" charset="0"/>
                <a:ea typeface="Consolas" pitchFamily="34" charset="-122"/>
                <a:cs typeface="Consolas" pitchFamily="34" charset="-120"/>
              </a:rPr>
              <a:t>verify(truncated, hashed_pw)</a:t>
            </a:r>
            <a:endParaRPr lang="en-US" sz="1000" dirty="0"/>
          </a:p>
        </p:txBody>
      </p:sp>
      <p:sp>
        <p:nvSpPr>
          <p:cNvPr id="11" name="Shape 9"/>
          <p:cNvSpPr/>
          <p:nvPr/>
        </p:nvSpPr>
        <p:spPr>
          <a:xfrm>
            <a:off x="868680" y="4297680"/>
            <a:ext cx="5074920" cy="1920240"/>
          </a:xfrm>
          <a:prstGeom prst="rect">
            <a:avLst/>
          </a:prstGeom>
          <a:solidFill>
            <a:srgbClr val="1B2752"/>
          </a:solidFill>
          <a:ln w="6350">
            <a:solidFill>
              <a:srgbClr val="C8F751"/>
            </a:solidFill>
            <a:prstDash val="solid"/>
          </a:ln>
        </p:spPr>
        <p:txBody>
          <a:bodyPr/>
          <a:lstStyle/>
          <a:p>
            <a:endParaRPr lang="en-US"/>
          </a:p>
        </p:txBody>
      </p:sp>
      <p:sp>
        <p:nvSpPr>
          <p:cNvPr id="12" name="Text 10"/>
          <p:cNvSpPr/>
          <p:nvPr/>
        </p:nvSpPr>
        <p:spPr>
          <a:xfrm>
            <a:off x="1005840" y="4389120"/>
            <a:ext cx="4800600" cy="256032"/>
          </a:xfrm>
          <a:prstGeom prst="rect">
            <a:avLst/>
          </a:prstGeom>
          <a:noFill/>
          <a:ln/>
        </p:spPr>
        <p:txBody>
          <a:bodyPr wrap="square" lIns="0" tIns="0" rIns="0" bIns="0" rtlCol="0" anchor="ctr"/>
          <a:lstStyle/>
          <a:p>
            <a:pPr marL="0" indent="0">
              <a:buNone/>
            </a:pPr>
            <a:r>
              <a:rPr lang="en-US" sz="900" b="1" kern="0" spc="300" dirty="0">
                <a:solidFill>
                  <a:srgbClr val="C8F751"/>
                </a:solidFill>
                <a:latin typeface="Calibri" pitchFamily="34" charset="0"/>
                <a:ea typeface="Calibri" pitchFamily="34" charset="-122"/>
                <a:cs typeface="Calibri" pitchFamily="34" charset="-120"/>
              </a:rPr>
              <a:t>WHAT THIS MEANS</a:t>
            </a:r>
            <a:endParaRPr lang="en-US" sz="900" dirty="0"/>
          </a:p>
        </p:txBody>
      </p:sp>
      <p:sp>
        <p:nvSpPr>
          <p:cNvPr id="13" name="Text 11"/>
          <p:cNvSpPr/>
          <p:nvPr/>
        </p:nvSpPr>
        <p:spPr>
          <a:xfrm>
            <a:off x="1005840" y="4663440"/>
            <a:ext cx="4800600" cy="146304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We never store the user's actual password — only a scrambled fingerprint of it. We use a method called bcrypt-SHA-256, which scrambles the password through TWO layers (SHA-256 first, then bcrypt). The first layer makes sure even very long passwords or names with Urdu characters keep all their security. The second layer makes the scrambled version slow to crack — even with a powerful computer.</a:t>
            </a:r>
            <a:endParaRPr lang="en-US" sz="1100" dirty="0"/>
          </a:p>
        </p:txBody>
      </p:sp>
      <p:sp>
        <p:nvSpPr>
          <p:cNvPr id="14" name="Shape 12"/>
          <p:cNvSpPr/>
          <p:nvPr/>
        </p:nvSpPr>
        <p:spPr>
          <a:xfrm>
            <a:off x="6355080" y="1371600"/>
            <a:ext cx="5349240" cy="4937760"/>
          </a:xfrm>
          <a:prstGeom prst="rect">
            <a:avLst/>
          </a:prstGeom>
          <a:solidFill>
            <a:srgbClr val="121C3A"/>
          </a:solidFill>
          <a:ln w="9525">
            <a:solidFill>
              <a:srgbClr val="2A3A6E"/>
            </a:solidFill>
            <a:prstDash val="solid"/>
          </a:ln>
        </p:spPr>
        <p:txBody>
          <a:bodyPr/>
          <a:lstStyle/>
          <a:p>
            <a:endParaRPr lang="en-US"/>
          </a:p>
        </p:txBody>
      </p:sp>
      <p:sp>
        <p:nvSpPr>
          <p:cNvPr id="15" name="Shape 13"/>
          <p:cNvSpPr/>
          <p:nvPr/>
        </p:nvSpPr>
        <p:spPr>
          <a:xfrm>
            <a:off x="6355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16" name="Text 14"/>
          <p:cNvSpPr/>
          <p:nvPr/>
        </p:nvSpPr>
        <p:spPr>
          <a:xfrm>
            <a:off x="6583680" y="1508760"/>
            <a:ext cx="502920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LOGIN TOKENS  ·  JWT</a:t>
            </a:r>
            <a:endParaRPr lang="en-US" sz="1000" dirty="0"/>
          </a:p>
        </p:txBody>
      </p:sp>
      <p:sp>
        <p:nvSpPr>
          <p:cNvPr id="17" name="Text 15"/>
          <p:cNvSpPr/>
          <p:nvPr/>
        </p:nvSpPr>
        <p:spPr>
          <a:xfrm>
            <a:off x="6583680" y="1828800"/>
            <a:ext cx="5029200" cy="50292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After login the user gets a signed token — like a wristband at an event.</a:t>
            </a:r>
            <a:endParaRPr lang="en-US" sz="1100" dirty="0"/>
          </a:p>
        </p:txBody>
      </p:sp>
      <p:sp>
        <p:nvSpPr>
          <p:cNvPr id="18" name="Shape 16"/>
          <p:cNvSpPr/>
          <p:nvPr/>
        </p:nvSpPr>
        <p:spPr>
          <a:xfrm>
            <a:off x="6583680" y="2423160"/>
            <a:ext cx="4937760" cy="457200"/>
          </a:xfrm>
          <a:prstGeom prst="rect">
            <a:avLst/>
          </a:prstGeom>
          <a:solidFill>
            <a:srgbClr val="1B2752"/>
          </a:solidFill>
          <a:ln w="5080">
            <a:solidFill>
              <a:srgbClr val="2A3A6E"/>
            </a:solidFill>
            <a:prstDash val="solid"/>
          </a:ln>
        </p:spPr>
        <p:txBody>
          <a:bodyPr/>
          <a:lstStyle/>
          <a:p>
            <a:endParaRPr lang="en-US"/>
          </a:p>
        </p:txBody>
      </p:sp>
      <p:sp>
        <p:nvSpPr>
          <p:cNvPr id="19" name="Text 17"/>
          <p:cNvSpPr/>
          <p:nvPr/>
        </p:nvSpPr>
        <p:spPr>
          <a:xfrm>
            <a:off x="6693408" y="2478024"/>
            <a:ext cx="14630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Regular user</a:t>
            </a:r>
            <a:endParaRPr lang="en-US" sz="1100" dirty="0"/>
          </a:p>
        </p:txBody>
      </p:sp>
      <p:sp>
        <p:nvSpPr>
          <p:cNvPr id="20" name="Text 18"/>
          <p:cNvSpPr/>
          <p:nvPr/>
        </p:nvSpPr>
        <p:spPr>
          <a:xfrm>
            <a:off x="8183880" y="2478024"/>
            <a:ext cx="1280160" cy="36576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30 days</a:t>
            </a:r>
            <a:endParaRPr lang="en-US" sz="1200" dirty="0"/>
          </a:p>
        </p:txBody>
      </p:sp>
      <p:sp>
        <p:nvSpPr>
          <p:cNvPr id="21" name="Text 19"/>
          <p:cNvSpPr/>
          <p:nvPr/>
        </p:nvSpPr>
        <p:spPr>
          <a:xfrm>
            <a:off x="9509760" y="2478024"/>
            <a:ext cx="1965960" cy="365760"/>
          </a:xfrm>
          <a:prstGeom prst="rect">
            <a:avLst/>
          </a:prstGeom>
          <a:noFill/>
          <a:ln/>
        </p:spPr>
        <p:txBody>
          <a:bodyPr wrap="square" lIns="0" tIns="0" rIns="0" bIns="0" rtlCol="0" anchor="ctr"/>
          <a:lstStyle/>
          <a:p>
            <a:pPr marL="0" indent="0">
              <a:buNone/>
            </a:pPr>
            <a:r>
              <a:rPr lang="en-US" sz="950" i="1" dirty="0">
                <a:solidFill>
                  <a:srgbClr val="9AA8C7"/>
                </a:solidFill>
                <a:latin typeface="Calibri" pitchFamily="34" charset="0"/>
                <a:ea typeface="Calibri" pitchFamily="34" charset="-122"/>
                <a:cs typeface="Calibri" pitchFamily="34" charset="-120"/>
              </a:rPr>
              <a:t>Long sessions for citizens</a:t>
            </a:r>
            <a:endParaRPr lang="en-US" sz="950" dirty="0"/>
          </a:p>
        </p:txBody>
      </p:sp>
      <p:sp>
        <p:nvSpPr>
          <p:cNvPr id="22" name="Shape 20"/>
          <p:cNvSpPr/>
          <p:nvPr/>
        </p:nvSpPr>
        <p:spPr>
          <a:xfrm>
            <a:off x="6583680" y="2926080"/>
            <a:ext cx="4937760" cy="457200"/>
          </a:xfrm>
          <a:prstGeom prst="rect">
            <a:avLst/>
          </a:prstGeom>
          <a:solidFill>
            <a:srgbClr val="0A1228"/>
          </a:solidFill>
          <a:ln w="5080">
            <a:solidFill>
              <a:srgbClr val="2A3A6E"/>
            </a:solidFill>
            <a:prstDash val="solid"/>
          </a:ln>
        </p:spPr>
        <p:txBody>
          <a:bodyPr/>
          <a:lstStyle/>
          <a:p>
            <a:endParaRPr lang="en-US"/>
          </a:p>
        </p:txBody>
      </p:sp>
      <p:sp>
        <p:nvSpPr>
          <p:cNvPr id="23" name="Text 21"/>
          <p:cNvSpPr/>
          <p:nvPr/>
        </p:nvSpPr>
        <p:spPr>
          <a:xfrm>
            <a:off x="6693408" y="2980944"/>
            <a:ext cx="14630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Admin</a:t>
            </a:r>
            <a:endParaRPr lang="en-US" sz="1100" dirty="0"/>
          </a:p>
        </p:txBody>
      </p:sp>
      <p:sp>
        <p:nvSpPr>
          <p:cNvPr id="24" name="Text 22"/>
          <p:cNvSpPr/>
          <p:nvPr/>
        </p:nvSpPr>
        <p:spPr>
          <a:xfrm>
            <a:off x="8183880" y="2980944"/>
            <a:ext cx="1280160" cy="36576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60 minutes</a:t>
            </a:r>
            <a:endParaRPr lang="en-US" sz="1200" dirty="0"/>
          </a:p>
        </p:txBody>
      </p:sp>
      <p:sp>
        <p:nvSpPr>
          <p:cNvPr id="25" name="Text 23"/>
          <p:cNvSpPr/>
          <p:nvPr/>
        </p:nvSpPr>
        <p:spPr>
          <a:xfrm>
            <a:off x="9509760" y="2980944"/>
            <a:ext cx="1965960" cy="365760"/>
          </a:xfrm>
          <a:prstGeom prst="rect">
            <a:avLst/>
          </a:prstGeom>
          <a:noFill/>
          <a:ln/>
        </p:spPr>
        <p:txBody>
          <a:bodyPr wrap="square" lIns="0" tIns="0" rIns="0" bIns="0" rtlCol="0" anchor="ctr"/>
          <a:lstStyle/>
          <a:p>
            <a:pPr marL="0" indent="0">
              <a:buNone/>
            </a:pPr>
            <a:r>
              <a:rPr lang="en-US" sz="950" i="1" dirty="0">
                <a:solidFill>
                  <a:srgbClr val="9AA8C7"/>
                </a:solidFill>
                <a:latin typeface="Calibri" pitchFamily="34" charset="0"/>
                <a:ea typeface="Calibri" pitchFamily="34" charset="-122"/>
                <a:cs typeface="Calibri" pitchFamily="34" charset="-120"/>
              </a:rPr>
              <a:t>Tight session — FIR uploads</a:t>
            </a:r>
            <a:endParaRPr lang="en-US" sz="950" dirty="0"/>
          </a:p>
        </p:txBody>
      </p:sp>
      <p:sp>
        <p:nvSpPr>
          <p:cNvPr id="26" name="Shape 24"/>
          <p:cNvSpPr/>
          <p:nvPr/>
        </p:nvSpPr>
        <p:spPr>
          <a:xfrm>
            <a:off x="6583680" y="3429000"/>
            <a:ext cx="4937760" cy="457200"/>
          </a:xfrm>
          <a:prstGeom prst="rect">
            <a:avLst/>
          </a:prstGeom>
          <a:solidFill>
            <a:srgbClr val="1B2752"/>
          </a:solidFill>
          <a:ln w="5080">
            <a:solidFill>
              <a:srgbClr val="2A3A6E"/>
            </a:solidFill>
            <a:prstDash val="solid"/>
          </a:ln>
        </p:spPr>
        <p:txBody>
          <a:bodyPr/>
          <a:lstStyle/>
          <a:p>
            <a:endParaRPr lang="en-US"/>
          </a:p>
        </p:txBody>
      </p:sp>
      <p:sp>
        <p:nvSpPr>
          <p:cNvPr id="27" name="Text 25"/>
          <p:cNvSpPr/>
          <p:nvPr/>
        </p:nvSpPr>
        <p:spPr>
          <a:xfrm>
            <a:off x="6693408" y="3483864"/>
            <a:ext cx="14630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Super-admin</a:t>
            </a:r>
            <a:endParaRPr lang="en-US" sz="1100" dirty="0"/>
          </a:p>
        </p:txBody>
      </p:sp>
      <p:sp>
        <p:nvSpPr>
          <p:cNvPr id="28" name="Text 26"/>
          <p:cNvSpPr/>
          <p:nvPr/>
        </p:nvSpPr>
        <p:spPr>
          <a:xfrm>
            <a:off x="8183880" y="3483864"/>
            <a:ext cx="1280160" cy="36576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60 minutes</a:t>
            </a:r>
            <a:endParaRPr lang="en-US" sz="1200" dirty="0"/>
          </a:p>
        </p:txBody>
      </p:sp>
      <p:sp>
        <p:nvSpPr>
          <p:cNvPr id="29" name="Text 27"/>
          <p:cNvSpPr/>
          <p:nvPr/>
        </p:nvSpPr>
        <p:spPr>
          <a:xfrm>
            <a:off x="9509760" y="3483864"/>
            <a:ext cx="1965960" cy="365760"/>
          </a:xfrm>
          <a:prstGeom prst="rect">
            <a:avLst/>
          </a:prstGeom>
          <a:noFill/>
          <a:ln/>
        </p:spPr>
        <p:txBody>
          <a:bodyPr wrap="square" lIns="0" tIns="0" rIns="0" bIns="0" rtlCol="0" anchor="ctr"/>
          <a:lstStyle/>
          <a:p>
            <a:pPr marL="0" indent="0">
              <a:buNone/>
            </a:pPr>
            <a:r>
              <a:rPr lang="en-US" sz="950" i="1" dirty="0">
                <a:solidFill>
                  <a:srgbClr val="9AA8C7"/>
                </a:solidFill>
                <a:latin typeface="Calibri" pitchFamily="34" charset="0"/>
                <a:ea typeface="Calibri" pitchFamily="34" charset="-122"/>
                <a:cs typeface="Calibri" pitchFamily="34" charset="-120"/>
              </a:rPr>
              <a:t>Same — same blast radius</a:t>
            </a:r>
            <a:endParaRPr lang="en-US" sz="950" dirty="0"/>
          </a:p>
        </p:txBody>
      </p:sp>
      <p:sp>
        <p:nvSpPr>
          <p:cNvPr id="30" name="Shape 28"/>
          <p:cNvSpPr/>
          <p:nvPr/>
        </p:nvSpPr>
        <p:spPr>
          <a:xfrm>
            <a:off x="6583680" y="3931920"/>
            <a:ext cx="4937760" cy="457200"/>
          </a:xfrm>
          <a:prstGeom prst="rect">
            <a:avLst/>
          </a:prstGeom>
          <a:solidFill>
            <a:srgbClr val="0A1228"/>
          </a:solidFill>
          <a:ln w="5080">
            <a:solidFill>
              <a:srgbClr val="2A3A6E"/>
            </a:solidFill>
            <a:prstDash val="solid"/>
          </a:ln>
        </p:spPr>
        <p:txBody>
          <a:bodyPr/>
          <a:lstStyle/>
          <a:p>
            <a:endParaRPr lang="en-US"/>
          </a:p>
        </p:txBody>
      </p:sp>
      <p:sp>
        <p:nvSpPr>
          <p:cNvPr id="31" name="Text 29"/>
          <p:cNvSpPr/>
          <p:nvPr/>
        </p:nvSpPr>
        <p:spPr>
          <a:xfrm>
            <a:off x="6693408" y="3986784"/>
            <a:ext cx="14630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Refresh</a:t>
            </a:r>
            <a:endParaRPr lang="en-US" sz="1100" dirty="0"/>
          </a:p>
        </p:txBody>
      </p:sp>
      <p:sp>
        <p:nvSpPr>
          <p:cNvPr id="32" name="Text 30"/>
          <p:cNvSpPr/>
          <p:nvPr/>
        </p:nvSpPr>
        <p:spPr>
          <a:xfrm>
            <a:off x="8183880" y="3986784"/>
            <a:ext cx="1280160" cy="36576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90 days</a:t>
            </a:r>
            <a:endParaRPr lang="en-US" sz="1200" dirty="0"/>
          </a:p>
        </p:txBody>
      </p:sp>
      <p:sp>
        <p:nvSpPr>
          <p:cNvPr id="33" name="Text 31"/>
          <p:cNvSpPr/>
          <p:nvPr/>
        </p:nvSpPr>
        <p:spPr>
          <a:xfrm>
            <a:off x="9509760" y="3986784"/>
            <a:ext cx="1965960" cy="365760"/>
          </a:xfrm>
          <a:prstGeom prst="rect">
            <a:avLst/>
          </a:prstGeom>
          <a:noFill/>
          <a:ln/>
        </p:spPr>
        <p:txBody>
          <a:bodyPr wrap="square" lIns="0" tIns="0" rIns="0" bIns="0" rtlCol="0" anchor="ctr"/>
          <a:lstStyle/>
          <a:p>
            <a:pPr marL="0" indent="0">
              <a:buNone/>
            </a:pPr>
            <a:r>
              <a:rPr lang="en-US" sz="950" i="1" dirty="0">
                <a:solidFill>
                  <a:srgbClr val="9AA8C7"/>
                </a:solidFill>
                <a:latin typeface="Calibri" pitchFamily="34" charset="0"/>
                <a:ea typeface="Calibri" pitchFamily="34" charset="-122"/>
                <a:cs typeface="Calibri" pitchFamily="34" charset="-120"/>
              </a:rPr>
              <a:t>Separate signing key</a:t>
            </a:r>
            <a:endParaRPr lang="en-US" sz="950" dirty="0"/>
          </a:p>
        </p:txBody>
      </p:sp>
      <p:sp>
        <p:nvSpPr>
          <p:cNvPr id="34" name="Shape 32"/>
          <p:cNvSpPr/>
          <p:nvPr/>
        </p:nvSpPr>
        <p:spPr>
          <a:xfrm>
            <a:off x="6583680" y="4572000"/>
            <a:ext cx="4937760" cy="1691640"/>
          </a:xfrm>
          <a:prstGeom prst="rect">
            <a:avLst/>
          </a:prstGeom>
          <a:solidFill>
            <a:srgbClr val="1B2752"/>
          </a:solidFill>
          <a:ln w="6350">
            <a:solidFill>
              <a:srgbClr val="C8F751"/>
            </a:solidFill>
            <a:prstDash val="solid"/>
          </a:ln>
        </p:spPr>
        <p:txBody>
          <a:bodyPr/>
          <a:lstStyle/>
          <a:p>
            <a:endParaRPr lang="en-US"/>
          </a:p>
        </p:txBody>
      </p:sp>
      <p:sp>
        <p:nvSpPr>
          <p:cNvPr id="35" name="Text 33"/>
          <p:cNvSpPr/>
          <p:nvPr/>
        </p:nvSpPr>
        <p:spPr>
          <a:xfrm>
            <a:off x="6720840" y="4663440"/>
            <a:ext cx="4663440" cy="256032"/>
          </a:xfrm>
          <a:prstGeom prst="rect">
            <a:avLst/>
          </a:prstGeom>
          <a:noFill/>
          <a:ln/>
        </p:spPr>
        <p:txBody>
          <a:bodyPr wrap="square" lIns="0" tIns="0" rIns="0" bIns="0" rtlCol="0" anchor="ctr"/>
          <a:lstStyle/>
          <a:p>
            <a:pPr marL="0" indent="0">
              <a:buNone/>
            </a:pPr>
            <a:r>
              <a:rPr lang="en-US" sz="900" b="1" kern="0" spc="300" dirty="0">
                <a:solidFill>
                  <a:srgbClr val="C8F751"/>
                </a:solidFill>
                <a:latin typeface="Calibri" pitchFamily="34" charset="0"/>
                <a:ea typeface="Calibri" pitchFamily="34" charset="-122"/>
                <a:cs typeface="Calibri" pitchFamily="34" charset="-120"/>
              </a:rPr>
              <a:t>WHAT THIS MEANS</a:t>
            </a:r>
            <a:endParaRPr lang="en-US" sz="900" dirty="0"/>
          </a:p>
        </p:txBody>
      </p:sp>
      <p:sp>
        <p:nvSpPr>
          <p:cNvPr id="36" name="Text 34"/>
          <p:cNvSpPr/>
          <p:nvPr/>
        </p:nvSpPr>
        <p:spPr>
          <a:xfrm>
            <a:off x="6720840" y="4937760"/>
            <a:ext cx="4663440" cy="123444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JWT (JSON Web Token) is just a string of data signed by our server. The user's browser sends it back on every request. Because only our server knows the signing key, no one can fake a valid token. We use TWO different keys — one for normal access, one for refreshes — so even if one key leaks, the attacker can't forge new sessions.</a:t>
            </a:r>
            <a:endParaRPr lang="en-US" sz="1100" dirty="0"/>
          </a:p>
        </p:txBody>
      </p:sp>
      <p:sp>
        <p:nvSpPr>
          <p:cNvPr id="37" name="Text 35"/>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38" name="Text 36"/>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12 / 28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AUTHENTICATION — LAYER 2 &amp; 3</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Two-factor login, append-only audit log, super-admin approvals</a:t>
            </a:r>
            <a:endParaRPr lang="en-US" sz="1200" dirty="0"/>
          </a:p>
        </p:txBody>
      </p:sp>
      <p:sp>
        <p:nvSpPr>
          <p:cNvPr id="5" name="Shape 3"/>
          <p:cNvSpPr/>
          <p:nvPr/>
        </p:nvSpPr>
        <p:spPr>
          <a:xfrm>
            <a:off x="640080" y="1371600"/>
            <a:ext cx="5532120" cy="246888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246888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08760"/>
            <a:ext cx="5212080" cy="292608"/>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LAYER 2  ·  AUTHENTICATOR APP (OPTIONAL)</a:t>
            </a:r>
            <a:endParaRPr lang="en-US" sz="1000" dirty="0"/>
          </a:p>
        </p:txBody>
      </p:sp>
      <p:sp>
        <p:nvSpPr>
          <p:cNvPr id="8" name="Text 6"/>
          <p:cNvSpPr/>
          <p:nvPr/>
        </p:nvSpPr>
        <p:spPr>
          <a:xfrm>
            <a:off x="868680" y="1801368"/>
            <a:ext cx="52120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Time-based 6-digit codes (TOTP)</a:t>
            </a:r>
            <a:endParaRPr lang="en-US" sz="1300" dirty="0"/>
          </a:p>
        </p:txBody>
      </p:sp>
      <p:sp>
        <p:nvSpPr>
          <p:cNvPr id="9" name="Text 7"/>
          <p:cNvSpPr/>
          <p:nvPr/>
        </p:nvSpPr>
        <p:spPr>
          <a:xfrm>
            <a:off x="868680" y="2148840"/>
            <a:ext cx="5212080" cy="169164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The user scans a QR code with Google Authenticator. The phone and our server then independently generate the same 6-digit number every 30 seconds. If a hacker steals your password, they still can't log in without your phone.</a:t>
            </a:r>
            <a:endParaRPr lang="en-US" sz="1100" dirty="0"/>
          </a:p>
        </p:txBody>
      </p:sp>
      <p:sp>
        <p:nvSpPr>
          <p:cNvPr id="10" name="Shape 8"/>
          <p:cNvSpPr/>
          <p:nvPr/>
        </p:nvSpPr>
        <p:spPr>
          <a:xfrm>
            <a:off x="6355080" y="1371600"/>
            <a:ext cx="5349240" cy="2468880"/>
          </a:xfrm>
          <a:prstGeom prst="rect">
            <a:avLst/>
          </a:prstGeom>
          <a:solidFill>
            <a:srgbClr val="121C3A"/>
          </a:solidFill>
          <a:ln w="9525">
            <a:solidFill>
              <a:srgbClr val="2A3A6E"/>
            </a:solidFill>
            <a:prstDash val="solid"/>
          </a:ln>
        </p:spPr>
        <p:txBody>
          <a:bodyPr/>
          <a:lstStyle/>
          <a:p>
            <a:endParaRPr lang="en-US"/>
          </a:p>
        </p:txBody>
      </p:sp>
      <p:sp>
        <p:nvSpPr>
          <p:cNvPr id="11" name="Shape 9"/>
          <p:cNvSpPr/>
          <p:nvPr/>
        </p:nvSpPr>
        <p:spPr>
          <a:xfrm>
            <a:off x="6355080" y="1371600"/>
            <a:ext cx="64008" cy="2468880"/>
          </a:xfrm>
          <a:prstGeom prst="rect">
            <a:avLst/>
          </a:prstGeom>
          <a:solidFill>
            <a:srgbClr val="C8F751"/>
          </a:solidFill>
          <a:ln w="12700">
            <a:solidFill>
              <a:srgbClr val="C8F751"/>
            </a:solidFill>
            <a:prstDash val="solid"/>
          </a:ln>
        </p:spPr>
        <p:txBody>
          <a:bodyPr/>
          <a:lstStyle/>
          <a:p>
            <a:endParaRPr lang="en-US"/>
          </a:p>
        </p:txBody>
      </p:sp>
      <p:sp>
        <p:nvSpPr>
          <p:cNvPr id="12" name="Text 10"/>
          <p:cNvSpPr/>
          <p:nvPr/>
        </p:nvSpPr>
        <p:spPr>
          <a:xfrm>
            <a:off x="6583680" y="1508760"/>
            <a:ext cx="5029200" cy="292608"/>
          </a:xfrm>
          <a:prstGeom prst="rect">
            <a:avLst/>
          </a:prstGeom>
          <a:noFill/>
          <a:ln/>
        </p:spPr>
        <p:txBody>
          <a:bodyPr wrap="square" lIns="0" tIns="0" rIns="0" bIns="0" rtlCol="0" anchor="ctr"/>
          <a:lstStyle/>
          <a:p>
            <a:pPr marL="0" indent="0">
              <a:buNone/>
            </a:pPr>
            <a:r>
              <a:rPr lang="en-US" sz="1000" b="1" kern="0" spc="300" dirty="0">
                <a:solidFill>
                  <a:srgbClr val="F5A524"/>
                </a:solidFill>
                <a:latin typeface="Calibri" pitchFamily="34" charset="0"/>
                <a:ea typeface="Calibri" pitchFamily="34" charset="-122"/>
                <a:cs typeface="Calibri" pitchFamily="34" charset="-120"/>
              </a:rPr>
              <a:t>LAYER 2  ·  EMAIL OTP (MANDATORY FOR ADMINS)</a:t>
            </a:r>
            <a:endParaRPr lang="en-US" sz="1000" dirty="0"/>
          </a:p>
        </p:txBody>
      </p:sp>
      <p:sp>
        <p:nvSpPr>
          <p:cNvPr id="13" name="Text 11"/>
          <p:cNvSpPr/>
          <p:nvPr/>
        </p:nvSpPr>
        <p:spPr>
          <a:xfrm>
            <a:off x="6583680" y="1801368"/>
            <a:ext cx="50292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Required on every admin login</a:t>
            </a:r>
            <a:endParaRPr lang="en-US" sz="1300" dirty="0"/>
          </a:p>
        </p:txBody>
      </p:sp>
      <p:sp>
        <p:nvSpPr>
          <p:cNvPr id="14" name="Text 12"/>
          <p:cNvSpPr/>
          <p:nvPr/>
        </p:nvSpPr>
        <p:spPr>
          <a:xfrm>
            <a:off x="6583680" y="2148840"/>
            <a:ext cx="5029200" cy="169164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After typing their password, every admin and super-admin gets a 6-digit code in their email. Only after entering that code do they actually get in. There is no opt-out — admins handle FIRs, so we treat their accounts as high-value targets.</a:t>
            </a:r>
            <a:endParaRPr lang="en-US" sz="1100" dirty="0"/>
          </a:p>
        </p:txBody>
      </p:sp>
      <p:sp>
        <p:nvSpPr>
          <p:cNvPr id="15" name="Shape 13"/>
          <p:cNvSpPr/>
          <p:nvPr/>
        </p:nvSpPr>
        <p:spPr>
          <a:xfrm>
            <a:off x="640080" y="3950208"/>
            <a:ext cx="5532120" cy="2377440"/>
          </a:xfrm>
          <a:prstGeom prst="rect">
            <a:avLst/>
          </a:prstGeom>
          <a:solidFill>
            <a:srgbClr val="121C3A"/>
          </a:solidFill>
          <a:ln w="9525">
            <a:solidFill>
              <a:srgbClr val="2A3A6E"/>
            </a:solidFill>
            <a:prstDash val="solid"/>
          </a:ln>
        </p:spPr>
        <p:txBody>
          <a:bodyPr/>
          <a:lstStyle/>
          <a:p>
            <a:endParaRPr lang="en-US"/>
          </a:p>
        </p:txBody>
      </p:sp>
      <p:sp>
        <p:nvSpPr>
          <p:cNvPr id="16" name="Shape 14"/>
          <p:cNvSpPr/>
          <p:nvPr/>
        </p:nvSpPr>
        <p:spPr>
          <a:xfrm>
            <a:off x="640080" y="3950208"/>
            <a:ext cx="64008" cy="2377440"/>
          </a:xfrm>
          <a:prstGeom prst="rect">
            <a:avLst/>
          </a:prstGeom>
          <a:solidFill>
            <a:srgbClr val="C8F751"/>
          </a:solidFill>
          <a:ln w="12700">
            <a:solidFill>
              <a:srgbClr val="C8F751"/>
            </a:solidFill>
            <a:prstDash val="solid"/>
          </a:ln>
        </p:spPr>
        <p:txBody>
          <a:bodyPr/>
          <a:lstStyle/>
          <a:p>
            <a:endParaRPr lang="en-US"/>
          </a:p>
        </p:txBody>
      </p:sp>
      <p:sp>
        <p:nvSpPr>
          <p:cNvPr id="17" name="Text 15"/>
          <p:cNvSpPr/>
          <p:nvPr/>
        </p:nvSpPr>
        <p:spPr>
          <a:xfrm>
            <a:off x="868680" y="4069080"/>
            <a:ext cx="5212080" cy="292608"/>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AUDIT LOG  ·  APPEND-ONLY</a:t>
            </a:r>
            <a:endParaRPr lang="en-US" sz="1000" dirty="0"/>
          </a:p>
        </p:txBody>
      </p:sp>
      <p:sp>
        <p:nvSpPr>
          <p:cNvPr id="18" name="Text 16"/>
          <p:cNvSpPr/>
          <p:nvPr/>
        </p:nvSpPr>
        <p:spPr>
          <a:xfrm>
            <a:off x="868680" y="4361688"/>
            <a:ext cx="52120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Every privileged action becomes a permanent row</a:t>
            </a:r>
            <a:endParaRPr lang="en-US" sz="1300" dirty="0"/>
          </a:p>
        </p:txBody>
      </p:sp>
      <p:sp>
        <p:nvSpPr>
          <p:cNvPr id="19" name="Text 17"/>
          <p:cNvSpPr/>
          <p:nvPr/>
        </p:nvSpPr>
        <p:spPr>
          <a:xfrm>
            <a:off x="868680" y="4754880"/>
            <a:ext cx="5212080" cy="1508760"/>
          </a:xfrm>
          <a:prstGeom prst="rect">
            <a:avLst/>
          </a:prstGeom>
          <a:noFill/>
          <a:ln/>
        </p:spPr>
        <p:txBody>
          <a:bodyPr wrap="square" lIns="0" tIns="0" rIns="0" bIns="0" rtlCol="0" anchor="ctr"/>
          <a:lstStyle/>
          <a:p>
            <a:pPr marL="0" indent="0">
              <a:buNone/>
            </a:pPr>
            <a:r>
              <a:rPr lang="en-US" sz="1050" i="1" dirty="0">
                <a:solidFill>
                  <a:srgbClr val="F4E9D8"/>
                </a:solidFill>
                <a:latin typeface="Calibri" pitchFamily="34" charset="0"/>
                <a:ea typeface="Calibri" pitchFamily="34" charset="-122"/>
                <a:cs typeface="Calibri" pitchFamily="34" charset="-120"/>
              </a:rPr>
              <a:t>Whenever an admin verifies a crime, edits a user, or uploads a FIR, we write a row to the audit_logs table — capturing who did it, when, from which IP, and what changed. There is no UPDATE or DELETE path on this table by design — once written, the record stays, so any tampering is obvious.</a:t>
            </a:r>
            <a:endParaRPr lang="en-US" sz="1050" dirty="0"/>
          </a:p>
        </p:txBody>
      </p:sp>
      <p:sp>
        <p:nvSpPr>
          <p:cNvPr id="20" name="Shape 18"/>
          <p:cNvSpPr/>
          <p:nvPr/>
        </p:nvSpPr>
        <p:spPr>
          <a:xfrm>
            <a:off x="6355080" y="3950208"/>
            <a:ext cx="5349240" cy="2377440"/>
          </a:xfrm>
          <a:prstGeom prst="rect">
            <a:avLst/>
          </a:prstGeom>
          <a:solidFill>
            <a:srgbClr val="121C3A"/>
          </a:solidFill>
          <a:ln w="9525">
            <a:solidFill>
              <a:srgbClr val="2A3A6E"/>
            </a:solidFill>
            <a:prstDash val="solid"/>
          </a:ln>
        </p:spPr>
        <p:txBody>
          <a:bodyPr/>
          <a:lstStyle/>
          <a:p>
            <a:endParaRPr lang="en-US"/>
          </a:p>
        </p:txBody>
      </p:sp>
      <p:sp>
        <p:nvSpPr>
          <p:cNvPr id="21" name="Shape 19"/>
          <p:cNvSpPr/>
          <p:nvPr/>
        </p:nvSpPr>
        <p:spPr>
          <a:xfrm>
            <a:off x="6355080" y="3950208"/>
            <a:ext cx="64008" cy="2377440"/>
          </a:xfrm>
          <a:prstGeom prst="rect">
            <a:avLst/>
          </a:prstGeom>
          <a:solidFill>
            <a:srgbClr val="C8F751"/>
          </a:solidFill>
          <a:ln w="12700">
            <a:solidFill>
              <a:srgbClr val="C8F751"/>
            </a:solidFill>
            <a:prstDash val="solid"/>
          </a:ln>
        </p:spPr>
        <p:txBody>
          <a:bodyPr/>
          <a:lstStyle/>
          <a:p>
            <a:endParaRPr lang="en-US"/>
          </a:p>
        </p:txBody>
      </p:sp>
      <p:sp>
        <p:nvSpPr>
          <p:cNvPr id="22" name="Text 20"/>
          <p:cNvSpPr/>
          <p:nvPr/>
        </p:nvSpPr>
        <p:spPr>
          <a:xfrm>
            <a:off x="6583680" y="4069080"/>
            <a:ext cx="5029200" cy="292608"/>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SUPER-ADMIN APPROVAL GATE</a:t>
            </a:r>
            <a:endParaRPr lang="en-US" sz="1000" dirty="0"/>
          </a:p>
        </p:txBody>
      </p:sp>
      <p:sp>
        <p:nvSpPr>
          <p:cNvPr id="23" name="Text 21"/>
          <p:cNvSpPr/>
          <p:nvPr/>
        </p:nvSpPr>
        <p:spPr>
          <a:xfrm>
            <a:off x="6583680" y="4361688"/>
            <a:ext cx="50292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6 sensitive actions need a 2nd person to approve</a:t>
            </a:r>
            <a:endParaRPr lang="en-US" sz="1300" dirty="0"/>
          </a:p>
        </p:txBody>
      </p:sp>
      <p:sp>
        <p:nvSpPr>
          <p:cNvPr id="24" name="Text 22"/>
          <p:cNvSpPr/>
          <p:nvPr/>
        </p:nvSpPr>
        <p:spPr>
          <a:xfrm>
            <a:off x="6583680" y="4754880"/>
            <a:ext cx="5029200" cy="1508760"/>
          </a:xfrm>
          <a:prstGeom prst="rect">
            <a:avLst/>
          </a:prstGeom>
          <a:noFill/>
          <a:ln/>
        </p:spPr>
        <p:txBody>
          <a:bodyPr wrap="square" lIns="0" tIns="0" rIns="0" bIns="0" rtlCol="0" anchor="ctr"/>
          <a:lstStyle/>
          <a:p>
            <a:pPr marL="0" indent="0">
              <a:buNone/>
            </a:pPr>
            <a:r>
              <a:rPr lang="en-US" sz="1050" i="1" dirty="0">
                <a:solidFill>
                  <a:srgbClr val="F4E9D8"/>
                </a:solidFill>
                <a:latin typeface="Calibri" pitchFamily="34" charset="0"/>
                <a:ea typeface="Calibri" pitchFamily="34" charset="-122"/>
                <a:cs typeface="Calibri" pitchFamily="34" charset="-120"/>
              </a:rPr>
              <a:t>Dangerous actions like 'delete a user' or 'promote someone to super-admin' don't happen instantly. They sit in a pending state until a second super-admin reviews and approves. This protects against a single compromised account doing damage on its own.</a:t>
            </a:r>
            <a:endParaRPr lang="en-US" sz="1050" dirty="0"/>
          </a:p>
        </p:txBody>
      </p:sp>
      <p:sp>
        <p:nvSpPr>
          <p:cNvPr id="25" name="Text 23"/>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26" name="Text 24"/>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13 / 28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DEFENSIVE LAYERS</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Brute-force throttle and duplicate-FIR detector</a:t>
            </a:r>
            <a:endParaRPr lang="en-US" sz="1200" dirty="0"/>
          </a:p>
        </p:txBody>
      </p:sp>
      <p:sp>
        <p:nvSpPr>
          <p:cNvPr id="5" name="Shape 3"/>
          <p:cNvSpPr/>
          <p:nvPr/>
        </p:nvSpPr>
        <p:spPr>
          <a:xfrm>
            <a:off x="640080" y="1371600"/>
            <a:ext cx="553212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08760"/>
            <a:ext cx="521208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LOGIN THROTTLE</a:t>
            </a:r>
            <a:endParaRPr lang="en-US" sz="1000" dirty="0"/>
          </a:p>
        </p:txBody>
      </p:sp>
      <p:sp>
        <p:nvSpPr>
          <p:cNvPr id="8" name="Text 6"/>
          <p:cNvSpPr/>
          <p:nvPr/>
        </p:nvSpPr>
        <p:spPr>
          <a:xfrm>
            <a:off x="868680" y="1801368"/>
            <a:ext cx="52120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Stops password-guessing attacks at the door</a:t>
            </a:r>
            <a:endParaRPr lang="en-US" sz="1400" dirty="0"/>
          </a:p>
        </p:txBody>
      </p:sp>
      <p:sp>
        <p:nvSpPr>
          <p:cNvPr id="9" name="Shape 7"/>
          <p:cNvSpPr/>
          <p:nvPr/>
        </p:nvSpPr>
        <p:spPr>
          <a:xfrm>
            <a:off x="868680" y="2286000"/>
            <a:ext cx="5074920" cy="777240"/>
          </a:xfrm>
          <a:prstGeom prst="rect">
            <a:avLst/>
          </a:prstGeom>
          <a:solidFill>
            <a:srgbClr val="0A1228"/>
          </a:solidFill>
          <a:ln w="6350">
            <a:solidFill>
              <a:srgbClr val="2A3A6E"/>
            </a:solidFill>
            <a:prstDash val="solid"/>
          </a:ln>
        </p:spPr>
        <p:txBody>
          <a:bodyPr/>
          <a:lstStyle/>
          <a:p>
            <a:endParaRPr lang="en-US"/>
          </a:p>
        </p:txBody>
      </p:sp>
      <p:sp>
        <p:nvSpPr>
          <p:cNvPr id="10" name="Text 8"/>
          <p:cNvSpPr/>
          <p:nvPr/>
        </p:nvSpPr>
        <p:spPr>
          <a:xfrm>
            <a:off x="1005840" y="2377440"/>
            <a:ext cx="1554480" cy="594360"/>
          </a:xfrm>
          <a:prstGeom prst="rect">
            <a:avLst/>
          </a:prstGeom>
          <a:noFill/>
          <a:ln/>
        </p:spPr>
        <p:txBody>
          <a:bodyPr wrap="square" lIns="0" tIns="0" rIns="0" bIns="0" rtlCol="0" anchor="ctr"/>
          <a:lstStyle/>
          <a:p>
            <a:pPr marL="0" indent="0" algn="ctr">
              <a:buNone/>
            </a:pPr>
            <a:r>
              <a:rPr lang="en-US" sz="2800" b="1" dirty="0">
                <a:solidFill>
                  <a:srgbClr val="C8F751"/>
                </a:solidFill>
                <a:latin typeface="Calibri" pitchFamily="34" charset="0"/>
                <a:ea typeface="Calibri" pitchFamily="34" charset="-122"/>
                <a:cs typeface="Calibri" pitchFamily="34" charset="-120"/>
              </a:rPr>
              <a:t>5</a:t>
            </a:r>
            <a:endParaRPr lang="en-US" sz="2800" dirty="0"/>
          </a:p>
        </p:txBody>
      </p:sp>
      <p:sp>
        <p:nvSpPr>
          <p:cNvPr id="11" name="Text 9"/>
          <p:cNvSpPr/>
          <p:nvPr/>
        </p:nvSpPr>
        <p:spPr>
          <a:xfrm>
            <a:off x="2606040" y="2404872"/>
            <a:ext cx="32004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max attempts</a:t>
            </a:r>
            <a:endParaRPr lang="en-US" sz="1300" dirty="0"/>
          </a:p>
        </p:txBody>
      </p:sp>
      <p:sp>
        <p:nvSpPr>
          <p:cNvPr id="12" name="Text 10"/>
          <p:cNvSpPr/>
          <p:nvPr/>
        </p:nvSpPr>
        <p:spPr>
          <a:xfrm>
            <a:off x="2606040" y="2697480"/>
            <a:ext cx="3200400" cy="36576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before account is locked</a:t>
            </a:r>
            <a:endParaRPr lang="en-US" sz="1050" dirty="0"/>
          </a:p>
        </p:txBody>
      </p:sp>
      <p:sp>
        <p:nvSpPr>
          <p:cNvPr id="13" name="Shape 11"/>
          <p:cNvSpPr/>
          <p:nvPr/>
        </p:nvSpPr>
        <p:spPr>
          <a:xfrm>
            <a:off x="868680" y="3154680"/>
            <a:ext cx="5074920" cy="777240"/>
          </a:xfrm>
          <a:prstGeom prst="rect">
            <a:avLst/>
          </a:prstGeom>
          <a:solidFill>
            <a:srgbClr val="0A1228"/>
          </a:solidFill>
          <a:ln w="6350">
            <a:solidFill>
              <a:srgbClr val="2A3A6E"/>
            </a:solidFill>
            <a:prstDash val="solid"/>
          </a:ln>
        </p:spPr>
        <p:txBody>
          <a:bodyPr/>
          <a:lstStyle/>
          <a:p>
            <a:endParaRPr lang="en-US"/>
          </a:p>
        </p:txBody>
      </p:sp>
      <p:sp>
        <p:nvSpPr>
          <p:cNvPr id="14" name="Text 12"/>
          <p:cNvSpPr/>
          <p:nvPr/>
        </p:nvSpPr>
        <p:spPr>
          <a:xfrm>
            <a:off x="1005840" y="3246120"/>
            <a:ext cx="1554480" cy="594360"/>
          </a:xfrm>
          <a:prstGeom prst="rect">
            <a:avLst/>
          </a:prstGeom>
          <a:noFill/>
          <a:ln/>
        </p:spPr>
        <p:txBody>
          <a:bodyPr wrap="square" lIns="0" tIns="0" rIns="0" bIns="0" rtlCol="0" anchor="ctr"/>
          <a:lstStyle/>
          <a:p>
            <a:pPr marL="0" indent="0" algn="ctr">
              <a:buNone/>
            </a:pPr>
            <a:r>
              <a:rPr lang="en-US" sz="2800" b="1" dirty="0">
                <a:solidFill>
                  <a:srgbClr val="C8F751"/>
                </a:solidFill>
                <a:latin typeface="Calibri" pitchFamily="34" charset="0"/>
                <a:ea typeface="Calibri" pitchFamily="34" charset="-122"/>
                <a:cs typeface="Calibri" pitchFamily="34" charset="-120"/>
              </a:rPr>
              <a:t>30 min</a:t>
            </a:r>
            <a:endParaRPr lang="en-US" sz="2800" dirty="0"/>
          </a:p>
        </p:txBody>
      </p:sp>
      <p:sp>
        <p:nvSpPr>
          <p:cNvPr id="15" name="Text 13"/>
          <p:cNvSpPr/>
          <p:nvPr/>
        </p:nvSpPr>
        <p:spPr>
          <a:xfrm>
            <a:off x="2606040" y="3273552"/>
            <a:ext cx="32004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lockout window</a:t>
            </a:r>
            <a:endParaRPr lang="en-US" sz="1300" dirty="0"/>
          </a:p>
        </p:txBody>
      </p:sp>
      <p:sp>
        <p:nvSpPr>
          <p:cNvPr id="16" name="Text 14"/>
          <p:cNvSpPr/>
          <p:nvPr/>
        </p:nvSpPr>
        <p:spPr>
          <a:xfrm>
            <a:off x="2606040" y="3566160"/>
            <a:ext cx="3200400" cy="36576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default lock duration</a:t>
            </a:r>
            <a:endParaRPr lang="en-US" sz="1050" dirty="0"/>
          </a:p>
        </p:txBody>
      </p:sp>
      <p:sp>
        <p:nvSpPr>
          <p:cNvPr id="17" name="Shape 15"/>
          <p:cNvSpPr/>
          <p:nvPr/>
        </p:nvSpPr>
        <p:spPr>
          <a:xfrm>
            <a:off x="868680" y="4023360"/>
            <a:ext cx="5074920" cy="777240"/>
          </a:xfrm>
          <a:prstGeom prst="rect">
            <a:avLst/>
          </a:prstGeom>
          <a:solidFill>
            <a:srgbClr val="0A1228"/>
          </a:solidFill>
          <a:ln w="6350">
            <a:solidFill>
              <a:srgbClr val="2A3A6E"/>
            </a:solidFill>
            <a:prstDash val="solid"/>
          </a:ln>
        </p:spPr>
        <p:txBody>
          <a:bodyPr/>
          <a:lstStyle/>
          <a:p>
            <a:endParaRPr lang="en-US"/>
          </a:p>
        </p:txBody>
      </p:sp>
      <p:sp>
        <p:nvSpPr>
          <p:cNvPr id="18" name="Text 16"/>
          <p:cNvSpPr/>
          <p:nvPr/>
        </p:nvSpPr>
        <p:spPr>
          <a:xfrm>
            <a:off x="1005840" y="4114800"/>
            <a:ext cx="1554480" cy="594360"/>
          </a:xfrm>
          <a:prstGeom prst="rect">
            <a:avLst/>
          </a:prstGeom>
          <a:noFill/>
          <a:ln/>
        </p:spPr>
        <p:txBody>
          <a:bodyPr wrap="square" lIns="0" tIns="0" rIns="0" bIns="0" rtlCol="0" anchor="ctr"/>
          <a:lstStyle/>
          <a:p>
            <a:pPr marL="0" indent="0" algn="ctr">
              <a:buNone/>
            </a:pPr>
            <a:r>
              <a:rPr lang="en-US" sz="2800" b="1" dirty="0">
                <a:solidFill>
                  <a:srgbClr val="C8F751"/>
                </a:solidFill>
                <a:latin typeface="Calibri" pitchFamily="34" charset="0"/>
                <a:ea typeface="Calibri" pitchFamily="34" charset="-122"/>
                <a:cs typeface="Calibri" pitchFamily="34" charset="-120"/>
              </a:rPr>
              <a:t>30 min</a:t>
            </a:r>
            <a:endParaRPr lang="en-US" sz="2800" dirty="0"/>
          </a:p>
        </p:txBody>
      </p:sp>
      <p:sp>
        <p:nvSpPr>
          <p:cNvPr id="19" name="Text 17"/>
          <p:cNvSpPr/>
          <p:nvPr/>
        </p:nvSpPr>
        <p:spPr>
          <a:xfrm>
            <a:off x="2606040" y="4142232"/>
            <a:ext cx="32004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attempt window</a:t>
            </a:r>
            <a:endParaRPr lang="en-US" sz="1300" dirty="0"/>
          </a:p>
        </p:txBody>
      </p:sp>
      <p:sp>
        <p:nvSpPr>
          <p:cNvPr id="20" name="Text 18"/>
          <p:cNvSpPr/>
          <p:nvPr/>
        </p:nvSpPr>
        <p:spPr>
          <a:xfrm>
            <a:off x="2606040" y="4434840"/>
            <a:ext cx="3200400" cy="36576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rolling counter</a:t>
            </a:r>
            <a:endParaRPr lang="en-US" sz="1050" dirty="0"/>
          </a:p>
        </p:txBody>
      </p:sp>
      <p:sp>
        <p:nvSpPr>
          <p:cNvPr id="21" name="Text 19"/>
          <p:cNvSpPr/>
          <p:nvPr/>
        </p:nvSpPr>
        <p:spPr>
          <a:xfrm>
            <a:off x="868680" y="5029200"/>
            <a:ext cx="5074920" cy="1188720"/>
          </a:xfrm>
          <a:prstGeom prst="rect">
            <a:avLst/>
          </a:prstGeom>
          <a:noFill/>
          <a:ln/>
        </p:spPr>
        <p:txBody>
          <a:bodyPr wrap="square" lIns="0" tIns="0" rIns="0" bIns="0" rtlCol="0" anchor="ctr"/>
          <a:lstStyle/>
          <a:p>
            <a:pPr marL="0" indent="0">
              <a:buNone/>
            </a:pPr>
            <a:r>
              <a:rPr lang="en-US" sz="1050" i="1" dirty="0">
                <a:solidFill>
                  <a:srgbClr val="F4E9D8"/>
                </a:solidFill>
                <a:latin typeface="Calibri" pitchFamily="34" charset="0"/>
                <a:ea typeface="Calibri" pitchFamily="34" charset="-122"/>
                <a:cs typeface="Calibri" pitchFamily="34" charset="-120"/>
              </a:rPr>
              <a:t>If a hacker tries to guess a password, after 5 wrong tries the account is locked for 30 minutes — even if they have the right password on the 6th try. This single rule defeats automated brute-force attacks.</a:t>
            </a:r>
            <a:endParaRPr lang="en-US" sz="1050" dirty="0"/>
          </a:p>
        </p:txBody>
      </p:sp>
      <p:sp>
        <p:nvSpPr>
          <p:cNvPr id="22" name="Shape 20"/>
          <p:cNvSpPr/>
          <p:nvPr/>
        </p:nvSpPr>
        <p:spPr>
          <a:xfrm>
            <a:off x="6355080" y="1371600"/>
            <a:ext cx="5349240" cy="4937760"/>
          </a:xfrm>
          <a:prstGeom prst="rect">
            <a:avLst/>
          </a:prstGeom>
          <a:solidFill>
            <a:srgbClr val="121C3A"/>
          </a:solidFill>
          <a:ln w="9525">
            <a:solidFill>
              <a:srgbClr val="2A3A6E"/>
            </a:solidFill>
            <a:prstDash val="solid"/>
          </a:ln>
        </p:spPr>
        <p:txBody>
          <a:bodyPr/>
          <a:lstStyle/>
          <a:p>
            <a:endParaRPr lang="en-US"/>
          </a:p>
        </p:txBody>
      </p:sp>
      <p:sp>
        <p:nvSpPr>
          <p:cNvPr id="23" name="Shape 21"/>
          <p:cNvSpPr/>
          <p:nvPr/>
        </p:nvSpPr>
        <p:spPr>
          <a:xfrm>
            <a:off x="6355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24" name="Text 22"/>
          <p:cNvSpPr/>
          <p:nvPr/>
        </p:nvSpPr>
        <p:spPr>
          <a:xfrm>
            <a:off x="6583680" y="1508760"/>
            <a:ext cx="502920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DUPLICATE FIR DETECTOR</a:t>
            </a:r>
            <a:endParaRPr lang="en-US" sz="1000" dirty="0"/>
          </a:p>
        </p:txBody>
      </p:sp>
      <p:sp>
        <p:nvSpPr>
          <p:cNvPr id="25" name="Text 23"/>
          <p:cNvSpPr/>
          <p:nvPr/>
        </p:nvSpPr>
        <p:spPr>
          <a:xfrm>
            <a:off x="6583680" y="1801368"/>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Two-pass spatial-temporal match</a:t>
            </a:r>
            <a:endParaRPr lang="en-US" sz="1400" dirty="0"/>
          </a:p>
        </p:txBody>
      </p:sp>
      <p:sp>
        <p:nvSpPr>
          <p:cNvPr id="26" name="Text 24"/>
          <p:cNvSpPr/>
          <p:nvPr/>
        </p:nvSpPr>
        <p:spPr>
          <a:xfrm>
            <a:off x="6583680" y="2194560"/>
            <a:ext cx="5029200" cy="640080"/>
          </a:xfrm>
          <a:prstGeom prst="rect">
            <a:avLst/>
          </a:prstGeom>
          <a:noFill/>
          <a:ln/>
        </p:spPr>
        <p:txBody>
          <a:bodyPr wrap="square" lIns="0" tIns="0" rIns="0" bIns="0" rtlCol="0" anchor="ctr"/>
          <a:lstStyle/>
          <a:p>
            <a:pPr marL="0" indent="0">
              <a:buNone/>
            </a:pPr>
            <a:r>
              <a:rPr lang="en-US" sz="1100" dirty="0">
                <a:solidFill>
                  <a:srgbClr val="F4E9D8"/>
                </a:solidFill>
                <a:latin typeface="Calibri" pitchFamily="34" charset="0"/>
                <a:ea typeface="Calibri" pitchFamily="34" charset="-122"/>
                <a:cs typeface="Calibri" pitchFamily="34" charset="-120"/>
              </a:rPr>
              <a:t>Stops two admins from accidentally uploading the same FIR twice — caught before it skews our crime data.</a:t>
            </a:r>
            <a:endParaRPr lang="en-US" sz="1100" dirty="0"/>
          </a:p>
        </p:txBody>
      </p:sp>
      <p:sp>
        <p:nvSpPr>
          <p:cNvPr id="27" name="Shape 25"/>
          <p:cNvSpPr/>
          <p:nvPr/>
        </p:nvSpPr>
        <p:spPr>
          <a:xfrm>
            <a:off x="6583680" y="2926080"/>
            <a:ext cx="4937760" cy="1508760"/>
          </a:xfrm>
          <a:prstGeom prst="rect">
            <a:avLst/>
          </a:prstGeom>
          <a:solidFill>
            <a:srgbClr val="0A1228"/>
          </a:solidFill>
          <a:ln w="6350">
            <a:solidFill>
              <a:srgbClr val="2A3A6E"/>
            </a:solidFill>
            <a:prstDash val="solid"/>
          </a:ln>
        </p:spPr>
        <p:txBody>
          <a:bodyPr/>
          <a:lstStyle/>
          <a:p>
            <a:endParaRPr lang="en-US"/>
          </a:p>
        </p:txBody>
      </p:sp>
      <p:sp>
        <p:nvSpPr>
          <p:cNvPr id="28" name="Text 26"/>
          <p:cNvSpPr/>
          <p:nvPr/>
        </p:nvSpPr>
        <p:spPr>
          <a:xfrm>
            <a:off x="6720840" y="3017520"/>
            <a:ext cx="4663440" cy="274320"/>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PASS 1  ·  STRICT</a:t>
            </a:r>
            <a:endParaRPr lang="en-US" sz="1000" dirty="0"/>
          </a:p>
        </p:txBody>
      </p:sp>
      <p:sp>
        <p:nvSpPr>
          <p:cNvPr id="29" name="Text 27"/>
          <p:cNvSpPr/>
          <p:nvPr/>
        </p:nvSpPr>
        <p:spPr>
          <a:xfrm>
            <a:off x="6720840" y="3310128"/>
            <a:ext cx="4663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Same date + same time + locations within ~220 metres</a:t>
            </a:r>
            <a:endParaRPr lang="en-US" sz="1200" dirty="0"/>
          </a:p>
        </p:txBody>
      </p:sp>
      <p:sp>
        <p:nvSpPr>
          <p:cNvPr id="30" name="Text 28"/>
          <p:cNvSpPr/>
          <p:nvPr/>
        </p:nvSpPr>
        <p:spPr>
          <a:xfrm>
            <a:off x="6720840" y="3657600"/>
            <a:ext cx="4663440" cy="77724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Catches the obvious case: the exact same FIR was already uploaded by another admin. Reject before insert.</a:t>
            </a:r>
            <a:endParaRPr lang="en-US" sz="1000" dirty="0"/>
          </a:p>
        </p:txBody>
      </p:sp>
      <p:sp>
        <p:nvSpPr>
          <p:cNvPr id="31" name="Shape 29"/>
          <p:cNvSpPr/>
          <p:nvPr/>
        </p:nvSpPr>
        <p:spPr>
          <a:xfrm>
            <a:off x="6583680" y="4572000"/>
            <a:ext cx="4937760" cy="1508760"/>
          </a:xfrm>
          <a:prstGeom prst="rect">
            <a:avLst/>
          </a:prstGeom>
          <a:solidFill>
            <a:srgbClr val="0A1228"/>
          </a:solidFill>
          <a:ln w="6350">
            <a:solidFill>
              <a:srgbClr val="2A3A6E"/>
            </a:solidFill>
            <a:prstDash val="solid"/>
          </a:ln>
        </p:spPr>
        <p:txBody>
          <a:bodyPr/>
          <a:lstStyle/>
          <a:p>
            <a:endParaRPr lang="en-US"/>
          </a:p>
        </p:txBody>
      </p:sp>
      <p:sp>
        <p:nvSpPr>
          <p:cNvPr id="32" name="Text 30"/>
          <p:cNvSpPr/>
          <p:nvPr/>
        </p:nvSpPr>
        <p:spPr>
          <a:xfrm>
            <a:off x="6720840" y="4663440"/>
            <a:ext cx="4663440" cy="274320"/>
          </a:xfrm>
          <a:prstGeom prst="rect">
            <a:avLst/>
          </a:prstGeom>
          <a:noFill/>
          <a:ln/>
        </p:spPr>
        <p:txBody>
          <a:bodyPr wrap="square" lIns="0" tIns="0" rIns="0" bIns="0" rtlCol="0" anchor="ctr"/>
          <a:lstStyle/>
          <a:p>
            <a:pPr marL="0" indent="0">
              <a:buNone/>
            </a:pPr>
            <a:r>
              <a:rPr lang="en-US" sz="1000" b="1" kern="0" spc="300" dirty="0">
                <a:solidFill>
                  <a:srgbClr val="F5A524"/>
                </a:solidFill>
                <a:latin typeface="Calibri" pitchFamily="34" charset="0"/>
                <a:ea typeface="Calibri" pitchFamily="34" charset="-122"/>
                <a:cs typeface="Calibri" pitchFamily="34" charset="-120"/>
              </a:rPr>
              <a:t>PASS 2  ·  LOOSE</a:t>
            </a:r>
            <a:endParaRPr lang="en-US" sz="1000" dirty="0"/>
          </a:p>
        </p:txBody>
      </p:sp>
      <p:sp>
        <p:nvSpPr>
          <p:cNvPr id="33" name="Text 31"/>
          <p:cNvSpPr/>
          <p:nvPr/>
        </p:nvSpPr>
        <p:spPr>
          <a:xfrm>
            <a:off x="6720840" y="4956048"/>
            <a:ext cx="4663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Same date + locations within ~550 metres</a:t>
            </a:r>
            <a:endParaRPr lang="en-US" sz="1200" dirty="0"/>
          </a:p>
        </p:txBody>
      </p:sp>
      <p:sp>
        <p:nvSpPr>
          <p:cNvPr id="34" name="Text 32"/>
          <p:cNvSpPr/>
          <p:nvPr/>
        </p:nvSpPr>
        <p:spPr>
          <a:xfrm>
            <a:off x="6720840" y="5303520"/>
            <a:ext cx="4663440" cy="77724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Catches the looser case where OCR may have misread the time but the place and date still match.</a:t>
            </a:r>
            <a:endParaRPr lang="en-US" sz="1000" dirty="0"/>
          </a:p>
        </p:txBody>
      </p:sp>
      <p:sp>
        <p:nvSpPr>
          <p:cNvPr id="35" name="Text 33"/>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36" name="Text 34"/>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14 / 28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MACHINE LEARNING PIPELINE</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How three models turn a crime into a clear risk score</a:t>
            </a:r>
            <a:endParaRPr lang="en-US" sz="1200" dirty="0"/>
          </a:p>
        </p:txBody>
      </p:sp>
      <p:pic>
        <p:nvPicPr>
          <p:cNvPr id="5" name="Image 0" descr="/home/claude/gifs/ml_pipeline.gif"/>
          <p:cNvPicPr>
            <a:picLocks noChangeAspect="1"/>
          </p:cNvPicPr>
          <p:nvPr/>
        </p:nvPicPr>
        <p:blipFill>
          <a:blip r:embed="rId3"/>
          <a:stretch>
            <a:fillRect/>
          </a:stretch>
        </p:blipFill>
        <p:spPr>
          <a:xfrm>
            <a:off x="640080" y="1325880"/>
            <a:ext cx="11064240" cy="2057400"/>
          </a:xfrm>
          <a:prstGeom prst="rect">
            <a:avLst/>
          </a:prstGeom>
        </p:spPr>
      </p:pic>
      <p:sp>
        <p:nvSpPr>
          <p:cNvPr id="6" name="Shape 3"/>
          <p:cNvSpPr/>
          <p:nvPr/>
        </p:nvSpPr>
        <p:spPr>
          <a:xfrm>
            <a:off x="640080" y="3520440"/>
            <a:ext cx="5532120" cy="2788920"/>
          </a:xfrm>
          <a:prstGeom prst="rect">
            <a:avLst/>
          </a:prstGeom>
          <a:solidFill>
            <a:srgbClr val="121C3A"/>
          </a:solidFill>
          <a:ln w="9525">
            <a:solidFill>
              <a:srgbClr val="2A3A6E"/>
            </a:solidFill>
            <a:prstDash val="solid"/>
          </a:ln>
        </p:spPr>
        <p:txBody>
          <a:bodyPr/>
          <a:lstStyle/>
          <a:p>
            <a:endParaRPr lang="en-US"/>
          </a:p>
        </p:txBody>
      </p:sp>
      <p:sp>
        <p:nvSpPr>
          <p:cNvPr id="7" name="Shape 4"/>
          <p:cNvSpPr/>
          <p:nvPr/>
        </p:nvSpPr>
        <p:spPr>
          <a:xfrm>
            <a:off x="640080" y="3520440"/>
            <a:ext cx="64008" cy="2788920"/>
          </a:xfrm>
          <a:prstGeom prst="rect">
            <a:avLst/>
          </a:prstGeom>
          <a:solidFill>
            <a:srgbClr val="C8F751"/>
          </a:solidFill>
          <a:ln w="12700">
            <a:solidFill>
              <a:srgbClr val="C8F751"/>
            </a:solidFill>
            <a:prstDash val="solid"/>
          </a:ln>
        </p:spPr>
        <p:txBody>
          <a:bodyPr/>
          <a:lstStyle/>
          <a:p>
            <a:endParaRPr lang="en-US"/>
          </a:p>
        </p:txBody>
      </p:sp>
      <p:sp>
        <p:nvSpPr>
          <p:cNvPr id="8" name="Text 5"/>
          <p:cNvSpPr/>
          <p:nvPr/>
        </p:nvSpPr>
        <p:spPr>
          <a:xfrm>
            <a:off x="868680" y="3657600"/>
            <a:ext cx="521208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WHY THREE MODELS WORK BEST</a:t>
            </a:r>
            <a:endParaRPr lang="en-US" sz="1000" dirty="0"/>
          </a:p>
        </p:txBody>
      </p:sp>
      <p:sp>
        <p:nvSpPr>
          <p:cNvPr id="9" name="Text 6"/>
          <p:cNvSpPr/>
          <p:nvPr/>
        </p:nvSpPr>
        <p:spPr>
          <a:xfrm>
            <a:off x="868680" y="3977640"/>
            <a:ext cx="5212080" cy="2286000"/>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Random Forest</a:t>
            </a:r>
            <a:endParaRPr lang="en-US" sz="1200" dirty="0"/>
          </a:p>
          <a:p>
            <a:pPr marL="0" indent="0">
              <a:spcAft>
                <a:spcPts val="800"/>
              </a:spcAft>
              <a:buNone/>
            </a:pPr>
            <a:r>
              <a:rPr lang="en-US" sz="1100" dirty="0">
                <a:solidFill>
                  <a:srgbClr val="F4E9D8"/>
                </a:solidFill>
                <a:latin typeface="Calibri" pitchFamily="34" charset="0"/>
                <a:ea typeface="Calibri" pitchFamily="34" charset="-122"/>
                <a:cs typeface="Calibri" pitchFamily="34" charset="-120"/>
              </a:rPr>
              <a:t>looks at crime history and decides whether the case is High, Medium, or Low. It is fast and reliable, but it does not give a percentage chance for the next hour.</a:t>
            </a:r>
            <a:endParaRPr lang="en-US" sz="1200" dirty="0"/>
          </a:p>
          <a:p>
            <a:pPr marL="0" indent="0">
              <a:buNone/>
            </a:pPr>
            <a:r>
              <a:rPr lang="en-US" sz="1200" b="1" dirty="0">
                <a:solidFill>
                  <a:srgbClr val="C8F751"/>
                </a:solidFill>
                <a:latin typeface="Calibri" pitchFamily="34" charset="0"/>
                <a:ea typeface="Calibri" pitchFamily="34" charset="-122"/>
                <a:cs typeface="Calibri" pitchFamily="34" charset="-120"/>
              </a:rPr>
              <a:t>Poisson estimator</a:t>
            </a:r>
            <a:endParaRPr lang="en-US" sz="1200" dirty="0"/>
          </a:p>
          <a:p>
            <a:pPr marL="0" indent="0">
              <a:spcAft>
                <a:spcPts val="800"/>
              </a:spcAft>
              <a:buNone/>
            </a:pPr>
            <a:r>
              <a:rPr lang="en-US" sz="1100" dirty="0">
                <a:solidFill>
                  <a:srgbClr val="F4E9D8"/>
                </a:solidFill>
                <a:latin typeface="Calibri" pitchFamily="34" charset="0"/>
                <a:ea typeface="Calibri" pitchFamily="34" charset="-122"/>
                <a:cs typeface="Calibri" pitchFamily="34" charset="-120"/>
              </a:rPr>
              <a:t>gives the percentage chance for the next hour. It is excellent for timing, but by itself it does not give a crisp High, Medium, or Low label.</a:t>
            </a:r>
            <a:endParaRPr lang="en-US" sz="1200" dirty="0"/>
          </a:p>
          <a:p>
            <a:pPr marL="0" indent="0">
              <a:buNone/>
            </a:pPr>
            <a:r>
              <a:rPr lang="en-US" sz="1200" b="1" dirty="0">
                <a:solidFill>
                  <a:srgbClr val="C8F751"/>
                </a:solidFill>
                <a:latin typeface="Calibri" pitchFamily="34" charset="0"/>
                <a:ea typeface="Calibri" pitchFamily="34" charset="-122"/>
                <a:cs typeface="Calibri" pitchFamily="34" charset="-120"/>
              </a:rPr>
              <a:t>Together</a:t>
            </a:r>
            <a:endParaRPr lang="en-US" sz="1200" dirty="0"/>
          </a:p>
          <a:p>
            <a:pPr marL="0" indent="0">
              <a:buNone/>
            </a:pPr>
            <a:r>
              <a:rPr lang="en-US" sz="1100" dirty="0">
                <a:solidFill>
                  <a:srgbClr val="F4E9D8"/>
                </a:solidFill>
                <a:latin typeface="Calibri" pitchFamily="34" charset="0"/>
                <a:ea typeface="Calibri" pitchFamily="34" charset="-122"/>
                <a:cs typeface="Calibri" pitchFamily="34" charset="-120"/>
              </a:rPr>
              <a:t>Model 3 is the legacy fallback. If the newer models cannot load, we still return a safe answer so the app never breaks.</a:t>
            </a:r>
            <a:endParaRPr lang="en-US" sz="1200" dirty="0"/>
          </a:p>
        </p:txBody>
      </p:sp>
      <p:sp>
        <p:nvSpPr>
          <p:cNvPr id="10" name="Shape 7"/>
          <p:cNvSpPr/>
          <p:nvPr/>
        </p:nvSpPr>
        <p:spPr>
          <a:xfrm>
            <a:off x="6355080" y="3520440"/>
            <a:ext cx="5349240" cy="2788920"/>
          </a:xfrm>
          <a:prstGeom prst="rect">
            <a:avLst/>
          </a:prstGeom>
          <a:solidFill>
            <a:srgbClr val="121C3A"/>
          </a:solidFill>
          <a:ln w="9525">
            <a:solidFill>
              <a:srgbClr val="2A3A6E"/>
            </a:solidFill>
            <a:prstDash val="solid"/>
          </a:ln>
        </p:spPr>
        <p:txBody>
          <a:bodyPr/>
          <a:lstStyle/>
          <a:p>
            <a:endParaRPr lang="en-US"/>
          </a:p>
        </p:txBody>
      </p:sp>
      <p:sp>
        <p:nvSpPr>
          <p:cNvPr id="11" name="Shape 8"/>
          <p:cNvSpPr/>
          <p:nvPr/>
        </p:nvSpPr>
        <p:spPr>
          <a:xfrm>
            <a:off x="6355080" y="3520440"/>
            <a:ext cx="64008" cy="2788920"/>
          </a:xfrm>
          <a:prstGeom prst="rect">
            <a:avLst/>
          </a:prstGeom>
          <a:solidFill>
            <a:srgbClr val="C8F751"/>
          </a:solidFill>
          <a:ln w="12700">
            <a:solidFill>
              <a:srgbClr val="C8F751"/>
            </a:solidFill>
            <a:prstDash val="solid"/>
          </a:ln>
        </p:spPr>
        <p:txBody>
          <a:bodyPr/>
          <a:lstStyle/>
          <a:p>
            <a:endParaRPr lang="en-US"/>
          </a:p>
        </p:txBody>
      </p:sp>
      <p:sp>
        <p:nvSpPr>
          <p:cNvPr id="12" name="Text 9"/>
          <p:cNvSpPr/>
          <p:nvPr/>
        </p:nvSpPr>
        <p:spPr>
          <a:xfrm>
            <a:off x="6583680" y="3657600"/>
            <a:ext cx="502920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HOW FAST IS IT?</a:t>
            </a:r>
            <a:endParaRPr lang="en-US" sz="1000" dirty="0"/>
          </a:p>
        </p:txBody>
      </p:sp>
      <p:sp>
        <p:nvSpPr>
          <p:cNvPr id="13" name="Text 10"/>
          <p:cNvSpPr/>
          <p:nvPr/>
        </p:nvSpPr>
        <p:spPr>
          <a:xfrm>
            <a:off x="6583680" y="4023360"/>
            <a:ext cx="155448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Cold start</a:t>
            </a:r>
            <a:endParaRPr lang="en-US" sz="1100" dirty="0"/>
          </a:p>
        </p:txBody>
      </p:sp>
      <p:sp>
        <p:nvSpPr>
          <p:cNvPr id="14" name="Text 11"/>
          <p:cNvSpPr/>
          <p:nvPr/>
        </p:nvSpPr>
        <p:spPr>
          <a:xfrm>
            <a:off x="8183880" y="4023360"/>
            <a:ext cx="1280160" cy="411480"/>
          </a:xfrm>
          <a:prstGeom prst="rect">
            <a:avLst/>
          </a:prstGeom>
          <a:noFill/>
          <a:ln/>
        </p:spPr>
        <p:txBody>
          <a:bodyPr wrap="square" lIns="0" tIns="0" rIns="0" bIns="0" rtlCol="0" anchor="ctr"/>
          <a:lstStyle/>
          <a:p>
            <a:pPr marL="0" indent="0">
              <a:buNone/>
            </a:pPr>
            <a:r>
              <a:rPr lang="en-US" sz="1300" b="1" dirty="0">
                <a:solidFill>
                  <a:srgbClr val="C8F751"/>
                </a:solidFill>
                <a:latin typeface="Consolas" pitchFamily="34" charset="0"/>
                <a:ea typeface="Consolas" pitchFamily="34" charset="-122"/>
                <a:cs typeface="Consolas" pitchFamily="34" charset="-120"/>
              </a:rPr>
              <a:t>≈ 22s</a:t>
            </a:r>
            <a:endParaRPr lang="en-US" sz="1300" dirty="0"/>
          </a:p>
        </p:txBody>
      </p:sp>
      <p:sp>
        <p:nvSpPr>
          <p:cNvPr id="15" name="Text 12"/>
          <p:cNvSpPr/>
          <p:nvPr/>
        </p:nvSpPr>
        <p:spPr>
          <a:xfrm>
            <a:off x="9509760" y="4023360"/>
            <a:ext cx="2103120" cy="411480"/>
          </a:xfrm>
          <a:prstGeom prst="rect">
            <a:avLst/>
          </a:prstGeom>
          <a:noFill/>
          <a:ln/>
        </p:spPr>
        <p:txBody>
          <a:bodyPr wrap="square" lIns="0" tIns="0" rIns="0" bIns="0" rtlCol="0" anchor="ctr"/>
          <a:lstStyle/>
          <a:p>
            <a:pPr marL="0" indent="0">
              <a:buNone/>
            </a:pPr>
            <a:r>
              <a:rPr lang="en-US" sz="950" i="1" dirty="0">
                <a:solidFill>
                  <a:srgbClr val="F4E9D8"/>
                </a:solidFill>
                <a:latin typeface="Calibri" pitchFamily="34" charset="0"/>
                <a:ea typeface="Calibri" pitchFamily="34" charset="-122"/>
                <a:cs typeface="Calibri" pitchFamily="34" charset="-120"/>
              </a:rPr>
              <a:t>First request loads model from disk</a:t>
            </a:r>
            <a:endParaRPr lang="en-US" sz="950" dirty="0"/>
          </a:p>
        </p:txBody>
      </p:sp>
      <p:sp>
        <p:nvSpPr>
          <p:cNvPr id="16" name="Text 13"/>
          <p:cNvSpPr/>
          <p:nvPr/>
        </p:nvSpPr>
        <p:spPr>
          <a:xfrm>
            <a:off x="6583680" y="4526280"/>
            <a:ext cx="155448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Typical response</a:t>
            </a:r>
            <a:endParaRPr lang="en-US" sz="1100" dirty="0"/>
          </a:p>
        </p:txBody>
      </p:sp>
      <p:sp>
        <p:nvSpPr>
          <p:cNvPr id="17" name="Text 14"/>
          <p:cNvSpPr/>
          <p:nvPr/>
        </p:nvSpPr>
        <p:spPr>
          <a:xfrm>
            <a:off x="8183880" y="4526280"/>
            <a:ext cx="1280160" cy="411480"/>
          </a:xfrm>
          <a:prstGeom prst="rect">
            <a:avLst/>
          </a:prstGeom>
          <a:noFill/>
          <a:ln/>
        </p:spPr>
        <p:txBody>
          <a:bodyPr wrap="square" lIns="0" tIns="0" rIns="0" bIns="0" rtlCol="0" anchor="ctr"/>
          <a:lstStyle/>
          <a:p>
            <a:pPr marL="0" indent="0">
              <a:buNone/>
            </a:pPr>
            <a:r>
              <a:rPr lang="en-US" sz="1300" b="1" dirty="0">
                <a:solidFill>
                  <a:srgbClr val="C8F751"/>
                </a:solidFill>
                <a:latin typeface="Consolas" pitchFamily="34" charset="0"/>
                <a:ea typeface="Consolas" pitchFamily="34" charset="-122"/>
                <a:cs typeface="Consolas" pitchFamily="34" charset="-120"/>
              </a:rPr>
              <a:t>≈ 120ms</a:t>
            </a:r>
            <a:endParaRPr lang="en-US" sz="1300" dirty="0"/>
          </a:p>
        </p:txBody>
      </p:sp>
      <p:sp>
        <p:nvSpPr>
          <p:cNvPr id="18" name="Text 15"/>
          <p:cNvSpPr/>
          <p:nvPr/>
        </p:nvSpPr>
        <p:spPr>
          <a:xfrm>
            <a:off x="9509760" y="4526280"/>
            <a:ext cx="2103120" cy="411480"/>
          </a:xfrm>
          <a:prstGeom prst="rect">
            <a:avLst/>
          </a:prstGeom>
          <a:noFill/>
          <a:ln/>
        </p:spPr>
        <p:txBody>
          <a:bodyPr wrap="square" lIns="0" tIns="0" rIns="0" bIns="0" rtlCol="0" anchor="ctr"/>
          <a:lstStyle/>
          <a:p>
            <a:pPr marL="0" indent="0">
              <a:buNone/>
            </a:pPr>
            <a:r>
              <a:rPr lang="en-US" sz="950" i="1" dirty="0">
                <a:solidFill>
                  <a:srgbClr val="F4E9D8"/>
                </a:solidFill>
                <a:latin typeface="Calibri" pitchFamily="34" charset="0"/>
                <a:ea typeface="Calibri" pitchFamily="34" charset="-122"/>
                <a:cs typeface="Calibri" pitchFamily="34" charset="-120"/>
              </a:rPr>
              <a:t>Median prediction latency</a:t>
            </a:r>
            <a:endParaRPr lang="en-US" sz="950" dirty="0"/>
          </a:p>
        </p:txBody>
      </p:sp>
      <p:sp>
        <p:nvSpPr>
          <p:cNvPr id="19" name="Text 16"/>
          <p:cNvSpPr/>
          <p:nvPr/>
        </p:nvSpPr>
        <p:spPr>
          <a:xfrm>
            <a:off x="6583680" y="5029200"/>
            <a:ext cx="155448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Worst case</a:t>
            </a:r>
            <a:endParaRPr lang="en-US" sz="1100" dirty="0"/>
          </a:p>
        </p:txBody>
      </p:sp>
      <p:sp>
        <p:nvSpPr>
          <p:cNvPr id="20" name="Text 17"/>
          <p:cNvSpPr/>
          <p:nvPr/>
        </p:nvSpPr>
        <p:spPr>
          <a:xfrm>
            <a:off x="8183880" y="5029200"/>
            <a:ext cx="1280160" cy="411480"/>
          </a:xfrm>
          <a:prstGeom prst="rect">
            <a:avLst/>
          </a:prstGeom>
          <a:noFill/>
          <a:ln/>
        </p:spPr>
        <p:txBody>
          <a:bodyPr wrap="square" lIns="0" tIns="0" rIns="0" bIns="0" rtlCol="0" anchor="ctr"/>
          <a:lstStyle/>
          <a:p>
            <a:pPr marL="0" indent="0">
              <a:buNone/>
            </a:pPr>
            <a:r>
              <a:rPr lang="en-US" sz="1300" b="1" dirty="0">
                <a:solidFill>
                  <a:srgbClr val="C8F751"/>
                </a:solidFill>
                <a:latin typeface="Consolas" pitchFamily="34" charset="0"/>
                <a:ea typeface="Consolas" pitchFamily="34" charset="-122"/>
                <a:cs typeface="Consolas" pitchFamily="34" charset="-120"/>
              </a:rPr>
              <a:t>≈ 480ms</a:t>
            </a:r>
            <a:endParaRPr lang="en-US" sz="1300" dirty="0"/>
          </a:p>
        </p:txBody>
      </p:sp>
      <p:sp>
        <p:nvSpPr>
          <p:cNvPr id="21" name="Text 18"/>
          <p:cNvSpPr/>
          <p:nvPr/>
        </p:nvSpPr>
        <p:spPr>
          <a:xfrm>
            <a:off x="9509760" y="5029200"/>
            <a:ext cx="2103120" cy="411480"/>
          </a:xfrm>
          <a:prstGeom prst="rect">
            <a:avLst/>
          </a:prstGeom>
          <a:noFill/>
          <a:ln/>
        </p:spPr>
        <p:txBody>
          <a:bodyPr wrap="square" lIns="0" tIns="0" rIns="0" bIns="0" rtlCol="0" anchor="ctr"/>
          <a:lstStyle/>
          <a:p>
            <a:pPr marL="0" indent="0">
              <a:buNone/>
            </a:pPr>
            <a:r>
              <a:rPr lang="en-US" sz="950" i="1" dirty="0">
                <a:solidFill>
                  <a:srgbClr val="F4E9D8"/>
                </a:solidFill>
                <a:latin typeface="Calibri" pitchFamily="34" charset="0"/>
                <a:ea typeface="Calibri" pitchFamily="34" charset="-122"/>
                <a:cs typeface="Calibri" pitchFamily="34" charset="-120"/>
              </a:rPr>
              <a:t>95th percentile after warm-up</a:t>
            </a:r>
            <a:endParaRPr lang="en-US" sz="950" dirty="0"/>
          </a:p>
        </p:txBody>
      </p:sp>
      <p:sp>
        <p:nvSpPr>
          <p:cNvPr id="22" name="Text 19"/>
          <p:cNvSpPr/>
          <p:nvPr/>
        </p:nvSpPr>
        <p:spPr>
          <a:xfrm>
            <a:off x="6583680" y="5532120"/>
            <a:ext cx="1554480" cy="411480"/>
          </a:xfrm>
          <a:prstGeom prst="rect">
            <a:avLst/>
          </a:prstGeom>
          <a:noFill/>
          <a:ln/>
        </p:spPr>
        <p:txBody>
          <a:bodyPr wrap="square" lIns="0" tIns="0" rIns="0" bIns="0" rtlCol="0" anchor="ctr"/>
          <a:lstStyle/>
          <a:p>
            <a:pPr marL="0" indent="0">
              <a:buNone/>
            </a:pPr>
            <a:r>
              <a:rPr lang="en-US" sz="1100" dirty="0">
                <a:solidFill>
                  <a:srgbClr val="9AA8C7"/>
                </a:solidFill>
                <a:latin typeface="Calibri" pitchFamily="34" charset="0"/>
                <a:ea typeface="Calibri" pitchFamily="34" charset="-122"/>
                <a:cs typeface="Calibri" pitchFamily="34" charset="-120"/>
              </a:rPr>
              <a:t>Model file size</a:t>
            </a:r>
            <a:endParaRPr lang="en-US" sz="1100" dirty="0"/>
          </a:p>
        </p:txBody>
      </p:sp>
      <p:sp>
        <p:nvSpPr>
          <p:cNvPr id="23" name="Text 20"/>
          <p:cNvSpPr/>
          <p:nvPr/>
        </p:nvSpPr>
        <p:spPr>
          <a:xfrm>
            <a:off x="8183880" y="5532120"/>
            <a:ext cx="1280160" cy="411480"/>
          </a:xfrm>
          <a:prstGeom prst="rect">
            <a:avLst/>
          </a:prstGeom>
          <a:noFill/>
          <a:ln/>
        </p:spPr>
        <p:txBody>
          <a:bodyPr wrap="square" lIns="0" tIns="0" rIns="0" bIns="0" rtlCol="0" anchor="ctr"/>
          <a:lstStyle/>
          <a:p>
            <a:pPr marL="0" indent="0">
              <a:buNone/>
            </a:pPr>
            <a:r>
              <a:rPr lang="en-US" sz="1300" b="1" dirty="0">
                <a:solidFill>
                  <a:srgbClr val="C8F751"/>
                </a:solidFill>
                <a:latin typeface="Consolas" pitchFamily="34" charset="0"/>
                <a:ea typeface="Consolas" pitchFamily="34" charset="-122"/>
                <a:cs typeface="Consolas" pitchFamily="34" charset="-120"/>
              </a:rPr>
              <a:t>&lt; 50 MB</a:t>
            </a:r>
            <a:endParaRPr lang="en-US" sz="1300" dirty="0"/>
          </a:p>
        </p:txBody>
      </p:sp>
      <p:sp>
        <p:nvSpPr>
          <p:cNvPr id="24" name="Text 21"/>
          <p:cNvSpPr/>
          <p:nvPr/>
        </p:nvSpPr>
        <p:spPr>
          <a:xfrm>
            <a:off x="9509760" y="5532120"/>
            <a:ext cx="2103120" cy="411480"/>
          </a:xfrm>
          <a:prstGeom prst="rect">
            <a:avLst/>
          </a:prstGeom>
          <a:noFill/>
          <a:ln/>
        </p:spPr>
        <p:txBody>
          <a:bodyPr wrap="square" lIns="0" tIns="0" rIns="0" bIns="0" rtlCol="0" anchor="ctr"/>
          <a:lstStyle/>
          <a:p>
            <a:pPr marL="0" indent="0">
              <a:buNone/>
            </a:pPr>
            <a:r>
              <a:rPr lang="en-US" sz="950" i="1" dirty="0">
                <a:solidFill>
                  <a:srgbClr val="F4E9D8"/>
                </a:solidFill>
                <a:latin typeface="Calibri" pitchFamily="34" charset="0"/>
                <a:ea typeface="Calibri" pitchFamily="34" charset="-122"/>
                <a:cs typeface="Calibri" pitchFamily="34" charset="-120"/>
              </a:rPr>
              <a:t>Random Forest with 200 trees</a:t>
            </a:r>
            <a:endParaRPr lang="en-US" sz="950" dirty="0"/>
          </a:p>
        </p:txBody>
      </p:sp>
      <p:sp>
        <p:nvSpPr>
          <p:cNvPr id="25" name="Text 22"/>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26" name="Text 2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15 / 28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MODEL 1 — RANDOM FOREST CLASSIFIER</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200 decision trees voting together, balanced for skewed data</a:t>
            </a:r>
            <a:endParaRPr lang="en-US" sz="1200" dirty="0"/>
          </a:p>
        </p:txBody>
      </p:sp>
      <p:sp>
        <p:nvSpPr>
          <p:cNvPr id="5" name="Shape 3"/>
          <p:cNvSpPr/>
          <p:nvPr/>
        </p:nvSpPr>
        <p:spPr>
          <a:xfrm>
            <a:off x="640080" y="1371600"/>
            <a:ext cx="553212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08760"/>
            <a:ext cx="521208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HYPERPARAMETERS</a:t>
            </a:r>
            <a:endParaRPr lang="en-US" sz="1000" dirty="0"/>
          </a:p>
        </p:txBody>
      </p:sp>
      <p:sp>
        <p:nvSpPr>
          <p:cNvPr id="8" name="Text 6"/>
          <p:cNvSpPr/>
          <p:nvPr/>
        </p:nvSpPr>
        <p:spPr>
          <a:xfrm>
            <a:off x="868680" y="1783080"/>
            <a:ext cx="5212080" cy="274320"/>
          </a:xfrm>
          <a:prstGeom prst="rect">
            <a:avLst/>
          </a:prstGeom>
          <a:noFill/>
          <a:ln/>
        </p:spPr>
        <p:txBody>
          <a:bodyPr wrap="square" lIns="0" tIns="0" rIns="0" bIns="0" rtlCol="0" anchor="ctr"/>
          <a:lstStyle/>
          <a:p>
            <a:pPr marL="0" indent="0">
              <a:buNone/>
            </a:pPr>
            <a:r>
              <a:rPr lang="en-US" sz="1000" i="1" dirty="0">
                <a:solidFill>
                  <a:srgbClr val="9AA8C7"/>
                </a:solidFill>
                <a:latin typeface="Consolas" pitchFamily="34" charset="0"/>
                <a:ea typeface="Consolas" pitchFamily="34" charset="-122"/>
                <a:cs typeface="Consolas" pitchFamily="34" charset="-120"/>
              </a:rPr>
              <a:t>app/crime_risk_model/train_model.py:121</a:t>
            </a:r>
            <a:endParaRPr lang="en-US" sz="1000" dirty="0"/>
          </a:p>
        </p:txBody>
      </p:sp>
      <p:sp>
        <p:nvSpPr>
          <p:cNvPr id="9" name="Shape 7"/>
          <p:cNvSpPr/>
          <p:nvPr/>
        </p:nvSpPr>
        <p:spPr>
          <a:xfrm>
            <a:off x="868680" y="2148840"/>
            <a:ext cx="5074920" cy="2011680"/>
          </a:xfrm>
          <a:prstGeom prst="rect">
            <a:avLst/>
          </a:prstGeom>
          <a:solidFill>
            <a:srgbClr val="0A1228"/>
          </a:solidFill>
          <a:ln w="6350">
            <a:solidFill>
              <a:srgbClr val="2A3A6E"/>
            </a:solidFill>
            <a:prstDash val="solid"/>
          </a:ln>
        </p:spPr>
        <p:txBody>
          <a:bodyPr/>
          <a:lstStyle/>
          <a:p>
            <a:endParaRPr lang="en-US"/>
          </a:p>
        </p:txBody>
      </p:sp>
      <p:sp>
        <p:nvSpPr>
          <p:cNvPr id="10" name="Text 8"/>
          <p:cNvSpPr/>
          <p:nvPr/>
        </p:nvSpPr>
        <p:spPr>
          <a:xfrm>
            <a:off x="960120" y="2240280"/>
            <a:ext cx="4937760" cy="1874520"/>
          </a:xfrm>
          <a:prstGeom prst="rect">
            <a:avLst/>
          </a:prstGeom>
          <a:noFill/>
          <a:ln/>
        </p:spPr>
        <p:txBody>
          <a:bodyPr wrap="square" lIns="0" tIns="0" rIns="0" bIns="0" rtlCol="0" anchor="ctr"/>
          <a:lstStyle/>
          <a:p>
            <a:pPr marL="0" indent="0">
              <a:buNone/>
            </a:pPr>
            <a:r>
              <a:rPr lang="en-US" sz="1200" dirty="0">
                <a:solidFill>
                  <a:srgbClr val="F4E9D8"/>
                </a:solidFill>
                <a:latin typeface="Consolas" pitchFamily="34" charset="0"/>
                <a:ea typeface="Consolas" pitchFamily="34" charset="-122"/>
                <a:cs typeface="Consolas" pitchFamily="34" charset="-120"/>
              </a:rPr>
              <a:t>RandomForestClassifier(</a:t>
            </a:r>
            <a:endParaRPr lang="en-US" sz="1200" dirty="0"/>
          </a:p>
          <a:p>
            <a:pPr marL="0" indent="0">
              <a:buNone/>
            </a:pPr>
            <a:r>
              <a:rPr lang="en-US" sz="1200" dirty="0">
                <a:solidFill>
                  <a:srgbClr val="C8F751"/>
                </a:solidFill>
                <a:latin typeface="Consolas" pitchFamily="34" charset="0"/>
                <a:ea typeface="Consolas" pitchFamily="34" charset="-122"/>
                <a:cs typeface="Consolas" pitchFamily="34" charset="-120"/>
              </a:rPr>
              <a:t>  n_estimators     = 200,</a:t>
            </a:r>
            <a:endParaRPr lang="en-US" sz="1200" dirty="0"/>
          </a:p>
          <a:p>
            <a:pPr marL="0" indent="0">
              <a:buNone/>
            </a:pPr>
            <a:r>
              <a:rPr lang="en-US" sz="1200" dirty="0">
                <a:solidFill>
                  <a:srgbClr val="C8F751"/>
                </a:solidFill>
                <a:latin typeface="Consolas" pitchFamily="34" charset="0"/>
                <a:ea typeface="Consolas" pitchFamily="34" charset="-122"/>
                <a:cs typeface="Consolas" pitchFamily="34" charset="-120"/>
              </a:rPr>
              <a:t>  max_depth        = 15,</a:t>
            </a:r>
            <a:endParaRPr lang="en-US" sz="1200" dirty="0"/>
          </a:p>
          <a:p>
            <a:pPr marL="0" indent="0">
              <a:buNone/>
            </a:pPr>
            <a:r>
              <a:rPr lang="en-US" sz="1200" dirty="0">
                <a:solidFill>
                  <a:srgbClr val="C8F751"/>
                </a:solidFill>
                <a:latin typeface="Consolas" pitchFamily="34" charset="0"/>
                <a:ea typeface="Consolas" pitchFamily="34" charset="-122"/>
                <a:cs typeface="Consolas" pitchFamily="34" charset="-120"/>
              </a:rPr>
              <a:t>  min_samples_leaf = 10,</a:t>
            </a:r>
            <a:endParaRPr lang="en-US" sz="1200" dirty="0"/>
          </a:p>
          <a:p>
            <a:pPr marL="0" indent="0">
              <a:buNone/>
            </a:pPr>
            <a:r>
              <a:rPr lang="en-US" sz="1200" dirty="0">
                <a:solidFill>
                  <a:srgbClr val="F4E9D8"/>
                </a:solidFill>
                <a:latin typeface="Consolas" pitchFamily="34" charset="0"/>
                <a:ea typeface="Consolas" pitchFamily="34" charset="-122"/>
                <a:cs typeface="Consolas" pitchFamily="34" charset="-120"/>
              </a:rPr>
              <a:t>  class_weight     = 'balanced',</a:t>
            </a:r>
            <a:endParaRPr lang="en-US" sz="1200" dirty="0"/>
          </a:p>
          <a:p>
            <a:pPr marL="0" indent="0">
              <a:buNone/>
            </a:pPr>
            <a:r>
              <a:rPr lang="en-US" sz="1200" dirty="0">
                <a:solidFill>
                  <a:srgbClr val="F4E9D8"/>
                </a:solidFill>
                <a:latin typeface="Consolas" pitchFamily="34" charset="0"/>
                <a:ea typeface="Consolas" pitchFamily="34" charset="-122"/>
                <a:cs typeface="Consolas" pitchFamily="34" charset="-120"/>
              </a:rPr>
              <a:t>  random_state     = 42,</a:t>
            </a:r>
            <a:endParaRPr lang="en-US" sz="1200" dirty="0"/>
          </a:p>
          <a:p>
            <a:pPr marL="0" indent="0">
              <a:buNone/>
            </a:pPr>
            <a:r>
              <a:rPr lang="en-US" sz="1200" dirty="0">
                <a:solidFill>
                  <a:srgbClr val="F4E9D8"/>
                </a:solidFill>
                <a:latin typeface="Consolas" pitchFamily="34" charset="0"/>
                <a:ea typeface="Consolas" pitchFamily="34" charset="-122"/>
                <a:cs typeface="Consolas" pitchFamily="34" charset="-120"/>
              </a:rPr>
              <a:t>  n_jobs           = -1,</a:t>
            </a:r>
            <a:endParaRPr lang="en-US" sz="1200" dirty="0"/>
          </a:p>
          <a:p>
            <a:pPr marL="0" indent="0">
              <a:buNone/>
            </a:pPr>
            <a:r>
              <a:rPr lang="en-US" sz="1200" dirty="0">
                <a:solidFill>
                  <a:srgbClr val="F4E9D8"/>
                </a:solidFill>
                <a:latin typeface="Consolas" pitchFamily="34" charset="0"/>
                <a:ea typeface="Consolas" pitchFamily="34" charset="-122"/>
                <a:cs typeface="Consolas" pitchFamily="34" charset="-120"/>
              </a:rPr>
              <a:t>)</a:t>
            </a:r>
            <a:endParaRPr lang="en-US" sz="1200" dirty="0"/>
          </a:p>
        </p:txBody>
      </p:sp>
      <p:sp>
        <p:nvSpPr>
          <p:cNvPr id="11" name="Shape 9"/>
          <p:cNvSpPr/>
          <p:nvPr/>
        </p:nvSpPr>
        <p:spPr>
          <a:xfrm>
            <a:off x="868680" y="4297680"/>
            <a:ext cx="5074920" cy="1920240"/>
          </a:xfrm>
          <a:prstGeom prst="rect">
            <a:avLst/>
          </a:prstGeom>
          <a:solidFill>
            <a:srgbClr val="1B2752"/>
          </a:solidFill>
          <a:ln w="6350">
            <a:solidFill>
              <a:srgbClr val="C8F751"/>
            </a:solidFill>
            <a:prstDash val="solid"/>
          </a:ln>
        </p:spPr>
        <p:txBody>
          <a:bodyPr/>
          <a:lstStyle/>
          <a:p>
            <a:endParaRPr lang="en-US"/>
          </a:p>
        </p:txBody>
      </p:sp>
      <p:sp>
        <p:nvSpPr>
          <p:cNvPr id="12" name="Text 10"/>
          <p:cNvSpPr/>
          <p:nvPr/>
        </p:nvSpPr>
        <p:spPr>
          <a:xfrm>
            <a:off x="1005840" y="4389120"/>
            <a:ext cx="4800600" cy="256032"/>
          </a:xfrm>
          <a:prstGeom prst="rect">
            <a:avLst/>
          </a:prstGeom>
          <a:noFill/>
          <a:ln/>
        </p:spPr>
        <p:txBody>
          <a:bodyPr wrap="square" lIns="0" tIns="0" rIns="0" bIns="0" rtlCol="0" anchor="ctr"/>
          <a:lstStyle/>
          <a:p>
            <a:pPr marL="0" indent="0">
              <a:buNone/>
            </a:pPr>
            <a:r>
              <a:rPr lang="en-US" sz="900" b="1" kern="0" spc="300" dirty="0">
                <a:solidFill>
                  <a:srgbClr val="C8F751"/>
                </a:solidFill>
                <a:latin typeface="Calibri" pitchFamily="34" charset="0"/>
                <a:ea typeface="Calibri" pitchFamily="34" charset="-122"/>
                <a:cs typeface="Calibri" pitchFamily="34" charset="-120"/>
              </a:rPr>
              <a:t>WHAT THIS MEANS</a:t>
            </a:r>
            <a:endParaRPr lang="en-US" sz="900" dirty="0"/>
          </a:p>
        </p:txBody>
      </p:sp>
      <p:sp>
        <p:nvSpPr>
          <p:cNvPr id="13" name="Text 11"/>
          <p:cNvSpPr/>
          <p:nvPr/>
        </p:nvSpPr>
        <p:spPr>
          <a:xfrm>
            <a:off x="1005840" y="4663440"/>
            <a:ext cx="4800600" cy="146304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Random Forest is like asking 200 different experts to look at a crime and say 'High, Medium, or Low risk' — then taking the majority vote. Each expert (decision tree) sees a slightly different slice of the data, so they don't all make the same mistakes. We tell them not to dig deeper than 15 levels (avoids overfitting) and to weight rare cases more (Lahore has many more Low than High events).</a:t>
            </a:r>
            <a:endParaRPr lang="en-US" sz="1100" dirty="0"/>
          </a:p>
        </p:txBody>
      </p:sp>
      <p:sp>
        <p:nvSpPr>
          <p:cNvPr id="14" name="Shape 12"/>
          <p:cNvSpPr/>
          <p:nvPr/>
        </p:nvSpPr>
        <p:spPr>
          <a:xfrm>
            <a:off x="6355080" y="1371600"/>
            <a:ext cx="5349240" cy="2286000"/>
          </a:xfrm>
          <a:prstGeom prst="rect">
            <a:avLst/>
          </a:prstGeom>
          <a:solidFill>
            <a:srgbClr val="121C3A"/>
          </a:solidFill>
          <a:ln w="9525">
            <a:solidFill>
              <a:srgbClr val="2A3A6E"/>
            </a:solidFill>
            <a:prstDash val="solid"/>
          </a:ln>
        </p:spPr>
        <p:txBody>
          <a:bodyPr/>
          <a:lstStyle/>
          <a:p>
            <a:endParaRPr lang="en-US"/>
          </a:p>
        </p:txBody>
      </p:sp>
      <p:sp>
        <p:nvSpPr>
          <p:cNvPr id="15" name="Shape 13"/>
          <p:cNvSpPr/>
          <p:nvPr/>
        </p:nvSpPr>
        <p:spPr>
          <a:xfrm>
            <a:off x="6355080" y="1371600"/>
            <a:ext cx="64008" cy="2286000"/>
          </a:xfrm>
          <a:prstGeom prst="rect">
            <a:avLst/>
          </a:prstGeom>
          <a:solidFill>
            <a:srgbClr val="C8F751"/>
          </a:solidFill>
          <a:ln w="12700">
            <a:solidFill>
              <a:srgbClr val="C8F751"/>
            </a:solidFill>
            <a:prstDash val="solid"/>
          </a:ln>
        </p:spPr>
        <p:txBody>
          <a:bodyPr/>
          <a:lstStyle/>
          <a:p>
            <a:endParaRPr lang="en-US"/>
          </a:p>
        </p:txBody>
      </p:sp>
      <p:sp>
        <p:nvSpPr>
          <p:cNvPr id="16" name="Text 14"/>
          <p:cNvSpPr/>
          <p:nvPr/>
        </p:nvSpPr>
        <p:spPr>
          <a:xfrm>
            <a:off x="6583680" y="1508760"/>
            <a:ext cx="502920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VALIDATION</a:t>
            </a:r>
            <a:endParaRPr lang="en-US" sz="1000" dirty="0"/>
          </a:p>
        </p:txBody>
      </p:sp>
      <p:sp>
        <p:nvSpPr>
          <p:cNvPr id="17" name="Text 15"/>
          <p:cNvSpPr/>
          <p:nvPr/>
        </p:nvSpPr>
        <p:spPr>
          <a:xfrm>
            <a:off x="6583680" y="1783080"/>
            <a:ext cx="5029200" cy="365760"/>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StratifiedKFold(n_splits=5)</a:t>
            </a:r>
            <a:endParaRPr lang="en-US" sz="1300" dirty="0"/>
          </a:p>
        </p:txBody>
      </p:sp>
      <p:sp>
        <p:nvSpPr>
          <p:cNvPr id="18" name="Text 16"/>
          <p:cNvSpPr/>
          <p:nvPr/>
        </p:nvSpPr>
        <p:spPr>
          <a:xfrm>
            <a:off x="6583680" y="2194560"/>
            <a:ext cx="5029200" cy="1417320"/>
          </a:xfrm>
          <a:prstGeom prst="rect">
            <a:avLst/>
          </a:prstGeom>
          <a:noFill/>
          <a:ln/>
        </p:spPr>
        <p:txBody>
          <a:bodyPr wrap="square" lIns="0" tIns="0" rIns="0" bIns="0" rtlCol="0" anchor="ctr"/>
          <a:lstStyle/>
          <a:p>
            <a:pPr marL="0" indent="0">
              <a:buNone/>
            </a:pPr>
            <a:r>
              <a:rPr lang="en-US" sz="1050" i="1" dirty="0">
                <a:solidFill>
                  <a:srgbClr val="F4E9D8"/>
                </a:solidFill>
                <a:latin typeface="Calibri" pitchFamily="34" charset="0"/>
                <a:ea typeface="Calibri" pitchFamily="34" charset="-122"/>
                <a:cs typeface="Calibri" pitchFamily="34" charset="-120"/>
              </a:rPr>
              <a:t>We split the data into 5 chunks. We train on 4 chunks and test on the 5th, then rotate. The 'stratified' part makes sure each chunk has the same mix of High/Medium/Low cases — important because High is rare. We report the average accuracy across all 5 rotations.</a:t>
            </a:r>
            <a:endParaRPr lang="en-US" sz="1050" dirty="0"/>
          </a:p>
        </p:txBody>
      </p:sp>
      <p:sp>
        <p:nvSpPr>
          <p:cNvPr id="19" name="Shape 17"/>
          <p:cNvSpPr/>
          <p:nvPr/>
        </p:nvSpPr>
        <p:spPr>
          <a:xfrm>
            <a:off x="6355080" y="3794760"/>
            <a:ext cx="5349240" cy="2514600"/>
          </a:xfrm>
          <a:prstGeom prst="rect">
            <a:avLst/>
          </a:prstGeom>
          <a:solidFill>
            <a:srgbClr val="121C3A"/>
          </a:solidFill>
          <a:ln w="9525">
            <a:solidFill>
              <a:srgbClr val="2A3A6E"/>
            </a:solidFill>
            <a:prstDash val="solid"/>
          </a:ln>
        </p:spPr>
        <p:txBody>
          <a:bodyPr/>
          <a:lstStyle/>
          <a:p>
            <a:endParaRPr lang="en-US"/>
          </a:p>
        </p:txBody>
      </p:sp>
      <p:sp>
        <p:nvSpPr>
          <p:cNvPr id="20" name="Shape 18"/>
          <p:cNvSpPr/>
          <p:nvPr/>
        </p:nvSpPr>
        <p:spPr>
          <a:xfrm>
            <a:off x="6355080" y="3794760"/>
            <a:ext cx="64008" cy="2514600"/>
          </a:xfrm>
          <a:prstGeom prst="rect">
            <a:avLst/>
          </a:prstGeom>
          <a:solidFill>
            <a:srgbClr val="C8F751"/>
          </a:solidFill>
          <a:ln w="12700">
            <a:solidFill>
              <a:srgbClr val="C8F751"/>
            </a:solidFill>
            <a:prstDash val="solid"/>
          </a:ln>
        </p:spPr>
        <p:txBody>
          <a:bodyPr/>
          <a:lstStyle/>
          <a:p>
            <a:endParaRPr lang="en-US"/>
          </a:p>
        </p:txBody>
      </p:sp>
      <p:sp>
        <p:nvSpPr>
          <p:cNvPr id="21" name="Text 19"/>
          <p:cNvSpPr/>
          <p:nvPr/>
        </p:nvSpPr>
        <p:spPr>
          <a:xfrm>
            <a:off x="6583680" y="3904488"/>
            <a:ext cx="502920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9 ENGINEERED FEATURES (what the model sees)</a:t>
            </a:r>
            <a:endParaRPr lang="en-US" sz="1000" dirty="0"/>
          </a:p>
        </p:txBody>
      </p:sp>
      <p:sp>
        <p:nvSpPr>
          <p:cNvPr id="22" name="Shape 20"/>
          <p:cNvSpPr/>
          <p:nvPr/>
        </p:nvSpPr>
        <p:spPr>
          <a:xfrm>
            <a:off x="6583680" y="4251960"/>
            <a:ext cx="1627632" cy="530352"/>
          </a:xfrm>
          <a:prstGeom prst="rect">
            <a:avLst/>
          </a:prstGeom>
          <a:solidFill>
            <a:srgbClr val="0A1228"/>
          </a:solidFill>
          <a:ln w="5080">
            <a:solidFill>
              <a:srgbClr val="2A3A6E"/>
            </a:solidFill>
            <a:prstDash val="solid"/>
          </a:ln>
        </p:spPr>
        <p:txBody>
          <a:bodyPr/>
          <a:lstStyle/>
          <a:p>
            <a:endParaRPr lang="en-US"/>
          </a:p>
        </p:txBody>
      </p:sp>
      <p:sp>
        <p:nvSpPr>
          <p:cNvPr id="23" name="Text 21"/>
          <p:cNvSpPr/>
          <p:nvPr/>
        </p:nvSpPr>
        <p:spPr>
          <a:xfrm>
            <a:off x="6656832" y="4288536"/>
            <a:ext cx="1508760" cy="256032"/>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crime_severity</a:t>
            </a:r>
            <a:endParaRPr lang="en-US" sz="950" dirty="0"/>
          </a:p>
        </p:txBody>
      </p:sp>
      <p:sp>
        <p:nvSpPr>
          <p:cNvPr id="24" name="Text 22"/>
          <p:cNvSpPr/>
          <p:nvPr/>
        </p:nvSpPr>
        <p:spPr>
          <a:xfrm>
            <a:off x="6656832" y="4544568"/>
            <a:ext cx="1508760" cy="219456"/>
          </a:xfrm>
          <a:prstGeom prst="rect">
            <a:avLst/>
          </a:prstGeom>
          <a:noFill/>
          <a:ln/>
        </p:spPr>
        <p:txBody>
          <a:bodyPr wrap="square" lIns="0" tIns="0" rIns="0" bIns="0" rtlCol="0" anchor="ctr"/>
          <a:lstStyle/>
          <a:p>
            <a:pPr marL="0" indent="0">
              <a:buNone/>
            </a:pPr>
            <a:r>
              <a:rPr lang="en-US" sz="900" i="1" dirty="0">
                <a:solidFill>
                  <a:srgbClr val="C8F751"/>
                </a:solidFill>
                <a:latin typeface="Calibri" pitchFamily="34" charset="0"/>
                <a:ea typeface="Calibri" pitchFamily="34" charset="-122"/>
                <a:cs typeface="Calibri" pitchFamily="34" charset="-120"/>
              </a:rPr>
              <a:t>1–10</a:t>
            </a:r>
            <a:endParaRPr lang="en-US" sz="900" dirty="0"/>
          </a:p>
        </p:txBody>
      </p:sp>
      <p:sp>
        <p:nvSpPr>
          <p:cNvPr id="25" name="Shape 23"/>
          <p:cNvSpPr/>
          <p:nvPr/>
        </p:nvSpPr>
        <p:spPr>
          <a:xfrm>
            <a:off x="8275320" y="4251960"/>
            <a:ext cx="1627632" cy="530352"/>
          </a:xfrm>
          <a:prstGeom prst="rect">
            <a:avLst/>
          </a:prstGeom>
          <a:solidFill>
            <a:srgbClr val="0A1228"/>
          </a:solidFill>
          <a:ln w="5080">
            <a:solidFill>
              <a:srgbClr val="2A3A6E"/>
            </a:solidFill>
            <a:prstDash val="solid"/>
          </a:ln>
        </p:spPr>
        <p:txBody>
          <a:bodyPr/>
          <a:lstStyle/>
          <a:p>
            <a:endParaRPr lang="en-US"/>
          </a:p>
        </p:txBody>
      </p:sp>
      <p:sp>
        <p:nvSpPr>
          <p:cNvPr id="26" name="Text 24"/>
          <p:cNvSpPr/>
          <p:nvPr/>
        </p:nvSpPr>
        <p:spPr>
          <a:xfrm>
            <a:off x="8348472" y="4288536"/>
            <a:ext cx="1508760" cy="256032"/>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hour</a:t>
            </a:r>
            <a:endParaRPr lang="en-US" sz="950" dirty="0"/>
          </a:p>
        </p:txBody>
      </p:sp>
      <p:sp>
        <p:nvSpPr>
          <p:cNvPr id="27" name="Text 25"/>
          <p:cNvSpPr/>
          <p:nvPr/>
        </p:nvSpPr>
        <p:spPr>
          <a:xfrm>
            <a:off x="8348472" y="4544568"/>
            <a:ext cx="1508760" cy="219456"/>
          </a:xfrm>
          <a:prstGeom prst="rect">
            <a:avLst/>
          </a:prstGeom>
          <a:noFill/>
          <a:ln/>
        </p:spPr>
        <p:txBody>
          <a:bodyPr wrap="square" lIns="0" tIns="0" rIns="0" bIns="0" rtlCol="0" anchor="ctr"/>
          <a:lstStyle/>
          <a:p>
            <a:pPr marL="0" indent="0">
              <a:buNone/>
            </a:pPr>
            <a:r>
              <a:rPr lang="en-US" sz="900" i="1" dirty="0">
                <a:solidFill>
                  <a:srgbClr val="C8F751"/>
                </a:solidFill>
                <a:latin typeface="Calibri" pitchFamily="34" charset="0"/>
                <a:ea typeface="Calibri" pitchFamily="34" charset="-122"/>
                <a:cs typeface="Calibri" pitchFamily="34" charset="-120"/>
              </a:rPr>
              <a:t>0–23</a:t>
            </a:r>
            <a:endParaRPr lang="en-US" sz="900" dirty="0"/>
          </a:p>
        </p:txBody>
      </p:sp>
      <p:sp>
        <p:nvSpPr>
          <p:cNvPr id="28" name="Shape 26"/>
          <p:cNvSpPr/>
          <p:nvPr/>
        </p:nvSpPr>
        <p:spPr>
          <a:xfrm>
            <a:off x="9966960" y="4251960"/>
            <a:ext cx="1627632" cy="530352"/>
          </a:xfrm>
          <a:prstGeom prst="rect">
            <a:avLst/>
          </a:prstGeom>
          <a:solidFill>
            <a:srgbClr val="0A1228"/>
          </a:solidFill>
          <a:ln w="5080">
            <a:solidFill>
              <a:srgbClr val="2A3A6E"/>
            </a:solidFill>
            <a:prstDash val="solid"/>
          </a:ln>
        </p:spPr>
        <p:txBody>
          <a:bodyPr/>
          <a:lstStyle/>
          <a:p>
            <a:endParaRPr lang="en-US"/>
          </a:p>
        </p:txBody>
      </p:sp>
      <p:sp>
        <p:nvSpPr>
          <p:cNvPr id="29" name="Text 27"/>
          <p:cNvSpPr/>
          <p:nvPr/>
        </p:nvSpPr>
        <p:spPr>
          <a:xfrm>
            <a:off x="10040112" y="4288536"/>
            <a:ext cx="1508760" cy="256032"/>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day_of_week</a:t>
            </a:r>
            <a:endParaRPr lang="en-US" sz="950" dirty="0"/>
          </a:p>
        </p:txBody>
      </p:sp>
      <p:sp>
        <p:nvSpPr>
          <p:cNvPr id="30" name="Text 28"/>
          <p:cNvSpPr/>
          <p:nvPr/>
        </p:nvSpPr>
        <p:spPr>
          <a:xfrm>
            <a:off x="10040112" y="4544568"/>
            <a:ext cx="1508760" cy="219456"/>
          </a:xfrm>
          <a:prstGeom prst="rect">
            <a:avLst/>
          </a:prstGeom>
          <a:noFill/>
          <a:ln/>
        </p:spPr>
        <p:txBody>
          <a:bodyPr wrap="square" lIns="0" tIns="0" rIns="0" bIns="0" rtlCol="0" anchor="ctr"/>
          <a:lstStyle/>
          <a:p>
            <a:pPr marL="0" indent="0">
              <a:buNone/>
            </a:pPr>
            <a:r>
              <a:rPr lang="en-US" sz="900" i="1" dirty="0">
                <a:solidFill>
                  <a:srgbClr val="C8F751"/>
                </a:solidFill>
                <a:latin typeface="Calibri" pitchFamily="34" charset="0"/>
                <a:ea typeface="Calibri" pitchFamily="34" charset="-122"/>
                <a:cs typeface="Calibri" pitchFamily="34" charset="-120"/>
              </a:rPr>
              <a:t>0–6</a:t>
            </a:r>
            <a:endParaRPr lang="en-US" sz="900" dirty="0"/>
          </a:p>
        </p:txBody>
      </p:sp>
      <p:sp>
        <p:nvSpPr>
          <p:cNvPr id="31" name="Shape 29"/>
          <p:cNvSpPr/>
          <p:nvPr/>
        </p:nvSpPr>
        <p:spPr>
          <a:xfrm>
            <a:off x="6583680" y="4846320"/>
            <a:ext cx="1627632" cy="530352"/>
          </a:xfrm>
          <a:prstGeom prst="rect">
            <a:avLst/>
          </a:prstGeom>
          <a:solidFill>
            <a:srgbClr val="0A1228"/>
          </a:solidFill>
          <a:ln w="5080">
            <a:solidFill>
              <a:srgbClr val="2A3A6E"/>
            </a:solidFill>
            <a:prstDash val="solid"/>
          </a:ln>
        </p:spPr>
        <p:txBody>
          <a:bodyPr/>
          <a:lstStyle/>
          <a:p>
            <a:endParaRPr lang="en-US"/>
          </a:p>
        </p:txBody>
      </p:sp>
      <p:sp>
        <p:nvSpPr>
          <p:cNvPr id="32" name="Text 30"/>
          <p:cNvSpPr/>
          <p:nvPr/>
        </p:nvSpPr>
        <p:spPr>
          <a:xfrm>
            <a:off x="6656832" y="4882896"/>
            <a:ext cx="1508760" cy="256032"/>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month</a:t>
            </a:r>
            <a:endParaRPr lang="en-US" sz="950" dirty="0"/>
          </a:p>
        </p:txBody>
      </p:sp>
      <p:sp>
        <p:nvSpPr>
          <p:cNvPr id="33" name="Text 31"/>
          <p:cNvSpPr/>
          <p:nvPr/>
        </p:nvSpPr>
        <p:spPr>
          <a:xfrm>
            <a:off x="6656832" y="5138928"/>
            <a:ext cx="1508760" cy="219456"/>
          </a:xfrm>
          <a:prstGeom prst="rect">
            <a:avLst/>
          </a:prstGeom>
          <a:noFill/>
          <a:ln/>
        </p:spPr>
        <p:txBody>
          <a:bodyPr wrap="square" lIns="0" tIns="0" rIns="0" bIns="0" rtlCol="0" anchor="ctr"/>
          <a:lstStyle/>
          <a:p>
            <a:pPr marL="0" indent="0">
              <a:buNone/>
            </a:pPr>
            <a:r>
              <a:rPr lang="en-US" sz="900" i="1" dirty="0">
                <a:solidFill>
                  <a:srgbClr val="C8F751"/>
                </a:solidFill>
                <a:latin typeface="Calibri" pitchFamily="34" charset="0"/>
                <a:ea typeface="Calibri" pitchFamily="34" charset="-122"/>
                <a:cs typeface="Calibri" pitchFamily="34" charset="-120"/>
              </a:rPr>
              <a:t>1–12</a:t>
            </a:r>
            <a:endParaRPr lang="en-US" sz="900" dirty="0"/>
          </a:p>
        </p:txBody>
      </p:sp>
      <p:sp>
        <p:nvSpPr>
          <p:cNvPr id="34" name="Shape 32"/>
          <p:cNvSpPr/>
          <p:nvPr/>
        </p:nvSpPr>
        <p:spPr>
          <a:xfrm>
            <a:off x="8275320" y="4846320"/>
            <a:ext cx="1627632" cy="530352"/>
          </a:xfrm>
          <a:prstGeom prst="rect">
            <a:avLst/>
          </a:prstGeom>
          <a:solidFill>
            <a:srgbClr val="0A1228"/>
          </a:solidFill>
          <a:ln w="5080">
            <a:solidFill>
              <a:srgbClr val="2A3A6E"/>
            </a:solidFill>
            <a:prstDash val="solid"/>
          </a:ln>
        </p:spPr>
        <p:txBody>
          <a:bodyPr/>
          <a:lstStyle/>
          <a:p>
            <a:endParaRPr lang="en-US"/>
          </a:p>
        </p:txBody>
      </p:sp>
      <p:sp>
        <p:nvSpPr>
          <p:cNvPr id="35" name="Text 33"/>
          <p:cNvSpPr/>
          <p:nvPr/>
        </p:nvSpPr>
        <p:spPr>
          <a:xfrm>
            <a:off x="8348472" y="4882896"/>
            <a:ext cx="1508760" cy="256032"/>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is_weekend</a:t>
            </a:r>
            <a:endParaRPr lang="en-US" sz="950" dirty="0"/>
          </a:p>
        </p:txBody>
      </p:sp>
      <p:sp>
        <p:nvSpPr>
          <p:cNvPr id="36" name="Text 34"/>
          <p:cNvSpPr/>
          <p:nvPr/>
        </p:nvSpPr>
        <p:spPr>
          <a:xfrm>
            <a:off x="8348472" y="5138928"/>
            <a:ext cx="1508760" cy="219456"/>
          </a:xfrm>
          <a:prstGeom prst="rect">
            <a:avLst/>
          </a:prstGeom>
          <a:noFill/>
          <a:ln/>
        </p:spPr>
        <p:txBody>
          <a:bodyPr wrap="square" lIns="0" tIns="0" rIns="0" bIns="0" rtlCol="0" anchor="ctr"/>
          <a:lstStyle/>
          <a:p>
            <a:pPr marL="0" indent="0">
              <a:buNone/>
            </a:pPr>
            <a:r>
              <a:rPr lang="en-US" sz="900" i="1" dirty="0">
                <a:solidFill>
                  <a:srgbClr val="C8F751"/>
                </a:solidFill>
                <a:latin typeface="Calibri" pitchFamily="34" charset="0"/>
                <a:ea typeface="Calibri" pitchFamily="34" charset="-122"/>
                <a:cs typeface="Calibri" pitchFamily="34" charset="-120"/>
              </a:rPr>
              <a:t>yes/no</a:t>
            </a:r>
            <a:endParaRPr lang="en-US" sz="900" dirty="0"/>
          </a:p>
        </p:txBody>
      </p:sp>
      <p:sp>
        <p:nvSpPr>
          <p:cNvPr id="37" name="Shape 35"/>
          <p:cNvSpPr/>
          <p:nvPr/>
        </p:nvSpPr>
        <p:spPr>
          <a:xfrm>
            <a:off x="9966960" y="4846320"/>
            <a:ext cx="1627632" cy="530352"/>
          </a:xfrm>
          <a:prstGeom prst="rect">
            <a:avLst/>
          </a:prstGeom>
          <a:solidFill>
            <a:srgbClr val="0A1228"/>
          </a:solidFill>
          <a:ln w="5080">
            <a:solidFill>
              <a:srgbClr val="2A3A6E"/>
            </a:solidFill>
            <a:prstDash val="solid"/>
          </a:ln>
        </p:spPr>
        <p:txBody>
          <a:bodyPr/>
          <a:lstStyle/>
          <a:p>
            <a:endParaRPr lang="en-US"/>
          </a:p>
        </p:txBody>
      </p:sp>
      <p:sp>
        <p:nvSpPr>
          <p:cNvPr id="38" name="Text 36"/>
          <p:cNvSpPr/>
          <p:nvPr/>
        </p:nvSpPr>
        <p:spPr>
          <a:xfrm>
            <a:off x="10040112" y="4882896"/>
            <a:ext cx="1508760" cy="256032"/>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is_nighttime</a:t>
            </a:r>
            <a:endParaRPr lang="en-US" sz="950" dirty="0"/>
          </a:p>
        </p:txBody>
      </p:sp>
      <p:sp>
        <p:nvSpPr>
          <p:cNvPr id="39" name="Text 37"/>
          <p:cNvSpPr/>
          <p:nvPr/>
        </p:nvSpPr>
        <p:spPr>
          <a:xfrm>
            <a:off x="10040112" y="5138928"/>
            <a:ext cx="1508760" cy="219456"/>
          </a:xfrm>
          <a:prstGeom prst="rect">
            <a:avLst/>
          </a:prstGeom>
          <a:noFill/>
          <a:ln/>
        </p:spPr>
        <p:txBody>
          <a:bodyPr wrap="square" lIns="0" tIns="0" rIns="0" bIns="0" rtlCol="0" anchor="ctr"/>
          <a:lstStyle/>
          <a:p>
            <a:pPr marL="0" indent="0">
              <a:buNone/>
            </a:pPr>
            <a:r>
              <a:rPr lang="en-US" sz="900" i="1" dirty="0">
                <a:solidFill>
                  <a:srgbClr val="C8F751"/>
                </a:solidFill>
                <a:latin typeface="Calibri" pitchFamily="34" charset="0"/>
                <a:ea typeface="Calibri" pitchFamily="34" charset="-122"/>
                <a:cs typeface="Calibri" pitchFamily="34" charset="-120"/>
              </a:rPr>
              <a:t>yes/no</a:t>
            </a:r>
            <a:endParaRPr lang="en-US" sz="900" dirty="0"/>
          </a:p>
        </p:txBody>
      </p:sp>
      <p:sp>
        <p:nvSpPr>
          <p:cNvPr id="40" name="Shape 38"/>
          <p:cNvSpPr/>
          <p:nvPr/>
        </p:nvSpPr>
        <p:spPr>
          <a:xfrm>
            <a:off x="6583680" y="5440680"/>
            <a:ext cx="1627632" cy="530352"/>
          </a:xfrm>
          <a:prstGeom prst="rect">
            <a:avLst/>
          </a:prstGeom>
          <a:solidFill>
            <a:srgbClr val="0A1228"/>
          </a:solidFill>
          <a:ln w="5080">
            <a:solidFill>
              <a:srgbClr val="2A3A6E"/>
            </a:solidFill>
            <a:prstDash val="solid"/>
          </a:ln>
        </p:spPr>
        <p:txBody>
          <a:bodyPr/>
          <a:lstStyle/>
          <a:p>
            <a:endParaRPr lang="en-US"/>
          </a:p>
        </p:txBody>
      </p:sp>
      <p:sp>
        <p:nvSpPr>
          <p:cNvPr id="41" name="Text 39"/>
          <p:cNvSpPr/>
          <p:nvPr/>
        </p:nvSpPr>
        <p:spPr>
          <a:xfrm>
            <a:off x="6656832" y="5477256"/>
            <a:ext cx="1508760" cy="256032"/>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time_risk</a:t>
            </a:r>
            <a:endParaRPr lang="en-US" sz="950" dirty="0"/>
          </a:p>
        </p:txBody>
      </p:sp>
      <p:sp>
        <p:nvSpPr>
          <p:cNvPr id="42" name="Text 40"/>
          <p:cNvSpPr/>
          <p:nvPr/>
        </p:nvSpPr>
        <p:spPr>
          <a:xfrm>
            <a:off x="6656832" y="5733288"/>
            <a:ext cx="1508760" cy="219456"/>
          </a:xfrm>
          <a:prstGeom prst="rect">
            <a:avLst/>
          </a:prstGeom>
          <a:noFill/>
          <a:ln/>
        </p:spPr>
        <p:txBody>
          <a:bodyPr wrap="square" lIns="0" tIns="0" rIns="0" bIns="0" rtlCol="0" anchor="ctr"/>
          <a:lstStyle/>
          <a:p>
            <a:pPr marL="0" indent="0">
              <a:buNone/>
            </a:pPr>
            <a:r>
              <a:rPr lang="en-US" sz="900" i="1" dirty="0">
                <a:solidFill>
                  <a:srgbClr val="C8F751"/>
                </a:solidFill>
                <a:latin typeface="Calibri" pitchFamily="34" charset="0"/>
                <a:ea typeface="Calibri" pitchFamily="34" charset="-122"/>
                <a:cs typeface="Calibri" pitchFamily="34" charset="-120"/>
              </a:rPr>
              <a:t>smooth curve</a:t>
            </a:r>
            <a:endParaRPr lang="en-US" sz="900" dirty="0"/>
          </a:p>
        </p:txBody>
      </p:sp>
      <p:sp>
        <p:nvSpPr>
          <p:cNvPr id="43" name="Shape 41"/>
          <p:cNvSpPr/>
          <p:nvPr/>
        </p:nvSpPr>
        <p:spPr>
          <a:xfrm>
            <a:off x="8275320" y="5440680"/>
            <a:ext cx="1627632" cy="530352"/>
          </a:xfrm>
          <a:prstGeom prst="rect">
            <a:avLst/>
          </a:prstGeom>
          <a:solidFill>
            <a:srgbClr val="0A1228"/>
          </a:solidFill>
          <a:ln w="5080">
            <a:solidFill>
              <a:srgbClr val="2A3A6E"/>
            </a:solidFill>
            <a:prstDash val="solid"/>
          </a:ln>
        </p:spPr>
        <p:txBody>
          <a:bodyPr/>
          <a:lstStyle/>
          <a:p>
            <a:endParaRPr lang="en-US"/>
          </a:p>
        </p:txBody>
      </p:sp>
      <p:sp>
        <p:nvSpPr>
          <p:cNvPr id="44" name="Text 42"/>
          <p:cNvSpPr/>
          <p:nvPr/>
        </p:nvSpPr>
        <p:spPr>
          <a:xfrm>
            <a:off x="8348472" y="5477256"/>
            <a:ext cx="1508760" cy="256032"/>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area_freq</a:t>
            </a:r>
            <a:endParaRPr lang="en-US" sz="950" dirty="0"/>
          </a:p>
        </p:txBody>
      </p:sp>
      <p:sp>
        <p:nvSpPr>
          <p:cNvPr id="45" name="Text 43"/>
          <p:cNvSpPr/>
          <p:nvPr/>
        </p:nvSpPr>
        <p:spPr>
          <a:xfrm>
            <a:off x="8348472" y="5733288"/>
            <a:ext cx="1508760" cy="219456"/>
          </a:xfrm>
          <a:prstGeom prst="rect">
            <a:avLst/>
          </a:prstGeom>
          <a:noFill/>
          <a:ln/>
        </p:spPr>
        <p:txBody>
          <a:bodyPr wrap="square" lIns="0" tIns="0" rIns="0" bIns="0" rtlCol="0" anchor="ctr"/>
          <a:lstStyle/>
          <a:p>
            <a:pPr marL="0" indent="0">
              <a:buNone/>
            </a:pPr>
            <a:r>
              <a:rPr lang="en-US" sz="900" i="1" dirty="0">
                <a:solidFill>
                  <a:srgbClr val="C8F751"/>
                </a:solidFill>
                <a:latin typeface="Calibri" pitchFamily="34" charset="0"/>
                <a:ea typeface="Calibri" pitchFamily="34" charset="-122"/>
                <a:cs typeface="Calibri" pitchFamily="34" charset="-120"/>
              </a:rPr>
              <a:t>0–1</a:t>
            </a:r>
            <a:endParaRPr lang="en-US" sz="900" dirty="0"/>
          </a:p>
        </p:txBody>
      </p:sp>
      <p:sp>
        <p:nvSpPr>
          <p:cNvPr id="46" name="Shape 44"/>
          <p:cNvSpPr/>
          <p:nvPr/>
        </p:nvSpPr>
        <p:spPr>
          <a:xfrm>
            <a:off x="9966960" y="5440680"/>
            <a:ext cx="1627632" cy="530352"/>
          </a:xfrm>
          <a:prstGeom prst="rect">
            <a:avLst/>
          </a:prstGeom>
          <a:solidFill>
            <a:srgbClr val="0A1228"/>
          </a:solidFill>
          <a:ln w="5080">
            <a:solidFill>
              <a:srgbClr val="2A3A6E"/>
            </a:solidFill>
            <a:prstDash val="solid"/>
          </a:ln>
        </p:spPr>
        <p:txBody>
          <a:bodyPr/>
          <a:lstStyle/>
          <a:p>
            <a:endParaRPr lang="en-US"/>
          </a:p>
        </p:txBody>
      </p:sp>
      <p:sp>
        <p:nvSpPr>
          <p:cNvPr id="47" name="Text 45"/>
          <p:cNvSpPr/>
          <p:nvPr/>
        </p:nvSpPr>
        <p:spPr>
          <a:xfrm>
            <a:off x="10040112" y="5477256"/>
            <a:ext cx="1508760" cy="256032"/>
          </a:xfrm>
          <a:prstGeom prst="rect">
            <a:avLst/>
          </a:prstGeom>
          <a:noFill/>
          <a:ln/>
        </p:spPr>
        <p:txBody>
          <a:bodyPr wrap="square" lIns="0" tIns="0" rIns="0" bIns="0" rtlCol="0" anchor="ctr"/>
          <a:lstStyle/>
          <a:p>
            <a:pPr marL="0" indent="0">
              <a:buNone/>
            </a:pPr>
            <a:r>
              <a:rPr lang="en-US" sz="950" b="1" dirty="0">
                <a:solidFill>
                  <a:srgbClr val="FFFFFF"/>
                </a:solidFill>
                <a:latin typeface="Consolas" pitchFamily="34" charset="0"/>
                <a:ea typeface="Consolas" pitchFamily="34" charset="-122"/>
                <a:cs typeface="Consolas" pitchFamily="34" charset="-120"/>
              </a:rPr>
              <a:t>lat / lng</a:t>
            </a:r>
            <a:endParaRPr lang="en-US" sz="950" dirty="0"/>
          </a:p>
        </p:txBody>
      </p:sp>
      <p:sp>
        <p:nvSpPr>
          <p:cNvPr id="48" name="Text 46"/>
          <p:cNvSpPr/>
          <p:nvPr/>
        </p:nvSpPr>
        <p:spPr>
          <a:xfrm>
            <a:off x="10040112" y="5733288"/>
            <a:ext cx="1508760" cy="219456"/>
          </a:xfrm>
          <a:prstGeom prst="rect">
            <a:avLst/>
          </a:prstGeom>
          <a:noFill/>
          <a:ln/>
        </p:spPr>
        <p:txBody>
          <a:bodyPr wrap="square" lIns="0" tIns="0" rIns="0" bIns="0" rtlCol="0" anchor="ctr"/>
          <a:lstStyle/>
          <a:p>
            <a:pPr marL="0" indent="0">
              <a:buNone/>
            </a:pPr>
            <a:r>
              <a:rPr lang="en-US" sz="900" i="1" dirty="0">
                <a:solidFill>
                  <a:srgbClr val="C8F751"/>
                </a:solidFill>
                <a:latin typeface="Calibri" pitchFamily="34" charset="0"/>
                <a:ea typeface="Calibri" pitchFamily="34" charset="-122"/>
                <a:cs typeface="Calibri" pitchFamily="34" charset="-120"/>
              </a:rPr>
              <a:t>decimal</a:t>
            </a:r>
            <a:endParaRPr lang="en-US" sz="900" dirty="0"/>
          </a:p>
        </p:txBody>
      </p:sp>
      <p:sp>
        <p:nvSpPr>
          <p:cNvPr id="49" name="Text 4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50" name="Text 48"/>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16 / 28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MODEL 2 — POISSON ESTIMATOR</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Probability of at least one crime in the next hour</a:t>
            </a:r>
            <a:endParaRPr lang="en-US" sz="1200" dirty="0"/>
          </a:p>
        </p:txBody>
      </p:sp>
      <p:sp>
        <p:nvSpPr>
          <p:cNvPr id="5" name="Shape 3"/>
          <p:cNvSpPr/>
          <p:nvPr/>
        </p:nvSpPr>
        <p:spPr>
          <a:xfrm>
            <a:off x="640080" y="1371600"/>
            <a:ext cx="553212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08760"/>
            <a:ext cx="521208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STATISTICAL FOUNDATION</a:t>
            </a:r>
            <a:endParaRPr lang="en-US" sz="1000" dirty="0"/>
          </a:p>
        </p:txBody>
      </p:sp>
      <p:sp>
        <p:nvSpPr>
          <p:cNvPr id="8" name="Text 6"/>
          <p:cNvSpPr/>
          <p:nvPr/>
        </p:nvSpPr>
        <p:spPr>
          <a:xfrm>
            <a:off x="868680" y="1801368"/>
            <a:ext cx="5212080" cy="365760"/>
          </a:xfrm>
          <a:prstGeom prst="rect">
            <a:avLst/>
          </a:prstGeom>
          <a:noFill/>
          <a:ln/>
        </p:spPr>
        <p:txBody>
          <a:bodyPr wrap="square" lIns="0" tIns="0" rIns="0" bIns="0" rtlCol="0" anchor="ctr"/>
          <a:lstStyle/>
          <a:p>
            <a:pPr marL="0" indent="0">
              <a:buNone/>
            </a:pPr>
            <a:r>
              <a:rPr lang="en-US" sz="1200" i="1" dirty="0">
                <a:solidFill>
                  <a:srgbClr val="F4E9D8"/>
                </a:solidFill>
                <a:latin typeface="Calibri" pitchFamily="34" charset="0"/>
                <a:ea typeface="Calibri" pitchFamily="34" charset="-122"/>
                <a:cs typeface="Calibri" pitchFamily="34" charset="-120"/>
              </a:rPr>
              <a:t>Crime counts in a time-window follow a Poisson process.</a:t>
            </a:r>
            <a:endParaRPr lang="en-US" sz="1200" dirty="0"/>
          </a:p>
        </p:txBody>
      </p:sp>
      <p:sp>
        <p:nvSpPr>
          <p:cNvPr id="9" name="Shape 7"/>
          <p:cNvSpPr/>
          <p:nvPr/>
        </p:nvSpPr>
        <p:spPr>
          <a:xfrm>
            <a:off x="868680" y="2286000"/>
            <a:ext cx="5074920" cy="868680"/>
          </a:xfrm>
          <a:prstGeom prst="rect">
            <a:avLst/>
          </a:prstGeom>
          <a:solidFill>
            <a:srgbClr val="1B2752"/>
          </a:solidFill>
          <a:ln w="12700">
            <a:solidFill>
              <a:srgbClr val="C8F751"/>
            </a:solidFill>
            <a:prstDash val="solid"/>
          </a:ln>
        </p:spPr>
        <p:txBody>
          <a:bodyPr/>
          <a:lstStyle/>
          <a:p>
            <a:endParaRPr lang="en-US"/>
          </a:p>
        </p:txBody>
      </p:sp>
      <p:sp>
        <p:nvSpPr>
          <p:cNvPr id="10" name="Text 8"/>
          <p:cNvSpPr/>
          <p:nvPr/>
        </p:nvSpPr>
        <p:spPr>
          <a:xfrm>
            <a:off x="868680" y="2331720"/>
            <a:ext cx="5074920" cy="777240"/>
          </a:xfrm>
          <a:prstGeom prst="rect">
            <a:avLst/>
          </a:prstGeom>
          <a:noFill/>
          <a:ln/>
        </p:spPr>
        <p:txBody>
          <a:bodyPr wrap="square" lIns="0" tIns="0" rIns="0" bIns="0" rtlCol="0" anchor="ctr"/>
          <a:lstStyle/>
          <a:p>
            <a:pPr marL="0" indent="0" algn="ctr">
              <a:buNone/>
            </a:pPr>
            <a:r>
              <a:rPr lang="en-US" sz="1700" b="1" dirty="0">
                <a:solidFill>
                  <a:srgbClr val="C8F751"/>
                </a:solidFill>
                <a:latin typeface="Consolas" pitchFamily="34" charset="0"/>
                <a:ea typeface="Consolas" pitchFamily="34" charset="-122"/>
                <a:cs typeface="Consolas" pitchFamily="34" charset="-120"/>
              </a:rPr>
              <a:t>P(≥ 1 crime next hour) = 1 − e^(−λ)</a:t>
            </a:r>
            <a:endParaRPr lang="en-US" sz="1700" dirty="0"/>
          </a:p>
        </p:txBody>
      </p:sp>
      <p:sp>
        <p:nvSpPr>
          <p:cNvPr id="11" name="Text 9"/>
          <p:cNvSpPr/>
          <p:nvPr/>
        </p:nvSpPr>
        <p:spPr>
          <a:xfrm>
            <a:off x="868680" y="3246120"/>
            <a:ext cx="5074920" cy="365760"/>
          </a:xfrm>
          <a:prstGeom prst="rect">
            <a:avLst/>
          </a:prstGeom>
          <a:noFill/>
          <a:ln/>
        </p:spPr>
        <p:txBody>
          <a:bodyPr wrap="square" lIns="0" tIns="0" rIns="0" bIns="0" rtlCol="0" anchor="ctr"/>
          <a:lstStyle/>
          <a:p>
            <a:pPr marL="0" indent="0">
              <a:buNone/>
            </a:pPr>
            <a:r>
              <a:rPr lang="en-US" sz="1100" dirty="0">
                <a:solidFill>
                  <a:srgbClr val="F4E9D8"/>
                </a:solidFill>
                <a:latin typeface="Calibri" pitchFamily="34" charset="0"/>
                <a:ea typeface="Calibri" pitchFamily="34" charset="-122"/>
                <a:cs typeface="Calibri" pitchFamily="34" charset="-120"/>
              </a:rPr>
              <a:t>λ (lambda) = expected number of crimes per hour, built up from history:</a:t>
            </a:r>
            <a:endParaRPr lang="en-US" sz="1100" dirty="0"/>
          </a:p>
        </p:txBody>
      </p:sp>
      <p:sp>
        <p:nvSpPr>
          <p:cNvPr id="12" name="Shape 10"/>
          <p:cNvSpPr/>
          <p:nvPr/>
        </p:nvSpPr>
        <p:spPr>
          <a:xfrm>
            <a:off x="868680" y="3657600"/>
            <a:ext cx="5074920" cy="1325880"/>
          </a:xfrm>
          <a:prstGeom prst="rect">
            <a:avLst/>
          </a:prstGeom>
          <a:solidFill>
            <a:srgbClr val="0A1228"/>
          </a:solidFill>
          <a:ln w="6350">
            <a:solidFill>
              <a:srgbClr val="2A3A6E"/>
            </a:solidFill>
            <a:prstDash val="solid"/>
          </a:ln>
        </p:spPr>
        <p:txBody>
          <a:bodyPr/>
          <a:lstStyle/>
          <a:p>
            <a:endParaRPr lang="en-US"/>
          </a:p>
        </p:txBody>
      </p:sp>
      <p:sp>
        <p:nvSpPr>
          <p:cNvPr id="13" name="Text 11"/>
          <p:cNvSpPr/>
          <p:nvPr/>
        </p:nvSpPr>
        <p:spPr>
          <a:xfrm>
            <a:off x="960120" y="3749040"/>
            <a:ext cx="4937760" cy="1188720"/>
          </a:xfrm>
          <a:prstGeom prst="rect">
            <a:avLst/>
          </a:prstGeom>
          <a:noFill/>
          <a:ln/>
        </p:spPr>
        <p:txBody>
          <a:bodyPr wrap="square" lIns="0" tIns="0" rIns="0" bIns="0" rtlCol="0" anchor="ctr"/>
          <a:lstStyle/>
          <a:p>
            <a:pPr marL="0" indent="0">
              <a:buNone/>
            </a:pPr>
            <a:r>
              <a:rPr lang="en-US" sz="1100" dirty="0">
                <a:solidFill>
                  <a:srgbClr val="C8F751"/>
                </a:solidFill>
                <a:latin typeface="Consolas" pitchFamily="34" charset="0"/>
                <a:ea typeface="Consolas" pitchFamily="34" charset="-122"/>
                <a:cs typeface="Consolas" pitchFamily="34" charset="-120"/>
              </a:rPr>
              <a:t>λ = base_lambda</a:t>
            </a:r>
            <a:endParaRPr lang="en-US" sz="1100" dirty="0"/>
          </a:p>
          <a:p>
            <a:pPr marL="0" indent="0">
              <a:buNone/>
            </a:pPr>
            <a:r>
              <a:rPr lang="en-US" sz="1050" dirty="0">
                <a:solidFill>
                  <a:srgbClr val="F4E9D8"/>
                </a:solidFill>
                <a:latin typeface="Consolas" pitchFamily="34" charset="0"/>
                <a:ea typeface="Consolas" pitchFamily="34" charset="-122"/>
                <a:cs typeface="Consolas" pitchFamily="34" charset="-120"/>
              </a:rPr>
              <a:t>    × dow_mult       (day-of-week)</a:t>
            </a:r>
            <a:endParaRPr lang="en-US" sz="1100" dirty="0"/>
          </a:p>
          <a:p>
            <a:pPr marL="0" indent="0">
              <a:buNone/>
            </a:pPr>
            <a:r>
              <a:rPr lang="en-US" sz="1050" dirty="0">
                <a:solidFill>
                  <a:srgbClr val="F4E9D8"/>
                </a:solidFill>
                <a:latin typeface="Consolas" pitchFamily="34" charset="0"/>
                <a:ea typeface="Consolas" pitchFamily="34" charset="-122"/>
                <a:cs typeface="Consolas" pitchFamily="34" charset="-120"/>
              </a:rPr>
              <a:t>    × month_mult     (seasonal)</a:t>
            </a:r>
            <a:endParaRPr lang="en-US" sz="1100" dirty="0"/>
          </a:p>
          <a:p>
            <a:pPr marL="0" indent="0">
              <a:buNone/>
            </a:pPr>
            <a:r>
              <a:rPr lang="en-US" sz="1050" dirty="0">
                <a:solidFill>
                  <a:srgbClr val="F5A524"/>
                </a:solidFill>
                <a:latin typeface="Consolas" pitchFamily="34" charset="0"/>
                <a:ea typeface="Consolas" pitchFamily="34" charset="-122"/>
                <a:cs typeface="Consolas" pitchFamily="34" charset="-120"/>
              </a:rPr>
              <a:t>    × hour_mult^2.2  (sharp diurnal)</a:t>
            </a:r>
            <a:endParaRPr lang="en-US" sz="1100" dirty="0"/>
          </a:p>
        </p:txBody>
      </p:sp>
      <p:sp>
        <p:nvSpPr>
          <p:cNvPr id="14" name="Shape 12"/>
          <p:cNvSpPr/>
          <p:nvPr/>
        </p:nvSpPr>
        <p:spPr>
          <a:xfrm>
            <a:off x="868680" y="5120640"/>
            <a:ext cx="5074920" cy="1097280"/>
          </a:xfrm>
          <a:prstGeom prst="rect">
            <a:avLst/>
          </a:prstGeom>
          <a:solidFill>
            <a:srgbClr val="1B2752"/>
          </a:solidFill>
          <a:ln w="6350">
            <a:solidFill>
              <a:srgbClr val="C8F751"/>
            </a:solidFill>
            <a:prstDash val="solid"/>
          </a:ln>
        </p:spPr>
        <p:txBody>
          <a:bodyPr/>
          <a:lstStyle/>
          <a:p>
            <a:endParaRPr lang="en-US"/>
          </a:p>
        </p:txBody>
      </p:sp>
      <p:sp>
        <p:nvSpPr>
          <p:cNvPr id="15" name="Text 13"/>
          <p:cNvSpPr/>
          <p:nvPr/>
        </p:nvSpPr>
        <p:spPr>
          <a:xfrm>
            <a:off x="1005840" y="5212080"/>
            <a:ext cx="4800600" cy="256032"/>
          </a:xfrm>
          <a:prstGeom prst="rect">
            <a:avLst/>
          </a:prstGeom>
          <a:noFill/>
          <a:ln/>
        </p:spPr>
        <p:txBody>
          <a:bodyPr wrap="square" lIns="0" tIns="0" rIns="0" bIns="0" rtlCol="0" anchor="ctr"/>
          <a:lstStyle/>
          <a:p>
            <a:pPr marL="0" indent="0">
              <a:buNone/>
            </a:pPr>
            <a:r>
              <a:rPr lang="en-US" sz="900" b="1" kern="0" spc="300" dirty="0">
                <a:solidFill>
                  <a:srgbClr val="C8F751"/>
                </a:solidFill>
                <a:latin typeface="Calibri" pitchFamily="34" charset="0"/>
                <a:ea typeface="Calibri" pitchFamily="34" charset="-122"/>
                <a:cs typeface="Calibri" pitchFamily="34" charset="-120"/>
              </a:rPr>
              <a:t>WHAT THIS MEANS</a:t>
            </a:r>
            <a:endParaRPr lang="en-US" sz="900" dirty="0"/>
          </a:p>
        </p:txBody>
      </p:sp>
      <p:sp>
        <p:nvSpPr>
          <p:cNvPr id="16" name="Text 14"/>
          <p:cNvSpPr/>
          <p:nvPr/>
        </p:nvSpPr>
        <p:spPr>
          <a:xfrm>
            <a:off x="1005840" y="5486400"/>
            <a:ext cx="4800600" cy="64008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Plain English: how likely is at least one crime in the next hour for this area? Higher λ means more crimes typically happen in this hour, day, month — so the probability rises. The 2.2 power on the hourly multiplier makes night-time risk visibly higher than daytime, which matches what citizens actually feel.</a:t>
            </a:r>
            <a:endParaRPr lang="en-US" sz="1100" dirty="0"/>
          </a:p>
        </p:txBody>
      </p:sp>
      <p:sp>
        <p:nvSpPr>
          <p:cNvPr id="17" name="Shape 15"/>
          <p:cNvSpPr/>
          <p:nvPr/>
        </p:nvSpPr>
        <p:spPr>
          <a:xfrm>
            <a:off x="6355080" y="1371600"/>
            <a:ext cx="5349240" cy="4937760"/>
          </a:xfrm>
          <a:prstGeom prst="rect">
            <a:avLst/>
          </a:prstGeom>
          <a:solidFill>
            <a:srgbClr val="121C3A"/>
          </a:solidFill>
          <a:ln w="9525">
            <a:solidFill>
              <a:srgbClr val="2A3A6E"/>
            </a:solidFill>
            <a:prstDash val="solid"/>
          </a:ln>
        </p:spPr>
        <p:txBody>
          <a:bodyPr/>
          <a:lstStyle/>
          <a:p>
            <a:endParaRPr lang="en-US"/>
          </a:p>
        </p:txBody>
      </p:sp>
      <p:sp>
        <p:nvSpPr>
          <p:cNvPr id="18" name="Shape 16"/>
          <p:cNvSpPr/>
          <p:nvPr/>
        </p:nvSpPr>
        <p:spPr>
          <a:xfrm>
            <a:off x="6355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19" name="Text 17"/>
          <p:cNvSpPr/>
          <p:nvPr/>
        </p:nvSpPr>
        <p:spPr>
          <a:xfrm>
            <a:off x="6583680" y="1508760"/>
            <a:ext cx="502920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RISK BUCKETING</a:t>
            </a:r>
            <a:endParaRPr lang="en-US" sz="1000" dirty="0"/>
          </a:p>
        </p:txBody>
      </p:sp>
      <p:sp>
        <p:nvSpPr>
          <p:cNvPr id="20" name="Text 18"/>
          <p:cNvSpPr/>
          <p:nvPr/>
        </p:nvSpPr>
        <p:spPr>
          <a:xfrm>
            <a:off x="6583680" y="1801368"/>
            <a:ext cx="5029200" cy="365760"/>
          </a:xfrm>
          <a:prstGeom prst="rect">
            <a:avLst/>
          </a:prstGeom>
          <a:noFill/>
          <a:ln/>
        </p:spPr>
        <p:txBody>
          <a:bodyPr wrap="square" lIns="0" tIns="0" rIns="0" bIns="0" rtlCol="0" anchor="ctr"/>
          <a:lstStyle/>
          <a:p>
            <a:pPr marL="0" indent="0">
              <a:buNone/>
            </a:pPr>
            <a:r>
              <a:rPr lang="en-US" sz="1200" i="1" dirty="0">
                <a:solidFill>
                  <a:srgbClr val="F4E9D8"/>
                </a:solidFill>
                <a:latin typeface="Calibri" pitchFamily="34" charset="0"/>
                <a:ea typeface="Calibri" pitchFamily="34" charset="-122"/>
                <a:cs typeface="Calibri" pitchFamily="34" charset="-120"/>
              </a:rPr>
              <a:t>Probability becomes a 4-tier label</a:t>
            </a:r>
            <a:endParaRPr lang="en-US" sz="1200" dirty="0"/>
          </a:p>
        </p:txBody>
      </p:sp>
      <p:sp>
        <p:nvSpPr>
          <p:cNvPr id="21" name="Shape 19"/>
          <p:cNvSpPr/>
          <p:nvPr/>
        </p:nvSpPr>
        <p:spPr>
          <a:xfrm>
            <a:off x="6583680" y="2286000"/>
            <a:ext cx="4937760" cy="914400"/>
          </a:xfrm>
          <a:prstGeom prst="rect">
            <a:avLst/>
          </a:prstGeom>
          <a:solidFill>
            <a:srgbClr val="0A1228"/>
          </a:solidFill>
          <a:ln w="5080">
            <a:solidFill>
              <a:srgbClr val="2A3A6E"/>
            </a:solidFill>
            <a:prstDash val="solid"/>
          </a:ln>
        </p:spPr>
        <p:txBody>
          <a:bodyPr/>
          <a:lstStyle/>
          <a:p>
            <a:endParaRPr lang="en-US"/>
          </a:p>
        </p:txBody>
      </p:sp>
      <p:sp>
        <p:nvSpPr>
          <p:cNvPr id="22" name="Shape 20"/>
          <p:cNvSpPr/>
          <p:nvPr/>
        </p:nvSpPr>
        <p:spPr>
          <a:xfrm>
            <a:off x="6583680" y="2286000"/>
            <a:ext cx="91440" cy="914400"/>
          </a:xfrm>
          <a:prstGeom prst="rect">
            <a:avLst/>
          </a:prstGeom>
          <a:solidFill>
            <a:srgbClr val="E5484D"/>
          </a:solidFill>
          <a:ln w="12700">
            <a:solidFill>
              <a:srgbClr val="E5484D"/>
            </a:solidFill>
            <a:prstDash val="solid"/>
          </a:ln>
        </p:spPr>
        <p:txBody>
          <a:bodyPr/>
          <a:lstStyle/>
          <a:p>
            <a:endParaRPr lang="en-US"/>
          </a:p>
        </p:txBody>
      </p:sp>
      <p:sp>
        <p:nvSpPr>
          <p:cNvPr id="23" name="Text 21"/>
          <p:cNvSpPr/>
          <p:nvPr/>
        </p:nvSpPr>
        <p:spPr>
          <a:xfrm>
            <a:off x="6766560" y="2359152"/>
            <a:ext cx="1554480" cy="292608"/>
          </a:xfrm>
          <a:prstGeom prst="rect">
            <a:avLst/>
          </a:prstGeom>
          <a:noFill/>
          <a:ln/>
        </p:spPr>
        <p:txBody>
          <a:bodyPr wrap="square" lIns="0" tIns="0" rIns="0" bIns="0" rtlCol="0" anchor="ctr"/>
          <a:lstStyle/>
          <a:p>
            <a:pPr marL="0" indent="0">
              <a:buNone/>
            </a:pPr>
            <a:r>
              <a:rPr lang="en-US" sz="1300" b="1" dirty="0">
                <a:solidFill>
                  <a:srgbClr val="E5484D"/>
                </a:solidFill>
                <a:latin typeface="Calibri" pitchFamily="34" charset="0"/>
                <a:ea typeface="Calibri" pitchFamily="34" charset="-122"/>
                <a:cs typeface="Calibri" pitchFamily="34" charset="-120"/>
              </a:rPr>
              <a:t>CRITICAL</a:t>
            </a:r>
            <a:endParaRPr lang="en-US" sz="1300" dirty="0"/>
          </a:p>
        </p:txBody>
      </p:sp>
      <p:sp>
        <p:nvSpPr>
          <p:cNvPr id="24" name="Text 22"/>
          <p:cNvSpPr/>
          <p:nvPr/>
        </p:nvSpPr>
        <p:spPr>
          <a:xfrm>
            <a:off x="8321040" y="2377440"/>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onsolas" pitchFamily="34" charset="0"/>
                <a:ea typeface="Consolas" pitchFamily="34" charset="-122"/>
                <a:cs typeface="Consolas" pitchFamily="34" charset="-120"/>
              </a:rPr>
              <a:t>P &gt; 0.80</a:t>
            </a:r>
            <a:endParaRPr lang="en-US" sz="1100" dirty="0"/>
          </a:p>
        </p:txBody>
      </p:sp>
      <p:sp>
        <p:nvSpPr>
          <p:cNvPr id="25" name="Text 23"/>
          <p:cNvSpPr/>
          <p:nvPr/>
        </p:nvSpPr>
        <p:spPr>
          <a:xfrm>
            <a:off x="6766560" y="2670048"/>
            <a:ext cx="466344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Almost certainly happening soon. Red pulse on map; alert pushed.</a:t>
            </a:r>
            <a:endParaRPr lang="en-US" sz="1000" dirty="0"/>
          </a:p>
        </p:txBody>
      </p:sp>
      <p:sp>
        <p:nvSpPr>
          <p:cNvPr id="26" name="Shape 24"/>
          <p:cNvSpPr/>
          <p:nvPr/>
        </p:nvSpPr>
        <p:spPr>
          <a:xfrm>
            <a:off x="6583680" y="3291840"/>
            <a:ext cx="4937760" cy="914400"/>
          </a:xfrm>
          <a:prstGeom prst="rect">
            <a:avLst/>
          </a:prstGeom>
          <a:solidFill>
            <a:srgbClr val="0A1228"/>
          </a:solidFill>
          <a:ln w="5080">
            <a:solidFill>
              <a:srgbClr val="2A3A6E"/>
            </a:solidFill>
            <a:prstDash val="solid"/>
          </a:ln>
        </p:spPr>
        <p:txBody>
          <a:bodyPr/>
          <a:lstStyle/>
          <a:p>
            <a:endParaRPr lang="en-US"/>
          </a:p>
        </p:txBody>
      </p:sp>
      <p:sp>
        <p:nvSpPr>
          <p:cNvPr id="27" name="Shape 25"/>
          <p:cNvSpPr/>
          <p:nvPr/>
        </p:nvSpPr>
        <p:spPr>
          <a:xfrm>
            <a:off x="6583680" y="3291840"/>
            <a:ext cx="91440" cy="914400"/>
          </a:xfrm>
          <a:prstGeom prst="rect">
            <a:avLst/>
          </a:prstGeom>
          <a:solidFill>
            <a:srgbClr val="F5A524"/>
          </a:solidFill>
          <a:ln w="12700">
            <a:solidFill>
              <a:srgbClr val="F5A524"/>
            </a:solidFill>
            <a:prstDash val="solid"/>
          </a:ln>
        </p:spPr>
        <p:txBody>
          <a:bodyPr/>
          <a:lstStyle/>
          <a:p>
            <a:endParaRPr lang="en-US"/>
          </a:p>
        </p:txBody>
      </p:sp>
      <p:sp>
        <p:nvSpPr>
          <p:cNvPr id="28" name="Text 26"/>
          <p:cNvSpPr/>
          <p:nvPr/>
        </p:nvSpPr>
        <p:spPr>
          <a:xfrm>
            <a:off x="6766560" y="3364992"/>
            <a:ext cx="1554480" cy="292608"/>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HIGH</a:t>
            </a:r>
            <a:endParaRPr lang="en-US" sz="1300" dirty="0"/>
          </a:p>
        </p:txBody>
      </p:sp>
      <p:sp>
        <p:nvSpPr>
          <p:cNvPr id="29" name="Text 27"/>
          <p:cNvSpPr/>
          <p:nvPr/>
        </p:nvSpPr>
        <p:spPr>
          <a:xfrm>
            <a:off x="8321040" y="3383280"/>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onsolas" pitchFamily="34" charset="0"/>
                <a:ea typeface="Consolas" pitchFamily="34" charset="-122"/>
                <a:cs typeface="Consolas" pitchFamily="34" charset="-120"/>
              </a:rPr>
              <a:t>0.50 &lt; P ≤ 0.80</a:t>
            </a:r>
            <a:endParaRPr lang="en-US" sz="1100" dirty="0"/>
          </a:p>
        </p:txBody>
      </p:sp>
      <p:sp>
        <p:nvSpPr>
          <p:cNvPr id="30" name="Text 28"/>
          <p:cNvSpPr/>
          <p:nvPr/>
        </p:nvSpPr>
        <p:spPr>
          <a:xfrm>
            <a:off x="6766560" y="3675888"/>
            <a:ext cx="466344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Strong odds. Highlighted; warning shown before route confirmation.</a:t>
            </a:r>
            <a:endParaRPr lang="en-US" sz="1000" dirty="0"/>
          </a:p>
        </p:txBody>
      </p:sp>
      <p:sp>
        <p:nvSpPr>
          <p:cNvPr id="31" name="Shape 29"/>
          <p:cNvSpPr/>
          <p:nvPr/>
        </p:nvSpPr>
        <p:spPr>
          <a:xfrm>
            <a:off x="6583680" y="4297680"/>
            <a:ext cx="4937760" cy="914400"/>
          </a:xfrm>
          <a:prstGeom prst="rect">
            <a:avLst/>
          </a:prstGeom>
          <a:solidFill>
            <a:srgbClr val="0A1228"/>
          </a:solidFill>
          <a:ln w="5080">
            <a:solidFill>
              <a:srgbClr val="2A3A6E"/>
            </a:solidFill>
            <a:prstDash val="solid"/>
          </a:ln>
        </p:spPr>
        <p:txBody>
          <a:bodyPr/>
          <a:lstStyle/>
          <a:p>
            <a:endParaRPr lang="en-US"/>
          </a:p>
        </p:txBody>
      </p:sp>
      <p:sp>
        <p:nvSpPr>
          <p:cNvPr id="32" name="Shape 30"/>
          <p:cNvSpPr/>
          <p:nvPr/>
        </p:nvSpPr>
        <p:spPr>
          <a:xfrm>
            <a:off x="6583680" y="4297680"/>
            <a:ext cx="91440" cy="914400"/>
          </a:xfrm>
          <a:prstGeom prst="rect">
            <a:avLst/>
          </a:prstGeom>
          <a:solidFill>
            <a:srgbClr val="C8F751"/>
          </a:solidFill>
          <a:ln w="12700">
            <a:solidFill>
              <a:srgbClr val="C8F751"/>
            </a:solidFill>
            <a:prstDash val="solid"/>
          </a:ln>
        </p:spPr>
        <p:txBody>
          <a:bodyPr/>
          <a:lstStyle/>
          <a:p>
            <a:endParaRPr lang="en-US"/>
          </a:p>
        </p:txBody>
      </p:sp>
      <p:sp>
        <p:nvSpPr>
          <p:cNvPr id="33" name="Text 31"/>
          <p:cNvSpPr/>
          <p:nvPr/>
        </p:nvSpPr>
        <p:spPr>
          <a:xfrm>
            <a:off x="6766560" y="4370832"/>
            <a:ext cx="1554480" cy="292608"/>
          </a:xfrm>
          <a:prstGeom prst="rect">
            <a:avLst/>
          </a:prstGeom>
          <a:noFill/>
          <a:ln/>
        </p:spPr>
        <p:txBody>
          <a:bodyPr wrap="square" lIns="0" tIns="0" rIns="0" bIns="0" rtlCol="0" anchor="ctr"/>
          <a:lstStyle/>
          <a:p>
            <a:pPr marL="0" indent="0">
              <a:buNone/>
            </a:pPr>
            <a:r>
              <a:rPr lang="en-US" sz="1300" b="1" dirty="0">
                <a:solidFill>
                  <a:srgbClr val="C8F751"/>
                </a:solidFill>
                <a:latin typeface="Calibri" pitchFamily="34" charset="0"/>
                <a:ea typeface="Calibri" pitchFamily="34" charset="-122"/>
                <a:cs typeface="Calibri" pitchFamily="34" charset="-120"/>
              </a:rPr>
              <a:t>MEDIUM</a:t>
            </a:r>
            <a:endParaRPr lang="en-US" sz="1300" dirty="0"/>
          </a:p>
        </p:txBody>
      </p:sp>
      <p:sp>
        <p:nvSpPr>
          <p:cNvPr id="34" name="Text 32"/>
          <p:cNvSpPr/>
          <p:nvPr/>
        </p:nvSpPr>
        <p:spPr>
          <a:xfrm>
            <a:off x="8321040" y="4389120"/>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onsolas" pitchFamily="34" charset="0"/>
                <a:ea typeface="Consolas" pitchFamily="34" charset="-122"/>
                <a:cs typeface="Consolas" pitchFamily="34" charset="-120"/>
              </a:rPr>
              <a:t>0.25 &lt; P ≤ 0.50</a:t>
            </a:r>
            <a:endParaRPr lang="en-US" sz="1100" dirty="0"/>
          </a:p>
        </p:txBody>
      </p:sp>
      <p:sp>
        <p:nvSpPr>
          <p:cNvPr id="35" name="Text 33"/>
          <p:cNvSpPr/>
          <p:nvPr/>
        </p:nvSpPr>
        <p:spPr>
          <a:xfrm>
            <a:off x="6766560" y="4681728"/>
            <a:ext cx="466344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Notable but not alarming. Shown in orange in safety report.</a:t>
            </a:r>
            <a:endParaRPr lang="en-US" sz="1000" dirty="0"/>
          </a:p>
        </p:txBody>
      </p:sp>
      <p:sp>
        <p:nvSpPr>
          <p:cNvPr id="36" name="Shape 34"/>
          <p:cNvSpPr/>
          <p:nvPr/>
        </p:nvSpPr>
        <p:spPr>
          <a:xfrm>
            <a:off x="6583680" y="5303520"/>
            <a:ext cx="4937760" cy="914400"/>
          </a:xfrm>
          <a:prstGeom prst="rect">
            <a:avLst/>
          </a:prstGeom>
          <a:solidFill>
            <a:srgbClr val="0A1228"/>
          </a:solidFill>
          <a:ln w="5080">
            <a:solidFill>
              <a:srgbClr val="2A3A6E"/>
            </a:solidFill>
            <a:prstDash val="solid"/>
          </a:ln>
        </p:spPr>
        <p:txBody>
          <a:bodyPr/>
          <a:lstStyle/>
          <a:p>
            <a:endParaRPr lang="en-US"/>
          </a:p>
        </p:txBody>
      </p:sp>
      <p:sp>
        <p:nvSpPr>
          <p:cNvPr id="37" name="Shape 35"/>
          <p:cNvSpPr/>
          <p:nvPr/>
        </p:nvSpPr>
        <p:spPr>
          <a:xfrm>
            <a:off x="6583680" y="5303520"/>
            <a:ext cx="91440" cy="914400"/>
          </a:xfrm>
          <a:prstGeom prst="rect">
            <a:avLst/>
          </a:prstGeom>
          <a:solidFill>
            <a:srgbClr val="30A46C"/>
          </a:solidFill>
          <a:ln w="12700">
            <a:solidFill>
              <a:srgbClr val="30A46C"/>
            </a:solidFill>
            <a:prstDash val="solid"/>
          </a:ln>
        </p:spPr>
        <p:txBody>
          <a:bodyPr/>
          <a:lstStyle/>
          <a:p>
            <a:endParaRPr lang="en-US"/>
          </a:p>
        </p:txBody>
      </p:sp>
      <p:sp>
        <p:nvSpPr>
          <p:cNvPr id="38" name="Text 36"/>
          <p:cNvSpPr/>
          <p:nvPr/>
        </p:nvSpPr>
        <p:spPr>
          <a:xfrm>
            <a:off x="6766560" y="5376672"/>
            <a:ext cx="1554480" cy="292608"/>
          </a:xfrm>
          <a:prstGeom prst="rect">
            <a:avLst/>
          </a:prstGeom>
          <a:noFill/>
          <a:ln/>
        </p:spPr>
        <p:txBody>
          <a:bodyPr wrap="square" lIns="0" tIns="0" rIns="0" bIns="0" rtlCol="0" anchor="ctr"/>
          <a:lstStyle/>
          <a:p>
            <a:pPr marL="0" indent="0">
              <a:buNone/>
            </a:pPr>
            <a:r>
              <a:rPr lang="en-US" sz="1300" b="1" dirty="0">
                <a:solidFill>
                  <a:srgbClr val="30A46C"/>
                </a:solidFill>
                <a:latin typeface="Calibri" pitchFamily="34" charset="0"/>
                <a:ea typeface="Calibri" pitchFamily="34" charset="-122"/>
                <a:cs typeface="Calibri" pitchFamily="34" charset="-120"/>
              </a:rPr>
              <a:t>LOW</a:t>
            </a:r>
            <a:endParaRPr lang="en-US" sz="1300" dirty="0"/>
          </a:p>
        </p:txBody>
      </p:sp>
      <p:sp>
        <p:nvSpPr>
          <p:cNvPr id="39" name="Text 37"/>
          <p:cNvSpPr/>
          <p:nvPr/>
        </p:nvSpPr>
        <p:spPr>
          <a:xfrm>
            <a:off x="8321040" y="5394960"/>
            <a:ext cx="1463040" cy="274320"/>
          </a:xfrm>
          <a:prstGeom prst="rect">
            <a:avLst/>
          </a:prstGeom>
          <a:noFill/>
          <a:ln/>
        </p:spPr>
        <p:txBody>
          <a:bodyPr wrap="square" lIns="0" tIns="0" rIns="0" bIns="0" rtlCol="0" anchor="ctr"/>
          <a:lstStyle/>
          <a:p>
            <a:pPr marL="0" indent="0">
              <a:buNone/>
            </a:pPr>
            <a:r>
              <a:rPr lang="en-US" sz="1100" b="1" dirty="0">
                <a:solidFill>
                  <a:srgbClr val="C8F751"/>
                </a:solidFill>
                <a:latin typeface="Consolas" pitchFamily="34" charset="0"/>
                <a:ea typeface="Consolas" pitchFamily="34" charset="-122"/>
                <a:cs typeface="Consolas" pitchFamily="34" charset="-120"/>
              </a:rPr>
              <a:t>P ≤ 0.25</a:t>
            </a:r>
            <a:endParaRPr lang="en-US" sz="1100" dirty="0"/>
          </a:p>
        </p:txBody>
      </p:sp>
      <p:sp>
        <p:nvSpPr>
          <p:cNvPr id="40" name="Text 38"/>
          <p:cNvSpPr/>
          <p:nvPr/>
        </p:nvSpPr>
        <p:spPr>
          <a:xfrm>
            <a:off x="6766560" y="5687568"/>
            <a:ext cx="466344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Background risk. The everyday baseline — no special UI.</a:t>
            </a:r>
            <a:endParaRPr lang="en-US" sz="1000" dirty="0"/>
          </a:p>
        </p:txBody>
      </p:sp>
      <p:sp>
        <p:nvSpPr>
          <p:cNvPr id="41" name="Text 39"/>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42" name="Text 40"/>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17 / 28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UNIFIED RISK SCORE</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Five components blended into one 0–100 number</a:t>
            </a:r>
            <a:endParaRPr lang="en-US" sz="1200" dirty="0"/>
          </a:p>
        </p:txBody>
      </p:sp>
      <p:graphicFrame>
        <p:nvGraphicFramePr>
          <p:cNvPr id="5" name="Chart 0"/>
          <p:cNvGraphicFramePr/>
          <p:nvPr/>
        </p:nvGraphicFramePr>
        <p:xfrm>
          <a:off x="640080" y="1280160"/>
          <a:ext cx="5120640" cy="5120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89320" y="1371600"/>
            <a:ext cx="5715000" cy="868680"/>
          </a:xfrm>
          <a:prstGeom prst="rect">
            <a:avLst/>
          </a:prstGeom>
          <a:solidFill>
            <a:srgbClr val="121C3A"/>
          </a:solidFill>
          <a:ln w="9525">
            <a:solidFill>
              <a:srgbClr val="2A3A6E"/>
            </a:solidFill>
            <a:prstDash val="solid"/>
          </a:ln>
        </p:spPr>
        <p:txBody>
          <a:bodyPr/>
          <a:lstStyle/>
          <a:p>
            <a:endParaRPr lang="en-US"/>
          </a:p>
        </p:txBody>
      </p:sp>
      <p:sp>
        <p:nvSpPr>
          <p:cNvPr id="7" name="Shape 4"/>
          <p:cNvSpPr/>
          <p:nvPr/>
        </p:nvSpPr>
        <p:spPr>
          <a:xfrm>
            <a:off x="5989320" y="1371600"/>
            <a:ext cx="64008" cy="868680"/>
          </a:xfrm>
          <a:prstGeom prst="rect">
            <a:avLst/>
          </a:prstGeom>
          <a:solidFill>
            <a:srgbClr val="C8F751"/>
          </a:solidFill>
          <a:ln w="12700">
            <a:solidFill>
              <a:srgbClr val="C8F751"/>
            </a:solidFill>
            <a:prstDash val="solid"/>
          </a:ln>
        </p:spPr>
        <p:txBody>
          <a:bodyPr/>
          <a:lstStyle/>
          <a:p>
            <a:endParaRPr lang="en-US"/>
          </a:p>
        </p:txBody>
      </p:sp>
      <p:sp>
        <p:nvSpPr>
          <p:cNvPr id="8" name="Shape 5"/>
          <p:cNvSpPr/>
          <p:nvPr/>
        </p:nvSpPr>
        <p:spPr>
          <a:xfrm>
            <a:off x="6172200" y="1600200"/>
            <a:ext cx="411480" cy="411480"/>
          </a:xfrm>
          <a:prstGeom prst="ellipse">
            <a:avLst/>
          </a:prstGeom>
          <a:solidFill>
            <a:srgbClr val="C8F751"/>
          </a:solidFill>
          <a:ln w="12700">
            <a:solidFill>
              <a:srgbClr val="C8F751"/>
            </a:solidFill>
            <a:prstDash val="solid"/>
          </a:ln>
        </p:spPr>
        <p:txBody>
          <a:bodyPr/>
          <a:lstStyle/>
          <a:p>
            <a:endParaRPr lang="en-US"/>
          </a:p>
        </p:txBody>
      </p:sp>
      <p:sp>
        <p:nvSpPr>
          <p:cNvPr id="9" name="Text 6"/>
          <p:cNvSpPr/>
          <p:nvPr/>
        </p:nvSpPr>
        <p:spPr>
          <a:xfrm>
            <a:off x="6675120" y="1463040"/>
            <a:ext cx="1097280" cy="365760"/>
          </a:xfrm>
          <a:prstGeom prst="rect">
            <a:avLst/>
          </a:prstGeom>
          <a:noFill/>
          <a:ln/>
        </p:spPr>
        <p:txBody>
          <a:bodyPr wrap="square" lIns="0" tIns="0" rIns="0" bIns="0" rtlCol="0" anchor="ctr"/>
          <a:lstStyle/>
          <a:p>
            <a:pPr marL="0" indent="0">
              <a:buNone/>
            </a:pPr>
            <a:r>
              <a:rPr lang="en-US" sz="1800" b="1" dirty="0">
                <a:solidFill>
                  <a:srgbClr val="C8F751"/>
                </a:solidFill>
                <a:latin typeface="Calibri" pitchFamily="34" charset="0"/>
                <a:ea typeface="Calibri" pitchFamily="34" charset="-122"/>
                <a:cs typeface="Calibri" pitchFamily="34" charset="-120"/>
              </a:rPr>
              <a:t>35%</a:t>
            </a:r>
            <a:endParaRPr lang="en-US" sz="1800" dirty="0"/>
          </a:p>
        </p:txBody>
      </p:sp>
      <p:sp>
        <p:nvSpPr>
          <p:cNvPr id="10" name="Text 7"/>
          <p:cNvSpPr/>
          <p:nvPr/>
        </p:nvSpPr>
        <p:spPr>
          <a:xfrm>
            <a:off x="7818120" y="1463040"/>
            <a:ext cx="15544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Volume</a:t>
            </a:r>
            <a:endParaRPr lang="en-US" sz="1400" dirty="0"/>
          </a:p>
        </p:txBody>
      </p:sp>
      <p:sp>
        <p:nvSpPr>
          <p:cNvPr id="11" name="Text 8"/>
          <p:cNvSpPr/>
          <p:nvPr/>
        </p:nvSpPr>
        <p:spPr>
          <a:xfrm>
            <a:off x="6675120" y="1828800"/>
            <a:ext cx="4846320" cy="41148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How many crimes have happened in this area? Raw count, normalised by area size.</a:t>
            </a:r>
            <a:endParaRPr lang="en-US" sz="950" dirty="0"/>
          </a:p>
        </p:txBody>
      </p:sp>
      <p:sp>
        <p:nvSpPr>
          <p:cNvPr id="12" name="Shape 9"/>
          <p:cNvSpPr/>
          <p:nvPr/>
        </p:nvSpPr>
        <p:spPr>
          <a:xfrm>
            <a:off x="5989320" y="2331720"/>
            <a:ext cx="5715000" cy="868680"/>
          </a:xfrm>
          <a:prstGeom prst="rect">
            <a:avLst/>
          </a:prstGeom>
          <a:solidFill>
            <a:srgbClr val="121C3A"/>
          </a:solidFill>
          <a:ln w="9525">
            <a:solidFill>
              <a:srgbClr val="2A3A6E"/>
            </a:solidFill>
            <a:prstDash val="solid"/>
          </a:ln>
        </p:spPr>
        <p:txBody>
          <a:bodyPr/>
          <a:lstStyle/>
          <a:p>
            <a:endParaRPr lang="en-US"/>
          </a:p>
        </p:txBody>
      </p:sp>
      <p:sp>
        <p:nvSpPr>
          <p:cNvPr id="13" name="Shape 10"/>
          <p:cNvSpPr/>
          <p:nvPr/>
        </p:nvSpPr>
        <p:spPr>
          <a:xfrm>
            <a:off x="5989320" y="2331720"/>
            <a:ext cx="64008" cy="868680"/>
          </a:xfrm>
          <a:prstGeom prst="rect">
            <a:avLst/>
          </a:prstGeom>
          <a:solidFill>
            <a:srgbClr val="C8F751"/>
          </a:solidFill>
          <a:ln w="12700">
            <a:solidFill>
              <a:srgbClr val="C8F751"/>
            </a:solidFill>
            <a:prstDash val="solid"/>
          </a:ln>
        </p:spPr>
        <p:txBody>
          <a:bodyPr/>
          <a:lstStyle/>
          <a:p>
            <a:endParaRPr lang="en-US"/>
          </a:p>
        </p:txBody>
      </p:sp>
      <p:sp>
        <p:nvSpPr>
          <p:cNvPr id="14" name="Shape 11"/>
          <p:cNvSpPr/>
          <p:nvPr/>
        </p:nvSpPr>
        <p:spPr>
          <a:xfrm>
            <a:off x="6172200" y="2560320"/>
            <a:ext cx="411480" cy="411480"/>
          </a:xfrm>
          <a:prstGeom prst="ellipse">
            <a:avLst/>
          </a:prstGeom>
          <a:solidFill>
            <a:srgbClr val="5B8DEF"/>
          </a:solidFill>
          <a:ln w="12700">
            <a:solidFill>
              <a:srgbClr val="5B8DEF"/>
            </a:solidFill>
            <a:prstDash val="solid"/>
          </a:ln>
        </p:spPr>
        <p:txBody>
          <a:bodyPr/>
          <a:lstStyle/>
          <a:p>
            <a:endParaRPr lang="en-US"/>
          </a:p>
        </p:txBody>
      </p:sp>
      <p:sp>
        <p:nvSpPr>
          <p:cNvPr id="15" name="Text 12"/>
          <p:cNvSpPr/>
          <p:nvPr/>
        </p:nvSpPr>
        <p:spPr>
          <a:xfrm>
            <a:off x="6675120" y="2423160"/>
            <a:ext cx="1097280" cy="365760"/>
          </a:xfrm>
          <a:prstGeom prst="rect">
            <a:avLst/>
          </a:prstGeom>
          <a:noFill/>
          <a:ln/>
        </p:spPr>
        <p:txBody>
          <a:bodyPr wrap="square" lIns="0" tIns="0" rIns="0" bIns="0" rtlCol="0" anchor="ctr"/>
          <a:lstStyle/>
          <a:p>
            <a:pPr marL="0" indent="0">
              <a:buNone/>
            </a:pPr>
            <a:r>
              <a:rPr lang="en-US" sz="1800" b="1" dirty="0">
                <a:solidFill>
                  <a:srgbClr val="C8F751"/>
                </a:solidFill>
                <a:latin typeface="Calibri" pitchFamily="34" charset="0"/>
                <a:ea typeface="Calibri" pitchFamily="34" charset="-122"/>
                <a:cs typeface="Calibri" pitchFamily="34" charset="-120"/>
              </a:rPr>
              <a:t>30%</a:t>
            </a:r>
            <a:endParaRPr lang="en-US" sz="1800" dirty="0"/>
          </a:p>
        </p:txBody>
      </p:sp>
      <p:sp>
        <p:nvSpPr>
          <p:cNvPr id="16" name="Text 13"/>
          <p:cNvSpPr/>
          <p:nvPr/>
        </p:nvSpPr>
        <p:spPr>
          <a:xfrm>
            <a:off x="7818120" y="2423160"/>
            <a:ext cx="15544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Recency</a:t>
            </a:r>
            <a:endParaRPr lang="en-US" sz="1400" dirty="0"/>
          </a:p>
        </p:txBody>
      </p:sp>
      <p:sp>
        <p:nvSpPr>
          <p:cNvPr id="17" name="Text 14"/>
          <p:cNvSpPr/>
          <p:nvPr/>
        </p:nvSpPr>
        <p:spPr>
          <a:xfrm>
            <a:off x="6675120" y="2788920"/>
            <a:ext cx="4846320" cy="41148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How recent are those crimes? Yesterday's incident matters far more than last year's.</a:t>
            </a:r>
            <a:endParaRPr lang="en-US" sz="950" dirty="0"/>
          </a:p>
        </p:txBody>
      </p:sp>
      <p:sp>
        <p:nvSpPr>
          <p:cNvPr id="18" name="Shape 15"/>
          <p:cNvSpPr/>
          <p:nvPr/>
        </p:nvSpPr>
        <p:spPr>
          <a:xfrm>
            <a:off x="5989320" y="3291840"/>
            <a:ext cx="5715000" cy="868680"/>
          </a:xfrm>
          <a:prstGeom prst="rect">
            <a:avLst/>
          </a:prstGeom>
          <a:solidFill>
            <a:srgbClr val="121C3A"/>
          </a:solidFill>
          <a:ln w="9525">
            <a:solidFill>
              <a:srgbClr val="2A3A6E"/>
            </a:solidFill>
            <a:prstDash val="solid"/>
          </a:ln>
        </p:spPr>
        <p:txBody>
          <a:bodyPr/>
          <a:lstStyle/>
          <a:p>
            <a:endParaRPr lang="en-US"/>
          </a:p>
        </p:txBody>
      </p:sp>
      <p:sp>
        <p:nvSpPr>
          <p:cNvPr id="19" name="Shape 16"/>
          <p:cNvSpPr/>
          <p:nvPr/>
        </p:nvSpPr>
        <p:spPr>
          <a:xfrm>
            <a:off x="5989320" y="3291840"/>
            <a:ext cx="64008" cy="868680"/>
          </a:xfrm>
          <a:prstGeom prst="rect">
            <a:avLst/>
          </a:prstGeom>
          <a:solidFill>
            <a:srgbClr val="C8F751"/>
          </a:solidFill>
          <a:ln w="12700">
            <a:solidFill>
              <a:srgbClr val="C8F751"/>
            </a:solidFill>
            <a:prstDash val="solid"/>
          </a:ln>
        </p:spPr>
        <p:txBody>
          <a:bodyPr/>
          <a:lstStyle/>
          <a:p>
            <a:endParaRPr lang="en-US"/>
          </a:p>
        </p:txBody>
      </p:sp>
      <p:sp>
        <p:nvSpPr>
          <p:cNvPr id="20" name="Shape 17"/>
          <p:cNvSpPr/>
          <p:nvPr/>
        </p:nvSpPr>
        <p:spPr>
          <a:xfrm>
            <a:off x="6172200" y="3520440"/>
            <a:ext cx="411480" cy="411480"/>
          </a:xfrm>
          <a:prstGeom prst="ellipse">
            <a:avLst/>
          </a:prstGeom>
          <a:solidFill>
            <a:srgbClr val="F5A524"/>
          </a:solidFill>
          <a:ln w="12700">
            <a:solidFill>
              <a:srgbClr val="F5A524"/>
            </a:solidFill>
            <a:prstDash val="solid"/>
          </a:ln>
        </p:spPr>
        <p:txBody>
          <a:bodyPr/>
          <a:lstStyle/>
          <a:p>
            <a:endParaRPr lang="en-US"/>
          </a:p>
        </p:txBody>
      </p:sp>
      <p:sp>
        <p:nvSpPr>
          <p:cNvPr id="21" name="Text 18"/>
          <p:cNvSpPr/>
          <p:nvPr/>
        </p:nvSpPr>
        <p:spPr>
          <a:xfrm>
            <a:off x="6675120" y="3383280"/>
            <a:ext cx="1097280" cy="365760"/>
          </a:xfrm>
          <a:prstGeom prst="rect">
            <a:avLst/>
          </a:prstGeom>
          <a:noFill/>
          <a:ln/>
        </p:spPr>
        <p:txBody>
          <a:bodyPr wrap="square" lIns="0" tIns="0" rIns="0" bIns="0" rtlCol="0" anchor="ctr"/>
          <a:lstStyle/>
          <a:p>
            <a:pPr marL="0" indent="0">
              <a:buNone/>
            </a:pPr>
            <a:r>
              <a:rPr lang="en-US" sz="1800" b="1" dirty="0">
                <a:solidFill>
                  <a:srgbClr val="C8F751"/>
                </a:solidFill>
                <a:latin typeface="Calibri" pitchFamily="34" charset="0"/>
                <a:ea typeface="Calibri" pitchFamily="34" charset="-122"/>
                <a:cs typeface="Calibri" pitchFamily="34" charset="-120"/>
              </a:rPr>
              <a:t>15%</a:t>
            </a:r>
            <a:endParaRPr lang="en-US" sz="1800" dirty="0"/>
          </a:p>
        </p:txBody>
      </p:sp>
      <p:sp>
        <p:nvSpPr>
          <p:cNvPr id="22" name="Text 19"/>
          <p:cNvSpPr/>
          <p:nvPr/>
        </p:nvSpPr>
        <p:spPr>
          <a:xfrm>
            <a:off x="7818120" y="3383280"/>
            <a:ext cx="15544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p>
        </p:txBody>
      </p:sp>
      <p:sp>
        <p:nvSpPr>
          <p:cNvPr id="23" name="Text 20"/>
          <p:cNvSpPr/>
          <p:nvPr/>
        </p:nvSpPr>
        <p:spPr>
          <a:xfrm>
            <a:off x="6675120" y="3749040"/>
            <a:ext cx="4846320" cy="41148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How serious were they? A murder weighs much more than petty theft (1–10 scale).</a:t>
            </a:r>
            <a:endParaRPr lang="en-US" sz="950" dirty="0"/>
          </a:p>
        </p:txBody>
      </p:sp>
      <p:sp>
        <p:nvSpPr>
          <p:cNvPr id="24" name="Shape 21"/>
          <p:cNvSpPr/>
          <p:nvPr/>
        </p:nvSpPr>
        <p:spPr>
          <a:xfrm>
            <a:off x="5989320" y="4251960"/>
            <a:ext cx="5715000" cy="868680"/>
          </a:xfrm>
          <a:prstGeom prst="rect">
            <a:avLst/>
          </a:prstGeom>
          <a:solidFill>
            <a:srgbClr val="121C3A"/>
          </a:solidFill>
          <a:ln w="9525">
            <a:solidFill>
              <a:srgbClr val="2A3A6E"/>
            </a:solidFill>
            <a:prstDash val="solid"/>
          </a:ln>
        </p:spPr>
        <p:txBody>
          <a:bodyPr/>
          <a:lstStyle/>
          <a:p>
            <a:endParaRPr lang="en-US"/>
          </a:p>
        </p:txBody>
      </p:sp>
      <p:sp>
        <p:nvSpPr>
          <p:cNvPr id="25" name="Shape 22"/>
          <p:cNvSpPr/>
          <p:nvPr/>
        </p:nvSpPr>
        <p:spPr>
          <a:xfrm>
            <a:off x="5989320" y="4251960"/>
            <a:ext cx="64008" cy="868680"/>
          </a:xfrm>
          <a:prstGeom prst="rect">
            <a:avLst/>
          </a:prstGeom>
          <a:solidFill>
            <a:srgbClr val="C8F751"/>
          </a:solidFill>
          <a:ln w="12700">
            <a:solidFill>
              <a:srgbClr val="C8F751"/>
            </a:solidFill>
            <a:prstDash val="solid"/>
          </a:ln>
        </p:spPr>
        <p:txBody>
          <a:bodyPr/>
          <a:lstStyle/>
          <a:p>
            <a:endParaRPr lang="en-US"/>
          </a:p>
        </p:txBody>
      </p:sp>
      <p:sp>
        <p:nvSpPr>
          <p:cNvPr id="26" name="Shape 23"/>
          <p:cNvSpPr/>
          <p:nvPr/>
        </p:nvSpPr>
        <p:spPr>
          <a:xfrm>
            <a:off x="6172200" y="4480560"/>
            <a:ext cx="411480" cy="411480"/>
          </a:xfrm>
          <a:prstGeom prst="ellipse">
            <a:avLst/>
          </a:prstGeom>
          <a:solidFill>
            <a:srgbClr val="30A46C"/>
          </a:solidFill>
          <a:ln w="12700">
            <a:solidFill>
              <a:srgbClr val="30A46C"/>
            </a:solidFill>
            <a:prstDash val="solid"/>
          </a:ln>
        </p:spPr>
        <p:txBody>
          <a:bodyPr/>
          <a:lstStyle/>
          <a:p>
            <a:endParaRPr lang="en-US"/>
          </a:p>
        </p:txBody>
      </p:sp>
      <p:sp>
        <p:nvSpPr>
          <p:cNvPr id="27" name="Text 24"/>
          <p:cNvSpPr/>
          <p:nvPr/>
        </p:nvSpPr>
        <p:spPr>
          <a:xfrm>
            <a:off x="6675120" y="4343400"/>
            <a:ext cx="1097280" cy="365760"/>
          </a:xfrm>
          <a:prstGeom prst="rect">
            <a:avLst/>
          </a:prstGeom>
          <a:noFill/>
          <a:ln/>
        </p:spPr>
        <p:txBody>
          <a:bodyPr wrap="square" lIns="0" tIns="0" rIns="0" bIns="0" rtlCol="0" anchor="ctr"/>
          <a:lstStyle/>
          <a:p>
            <a:pPr marL="0" indent="0">
              <a:buNone/>
            </a:pPr>
            <a:r>
              <a:rPr lang="en-US" sz="1800" b="1" dirty="0">
                <a:solidFill>
                  <a:srgbClr val="C8F751"/>
                </a:solidFill>
                <a:latin typeface="Calibri" pitchFamily="34" charset="0"/>
                <a:ea typeface="Calibri" pitchFamily="34" charset="-122"/>
                <a:cs typeface="Calibri" pitchFamily="34" charset="-120"/>
              </a:rPr>
              <a:t>10%</a:t>
            </a:r>
            <a:endParaRPr lang="en-US" sz="1800" dirty="0"/>
          </a:p>
        </p:txBody>
      </p:sp>
      <p:sp>
        <p:nvSpPr>
          <p:cNvPr id="28" name="Text 25"/>
          <p:cNvSpPr/>
          <p:nvPr/>
        </p:nvSpPr>
        <p:spPr>
          <a:xfrm>
            <a:off x="7818120" y="4343400"/>
            <a:ext cx="15544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Trend</a:t>
            </a:r>
            <a:endParaRPr lang="en-US" sz="1400" dirty="0"/>
          </a:p>
        </p:txBody>
      </p:sp>
      <p:sp>
        <p:nvSpPr>
          <p:cNvPr id="29" name="Text 26"/>
          <p:cNvSpPr/>
          <p:nvPr/>
        </p:nvSpPr>
        <p:spPr>
          <a:xfrm>
            <a:off x="6675120" y="4709160"/>
            <a:ext cx="4846320" cy="41148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Is the area getting worse? Slope of the rolling 30-day window.</a:t>
            </a:r>
            <a:endParaRPr lang="en-US" sz="950" dirty="0"/>
          </a:p>
        </p:txBody>
      </p:sp>
      <p:sp>
        <p:nvSpPr>
          <p:cNvPr id="30" name="Shape 27"/>
          <p:cNvSpPr/>
          <p:nvPr/>
        </p:nvSpPr>
        <p:spPr>
          <a:xfrm>
            <a:off x="5989320" y="5212080"/>
            <a:ext cx="5715000" cy="868680"/>
          </a:xfrm>
          <a:prstGeom prst="rect">
            <a:avLst/>
          </a:prstGeom>
          <a:solidFill>
            <a:srgbClr val="121C3A"/>
          </a:solidFill>
          <a:ln w="9525">
            <a:solidFill>
              <a:srgbClr val="2A3A6E"/>
            </a:solidFill>
            <a:prstDash val="solid"/>
          </a:ln>
        </p:spPr>
        <p:txBody>
          <a:bodyPr/>
          <a:lstStyle/>
          <a:p>
            <a:endParaRPr lang="en-US"/>
          </a:p>
        </p:txBody>
      </p:sp>
      <p:sp>
        <p:nvSpPr>
          <p:cNvPr id="31" name="Shape 28"/>
          <p:cNvSpPr/>
          <p:nvPr/>
        </p:nvSpPr>
        <p:spPr>
          <a:xfrm>
            <a:off x="5989320" y="5212080"/>
            <a:ext cx="64008" cy="868680"/>
          </a:xfrm>
          <a:prstGeom prst="rect">
            <a:avLst/>
          </a:prstGeom>
          <a:solidFill>
            <a:srgbClr val="C8F751"/>
          </a:solidFill>
          <a:ln w="12700">
            <a:solidFill>
              <a:srgbClr val="C8F751"/>
            </a:solidFill>
            <a:prstDash val="solid"/>
          </a:ln>
        </p:spPr>
        <p:txBody>
          <a:bodyPr/>
          <a:lstStyle/>
          <a:p>
            <a:endParaRPr lang="en-US"/>
          </a:p>
        </p:txBody>
      </p:sp>
      <p:sp>
        <p:nvSpPr>
          <p:cNvPr id="32" name="Shape 29"/>
          <p:cNvSpPr/>
          <p:nvPr/>
        </p:nvSpPr>
        <p:spPr>
          <a:xfrm>
            <a:off x="6172200" y="5440680"/>
            <a:ext cx="411480" cy="411480"/>
          </a:xfrm>
          <a:prstGeom prst="ellipse">
            <a:avLst/>
          </a:prstGeom>
          <a:solidFill>
            <a:srgbClr val="E5484D"/>
          </a:solidFill>
          <a:ln w="12700">
            <a:solidFill>
              <a:srgbClr val="E5484D"/>
            </a:solidFill>
            <a:prstDash val="solid"/>
          </a:ln>
        </p:spPr>
        <p:txBody>
          <a:bodyPr/>
          <a:lstStyle/>
          <a:p>
            <a:endParaRPr lang="en-US"/>
          </a:p>
        </p:txBody>
      </p:sp>
      <p:sp>
        <p:nvSpPr>
          <p:cNvPr id="33" name="Text 30"/>
          <p:cNvSpPr/>
          <p:nvPr/>
        </p:nvSpPr>
        <p:spPr>
          <a:xfrm>
            <a:off x="6675120" y="5303520"/>
            <a:ext cx="1097280" cy="365760"/>
          </a:xfrm>
          <a:prstGeom prst="rect">
            <a:avLst/>
          </a:prstGeom>
          <a:noFill/>
          <a:ln/>
        </p:spPr>
        <p:txBody>
          <a:bodyPr wrap="square" lIns="0" tIns="0" rIns="0" bIns="0" rtlCol="0" anchor="ctr"/>
          <a:lstStyle/>
          <a:p>
            <a:pPr marL="0" indent="0">
              <a:buNone/>
            </a:pPr>
            <a:r>
              <a:rPr lang="en-US" sz="1800" b="1" dirty="0">
                <a:solidFill>
                  <a:srgbClr val="C8F751"/>
                </a:solidFill>
                <a:latin typeface="Calibri" pitchFamily="34" charset="0"/>
                <a:ea typeface="Calibri" pitchFamily="34" charset="-122"/>
                <a:cs typeface="Calibri" pitchFamily="34" charset="-120"/>
              </a:rPr>
              <a:t>10%</a:t>
            </a:r>
            <a:endParaRPr lang="en-US" sz="1800" dirty="0"/>
          </a:p>
        </p:txBody>
      </p:sp>
      <p:sp>
        <p:nvSpPr>
          <p:cNvPr id="34" name="Text 31"/>
          <p:cNvSpPr/>
          <p:nvPr/>
        </p:nvSpPr>
        <p:spPr>
          <a:xfrm>
            <a:off x="7818120" y="5303520"/>
            <a:ext cx="15544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Time match</a:t>
            </a:r>
            <a:endParaRPr lang="en-US" sz="1400" dirty="0"/>
          </a:p>
        </p:txBody>
      </p:sp>
      <p:sp>
        <p:nvSpPr>
          <p:cNvPr id="35" name="Text 32"/>
          <p:cNvSpPr/>
          <p:nvPr/>
        </p:nvSpPr>
        <p:spPr>
          <a:xfrm>
            <a:off x="6675120" y="5669280"/>
            <a:ext cx="4846320" cy="41148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Does the requested time-of-day match this area's historical danger pattern?</a:t>
            </a:r>
            <a:endParaRPr lang="en-US" sz="950" dirty="0"/>
          </a:p>
        </p:txBody>
      </p:sp>
      <p:sp>
        <p:nvSpPr>
          <p:cNvPr id="36" name="Text 33"/>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37" name="Text 34"/>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18 / 28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ADAPTIVE DECAY &amp; LAPLACE STABILISER</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Two safeguards that keep the heatmap honest</a:t>
            </a:r>
            <a:endParaRPr lang="en-US" sz="1200" dirty="0"/>
          </a:p>
        </p:txBody>
      </p:sp>
      <p:sp>
        <p:nvSpPr>
          <p:cNvPr id="5" name="Shape 3"/>
          <p:cNvSpPr/>
          <p:nvPr/>
        </p:nvSpPr>
        <p:spPr>
          <a:xfrm>
            <a:off x="640080" y="1371600"/>
            <a:ext cx="553212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08760"/>
            <a:ext cx="521208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ADAPTIVE DECAY</a:t>
            </a:r>
            <a:endParaRPr lang="en-US" sz="1000" dirty="0"/>
          </a:p>
        </p:txBody>
      </p:sp>
      <p:sp>
        <p:nvSpPr>
          <p:cNvPr id="8" name="Text 6"/>
          <p:cNvSpPr/>
          <p:nvPr/>
        </p:nvSpPr>
        <p:spPr>
          <a:xfrm>
            <a:off x="868680" y="1801368"/>
            <a:ext cx="5212080" cy="640080"/>
          </a:xfrm>
          <a:prstGeom prst="rect">
            <a:avLst/>
          </a:prstGeom>
          <a:noFill/>
          <a:ln/>
        </p:spPr>
        <p:txBody>
          <a:bodyPr wrap="square" lIns="0" tIns="0" rIns="0" bIns="0" rtlCol="0" anchor="ctr"/>
          <a:lstStyle/>
          <a:p>
            <a:pPr marL="0" indent="0">
              <a:buNone/>
            </a:pPr>
            <a:r>
              <a:rPr lang="en-US" sz="1150" i="1" dirty="0">
                <a:solidFill>
                  <a:srgbClr val="F4E9D8"/>
                </a:solidFill>
                <a:latin typeface="Calibri" pitchFamily="34" charset="0"/>
                <a:ea typeface="Calibri" pitchFamily="34" charset="-122"/>
                <a:cs typeface="Calibri" pitchFamily="34" charset="-120"/>
              </a:rPr>
              <a:t>Older crimes count less — but the fade-rate depends on how much evidence we have.</a:t>
            </a:r>
            <a:endParaRPr lang="en-US" sz="1150" dirty="0"/>
          </a:p>
        </p:txBody>
      </p:sp>
      <p:sp>
        <p:nvSpPr>
          <p:cNvPr id="9" name="Shape 7"/>
          <p:cNvSpPr/>
          <p:nvPr/>
        </p:nvSpPr>
        <p:spPr>
          <a:xfrm>
            <a:off x="868680" y="2606040"/>
            <a:ext cx="5074920" cy="777240"/>
          </a:xfrm>
          <a:prstGeom prst="rect">
            <a:avLst/>
          </a:prstGeom>
          <a:solidFill>
            <a:srgbClr val="0A1228"/>
          </a:solidFill>
          <a:ln w="6350">
            <a:solidFill>
              <a:srgbClr val="2A3A6E"/>
            </a:solidFill>
            <a:prstDash val="solid"/>
          </a:ln>
        </p:spPr>
        <p:txBody>
          <a:bodyPr/>
          <a:lstStyle/>
          <a:p>
            <a:endParaRPr lang="en-US"/>
          </a:p>
        </p:txBody>
      </p:sp>
      <p:sp>
        <p:nvSpPr>
          <p:cNvPr id="10" name="Shape 8"/>
          <p:cNvSpPr/>
          <p:nvPr/>
        </p:nvSpPr>
        <p:spPr>
          <a:xfrm>
            <a:off x="868680" y="2606040"/>
            <a:ext cx="91440" cy="777240"/>
          </a:xfrm>
          <a:prstGeom prst="rect">
            <a:avLst/>
          </a:prstGeom>
          <a:solidFill>
            <a:srgbClr val="30A46C"/>
          </a:solidFill>
          <a:ln w="12700">
            <a:solidFill>
              <a:srgbClr val="30A46C"/>
            </a:solidFill>
            <a:prstDash val="solid"/>
          </a:ln>
        </p:spPr>
        <p:txBody>
          <a:bodyPr/>
          <a:lstStyle/>
          <a:p>
            <a:endParaRPr lang="en-US"/>
          </a:p>
        </p:txBody>
      </p:sp>
      <p:sp>
        <p:nvSpPr>
          <p:cNvPr id="11" name="Text 9"/>
          <p:cNvSpPr/>
          <p:nvPr/>
        </p:nvSpPr>
        <p:spPr>
          <a:xfrm>
            <a:off x="1051560" y="2697480"/>
            <a:ext cx="3200400" cy="274320"/>
          </a:xfrm>
          <a:prstGeom prst="rect">
            <a:avLst/>
          </a:prstGeom>
          <a:noFill/>
          <a:ln/>
        </p:spPr>
        <p:txBody>
          <a:bodyPr wrap="square" lIns="0" tIns="0" rIns="0" bIns="0" rtlCol="0" anchor="ctr"/>
          <a:lstStyle/>
          <a:p>
            <a:pPr marL="0" indent="0">
              <a:buNone/>
            </a:pPr>
            <a:r>
              <a:rPr lang="en-US" sz="1200" b="1" dirty="0">
                <a:solidFill>
                  <a:srgbClr val="30A46C"/>
                </a:solidFill>
                <a:latin typeface="Calibri" pitchFamily="34" charset="0"/>
                <a:ea typeface="Calibri" pitchFamily="34" charset="-122"/>
                <a:cs typeface="Calibri" pitchFamily="34" charset="-120"/>
              </a:rPr>
              <a:t>STRONG evidence</a:t>
            </a:r>
            <a:endParaRPr lang="en-US" sz="1200" dirty="0"/>
          </a:p>
        </p:txBody>
      </p:sp>
      <p:sp>
        <p:nvSpPr>
          <p:cNvPr id="12" name="Text 10"/>
          <p:cNvSpPr/>
          <p:nvPr/>
        </p:nvSpPr>
        <p:spPr>
          <a:xfrm>
            <a:off x="4160520" y="2697480"/>
            <a:ext cx="1737360" cy="274320"/>
          </a:xfrm>
          <a:prstGeom prst="rect">
            <a:avLst/>
          </a:prstGeom>
          <a:noFill/>
          <a:ln/>
        </p:spPr>
        <p:txBody>
          <a:bodyPr wrap="square" lIns="0" tIns="0" rIns="0" bIns="0" rtlCol="0" anchor="ctr"/>
          <a:lstStyle/>
          <a:p>
            <a:pPr marL="0" indent="0" algn="r">
              <a:buNone/>
            </a:pPr>
            <a:r>
              <a:rPr lang="en-US" sz="1300" b="1" dirty="0">
                <a:solidFill>
                  <a:srgbClr val="C8F751"/>
                </a:solidFill>
                <a:latin typeface="Consolas" pitchFamily="34" charset="0"/>
                <a:ea typeface="Consolas" pitchFamily="34" charset="-122"/>
                <a:cs typeface="Consolas" pitchFamily="34" charset="-120"/>
              </a:rPr>
              <a:t>× 0.85</a:t>
            </a:r>
            <a:endParaRPr lang="en-US" sz="1300" dirty="0"/>
          </a:p>
        </p:txBody>
      </p:sp>
      <p:sp>
        <p:nvSpPr>
          <p:cNvPr id="13" name="Text 11"/>
          <p:cNvSpPr/>
          <p:nvPr/>
        </p:nvSpPr>
        <p:spPr>
          <a:xfrm>
            <a:off x="1051560" y="2990088"/>
            <a:ext cx="47548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1000+ crimes  OR  50+ high-risk</a:t>
            </a:r>
            <a:endParaRPr lang="en-US" sz="1050" dirty="0"/>
          </a:p>
        </p:txBody>
      </p:sp>
      <p:sp>
        <p:nvSpPr>
          <p:cNvPr id="14" name="Shape 12"/>
          <p:cNvSpPr/>
          <p:nvPr/>
        </p:nvSpPr>
        <p:spPr>
          <a:xfrm>
            <a:off x="868680" y="3474720"/>
            <a:ext cx="5074920" cy="777240"/>
          </a:xfrm>
          <a:prstGeom prst="rect">
            <a:avLst/>
          </a:prstGeom>
          <a:solidFill>
            <a:srgbClr val="0A1228"/>
          </a:solidFill>
          <a:ln w="6350">
            <a:solidFill>
              <a:srgbClr val="2A3A6E"/>
            </a:solidFill>
            <a:prstDash val="solid"/>
          </a:ln>
        </p:spPr>
        <p:txBody>
          <a:bodyPr/>
          <a:lstStyle/>
          <a:p>
            <a:endParaRPr lang="en-US"/>
          </a:p>
        </p:txBody>
      </p:sp>
      <p:sp>
        <p:nvSpPr>
          <p:cNvPr id="15" name="Shape 13"/>
          <p:cNvSpPr/>
          <p:nvPr/>
        </p:nvSpPr>
        <p:spPr>
          <a:xfrm>
            <a:off x="868680" y="3474720"/>
            <a:ext cx="91440" cy="777240"/>
          </a:xfrm>
          <a:prstGeom prst="rect">
            <a:avLst/>
          </a:prstGeom>
          <a:solidFill>
            <a:srgbClr val="F5A524"/>
          </a:solidFill>
          <a:ln w="12700">
            <a:solidFill>
              <a:srgbClr val="F5A524"/>
            </a:solidFill>
            <a:prstDash val="solid"/>
          </a:ln>
        </p:spPr>
        <p:txBody>
          <a:bodyPr/>
          <a:lstStyle/>
          <a:p>
            <a:endParaRPr lang="en-US"/>
          </a:p>
        </p:txBody>
      </p:sp>
      <p:sp>
        <p:nvSpPr>
          <p:cNvPr id="16" name="Text 14"/>
          <p:cNvSpPr/>
          <p:nvPr/>
        </p:nvSpPr>
        <p:spPr>
          <a:xfrm>
            <a:off x="1051560" y="3566160"/>
            <a:ext cx="3200400" cy="27432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MODERATE evidence</a:t>
            </a:r>
            <a:endParaRPr lang="en-US" sz="1200" dirty="0"/>
          </a:p>
        </p:txBody>
      </p:sp>
      <p:sp>
        <p:nvSpPr>
          <p:cNvPr id="17" name="Text 15"/>
          <p:cNvSpPr/>
          <p:nvPr/>
        </p:nvSpPr>
        <p:spPr>
          <a:xfrm>
            <a:off x="4160520" y="3566160"/>
            <a:ext cx="1737360" cy="274320"/>
          </a:xfrm>
          <a:prstGeom prst="rect">
            <a:avLst/>
          </a:prstGeom>
          <a:noFill/>
          <a:ln/>
        </p:spPr>
        <p:txBody>
          <a:bodyPr wrap="square" lIns="0" tIns="0" rIns="0" bIns="0" rtlCol="0" anchor="ctr"/>
          <a:lstStyle/>
          <a:p>
            <a:pPr marL="0" indent="0" algn="r">
              <a:buNone/>
            </a:pPr>
            <a:r>
              <a:rPr lang="en-US" sz="1300" b="1" dirty="0">
                <a:solidFill>
                  <a:srgbClr val="C8F751"/>
                </a:solidFill>
                <a:latin typeface="Consolas" pitchFamily="34" charset="0"/>
                <a:ea typeface="Consolas" pitchFamily="34" charset="-122"/>
                <a:cs typeface="Consolas" pitchFamily="34" charset="-120"/>
              </a:rPr>
              <a:t>× 0.70</a:t>
            </a:r>
            <a:endParaRPr lang="en-US" sz="1300" dirty="0"/>
          </a:p>
        </p:txBody>
      </p:sp>
      <p:sp>
        <p:nvSpPr>
          <p:cNvPr id="18" name="Text 16"/>
          <p:cNvSpPr/>
          <p:nvPr/>
        </p:nvSpPr>
        <p:spPr>
          <a:xfrm>
            <a:off x="1051560" y="3858768"/>
            <a:ext cx="47548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100 – 999 crimes</a:t>
            </a:r>
            <a:endParaRPr lang="en-US" sz="1050" dirty="0"/>
          </a:p>
        </p:txBody>
      </p:sp>
      <p:sp>
        <p:nvSpPr>
          <p:cNvPr id="19" name="Shape 17"/>
          <p:cNvSpPr/>
          <p:nvPr/>
        </p:nvSpPr>
        <p:spPr>
          <a:xfrm>
            <a:off x="868680" y="4343400"/>
            <a:ext cx="5074920" cy="777240"/>
          </a:xfrm>
          <a:prstGeom prst="rect">
            <a:avLst/>
          </a:prstGeom>
          <a:solidFill>
            <a:srgbClr val="0A1228"/>
          </a:solidFill>
          <a:ln w="6350">
            <a:solidFill>
              <a:srgbClr val="2A3A6E"/>
            </a:solidFill>
            <a:prstDash val="solid"/>
          </a:ln>
        </p:spPr>
        <p:txBody>
          <a:bodyPr/>
          <a:lstStyle/>
          <a:p>
            <a:endParaRPr lang="en-US"/>
          </a:p>
        </p:txBody>
      </p:sp>
      <p:sp>
        <p:nvSpPr>
          <p:cNvPr id="20" name="Shape 18"/>
          <p:cNvSpPr/>
          <p:nvPr/>
        </p:nvSpPr>
        <p:spPr>
          <a:xfrm>
            <a:off x="868680" y="4343400"/>
            <a:ext cx="91440" cy="777240"/>
          </a:xfrm>
          <a:prstGeom prst="rect">
            <a:avLst/>
          </a:prstGeom>
          <a:solidFill>
            <a:srgbClr val="E5484D"/>
          </a:solidFill>
          <a:ln w="12700">
            <a:solidFill>
              <a:srgbClr val="E5484D"/>
            </a:solidFill>
            <a:prstDash val="solid"/>
          </a:ln>
        </p:spPr>
        <p:txBody>
          <a:bodyPr/>
          <a:lstStyle/>
          <a:p>
            <a:endParaRPr lang="en-US"/>
          </a:p>
        </p:txBody>
      </p:sp>
      <p:sp>
        <p:nvSpPr>
          <p:cNvPr id="21" name="Text 19"/>
          <p:cNvSpPr/>
          <p:nvPr/>
        </p:nvSpPr>
        <p:spPr>
          <a:xfrm>
            <a:off x="1051560" y="4434840"/>
            <a:ext cx="3200400" cy="274320"/>
          </a:xfrm>
          <a:prstGeom prst="rect">
            <a:avLst/>
          </a:prstGeom>
          <a:noFill/>
          <a:ln/>
        </p:spPr>
        <p:txBody>
          <a:bodyPr wrap="square" lIns="0" tIns="0" rIns="0" bIns="0" rtlCol="0" anchor="ctr"/>
          <a:lstStyle/>
          <a:p>
            <a:pPr marL="0" indent="0">
              <a:buNone/>
            </a:pPr>
            <a:r>
              <a:rPr lang="en-US" sz="1200" b="1" dirty="0">
                <a:solidFill>
                  <a:srgbClr val="E5484D"/>
                </a:solidFill>
                <a:latin typeface="Calibri" pitchFamily="34" charset="0"/>
                <a:ea typeface="Calibri" pitchFamily="34" charset="-122"/>
                <a:cs typeface="Calibri" pitchFamily="34" charset="-120"/>
              </a:rPr>
              <a:t>WEAK evidence</a:t>
            </a:r>
            <a:endParaRPr lang="en-US" sz="1200" dirty="0"/>
          </a:p>
        </p:txBody>
      </p:sp>
      <p:sp>
        <p:nvSpPr>
          <p:cNvPr id="22" name="Text 20"/>
          <p:cNvSpPr/>
          <p:nvPr/>
        </p:nvSpPr>
        <p:spPr>
          <a:xfrm>
            <a:off x="4160520" y="4434840"/>
            <a:ext cx="1737360" cy="274320"/>
          </a:xfrm>
          <a:prstGeom prst="rect">
            <a:avLst/>
          </a:prstGeom>
          <a:noFill/>
          <a:ln/>
        </p:spPr>
        <p:txBody>
          <a:bodyPr wrap="square" lIns="0" tIns="0" rIns="0" bIns="0" rtlCol="0" anchor="ctr"/>
          <a:lstStyle/>
          <a:p>
            <a:pPr marL="0" indent="0" algn="r">
              <a:buNone/>
            </a:pPr>
            <a:r>
              <a:rPr lang="en-US" sz="1300" b="1" dirty="0">
                <a:solidFill>
                  <a:srgbClr val="C8F751"/>
                </a:solidFill>
                <a:latin typeface="Consolas" pitchFamily="34" charset="0"/>
                <a:ea typeface="Consolas" pitchFamily="34" charset="-122"/>
                <a:cs typeface="Consolas" pitchFamily="34" charset="-120"/>
              </a:rPr>
              <a:t>× 0.60</a:t>
            </a:r>
            <a:endParaRPr lang="en-US" sz="1300" dirty="0"/>
          </a:p>
        </p:txBody>
      </p:sp>
      <p:sp>
        <p:nvSpPr>
          <p:cNvPr id="23" name="Text 21"/>
          <p:cNvSpPr/>
          <p:nvPr/>
        </p:nvSpPr>
        <p:spPr>
          <a:xfrm>
            <a:off x="1051560" y="4727448"/>
            <a:ext cx="47548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0 – 99 crimes</a:t>
            </a:r>
            <a:endParaRPr lang="en-US" sz="1050" dirty="0"/>
          </a:p>
        </p:txBody>
      </p:sp>
      <p:sp>
        <p:nvSpPr>
          <p:cNvPr id="24" name="Text 22"/>
          <p:cNvSpPr/>
          <p:nvPr/>
        </p:nvSpPr>
        <p:spPr>
          <a:xfrm>
            <a:off x="868680" y="5349240"/>
            <a:ext cx="5074920" cy="86868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A historic hotspot with thousands of records shouldn't suddenly look 'safe' just because last week was quiet. Strong-evidence areas decay slowly; sparse areas decay fast.</a:t>
            </a:r>
            <a:endParaRPr lang="en-US" sz="1100" dirty="0"/>
          </a:p>
        </p:txBody>
      </p:sp>
      <p:sp>
        <p:nvSpPr>
          <p:cNvPr id="25" name="Shape 23"/>
          <p:cNvSpPr/>
          <p:nvPr/>
        </p:nvSpPr>
        <p:spPr>
          <a:xfrm>
            <a:off x="6355080" y="1371600"/>
            <a:ext cx="5349240" cy="4937760"/>
          </a:xfrm>
          <a:prstGeom prst="rect">
            <a:avLst/>
          </a:prstGeom>
          <a:solidFill>
            <a:srgbClr val="121C3A"/>
          </a:solidFill>
          <a:ln w="9525">
            <a:solidFill>
              <a:srgbClr val="2A3A6E"/>
            </a:solidFill>
            <a:prstDash val="solid"/>
          </a:ln>
        </p:spPr>
        <p:txBody>
          <a:bodyPr/>
          <a:lstStyle/>
          <a:p>
            <a:endParaRPr lang="en-US"/>
          </a:p>
        </p:txBody>
      </p:sp>
      <p:sp>
        <p:nvSpPr>
          <p:cNvPr id="26" name="Shape 24"/>
          <p:cNvSpPr/>
          <p:nvPr/>
        </p:nvSpPr>
        <p:spPr>
          <a:xfrm>
            <a:off x="6355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27" name="Text 25"/>
          <p:cNvSpPr/>
          <p:nvPr/>
        </p:nvSpPr>
        <p:spPr>
          <a:xfrm>
            <a:off x="6583680" y="1508760"/>
            <a:ext cx="502920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LAPLACE STABILISER</a:t>
            </a:r>
            <a:endParaRPr lang="en-US" sz="1000" dirty="0"/>
          </a:p>
        </p:txBody>
      </p:sp>
      <p:sp>
        <p:nvSpPr>
          <p:cNvPr id="28" name="Text 26"/>
          <p:cNvSpPr/>
          <p:nvPr/>
        </p:nvSpPr>
        <p:spPr>
          <a:xfrm>
            <a:off x="6583680" y="1801368"/>
            <a:ext cx="5029200" cy="457200"/>
          </a:xfrm>
          <a:prstGeom prst="rect">
            <a:avLst/>
          </a:prstGeom>
          <a:noFill/>
          <a:ln/>
        </p:spPr>
        <p:txBody>
          <a:bodyPr wrap="square" lIns="0" tIns="0" rIns="0" bIns="0" rtlCol="0" anchor="ctr"/>
          <a:lstStyle/>
          <a:p>
            <a:pPr marL="0" indent="0">
              <a:buNone/>
            </a:pPr>
            <a:r>
              <a:rPr lang="en-US" sz="1150" i="1" dirty="0">
                <a:solidFill>
                  <a:srgbClr val="F4E9D8"/>
                </a:solidFill>
                <a:latin typeface="Calibri" pitchFamily="34" charset="0"/>
                <a:ea typeface="Calibri" pitchFamily="34" charset="-122"/>
                <a:cs typeface="Calibri" pitchFamily="34" charset="-120"/>
              </a:rPr>
              <a:t>Stops a single incident from spiking the heatmap red.</a:t>
            </a:r>
            <a:endParaRPr lang="en-US" sz="1150" dirty="0"/>
          </a:p>
        </p:txBody>
      </p:sp>
      <p:sp>
        <p:nvSpPr>
          <p:cNvPr id="29" name="Shape 27"/>
          <p:cNvSpPr/>
          <p:nvPr/>
        </p:nvSpPr>
        <p:spPr>
          <a:xfrm>
            <a:off x="6583680" y="2423160"/>
            <a:ext cx="4937760" cy="914400"/>
          </a:xfrm>
          <a:prstGeom prst="rect">
            <a:avLst/>
          </a:prstGeom>
          <a:solidFill>
            <a:srgbClr val="1B2752"/>
          </a:solidFill>
          <a:ln w="12700">
            <a:solidFill>
              <a:srgbClr val="C8F751"/>
            </a:solidFill>
            <a:prstDash val="solid"/>
          </a:ln>
        </p:spPr>
        <p:txBody>
          <a:bodyPr/>
          <a:lstStyle/>
          <a:p>
            <a:endParaRPr lang="en-US"/>
          </a:p>
        </p:txBody>
      </p:sp>
      <p:sp>
        <p:nvSpPr>
          <p:cNvPr id="30" name="Text 28"/>
          <p:cNvSpPr/>
          <p:nvPr/>
        </p:nvSpPr>
        <p:spPr>
          <a:xfrm>
            <a:off x="6583680" y="2423160"/>
            <a:ext cx="4937760" cy="914400"/>
          </a:xfrm>
          <a:prstGeom prst="rect">
            <a:avLst/>
          </a:prstGeom>
          <a:noFill/>
          <a:ln/>
        </p:spPr>
        <p:txBody>
          <a:bodyPr wrap="square" lIns="0" tIns="0" rIns="0" bIns="0" rtlCol="0" anchor="ctr"/>
          <a:lstStyle/>
          <a:p>
            <a:pPr marL="0" indent="0" algn="ctr">
              <a:buNone/>
            </a:pPr>
            <a:r>
              <a:rPr lang="en-US" sz="1300" b="1" dirty="0">
                <a:solidFill>
                  <a:srgbClr val="C8F751"/>
                </a:solidFill>
                <a:latin typeface="Consolas" pitchFamily="34" charset="0"/>
                <a:ea typeface="Consolas" pitchFamily="34" charset="-122"/>
                <a:cs typeface="Consolas" pitchFamily="34" charset="-120"/>
              </a:rPr>
              <a:t>stabilised = α · raw_score + (1 − α) · 0</a:t>
            </a:r>
            <a:endParaRPr lang="en-US" sz="1300" dirty="0"/>
          </a:p>
        </p:txBody>
      </p:sp>
      <p:sp>
        <p:nvSpPr>
          <p:cNvPr id="31" name="Shape 29"/>
          <p:cNvSpPr/>
          <p:nvPr/>
        </p:nvSpPr>
        <p:spPr>
          <a:xfrm>
            <a:off x="6583680" y="3520440"/>
            <a:ext cx="4937760" cy="2743200"/>
          </a:xfrm>
          <a:prstGeom prst="rect">
            <a:avLst/>
          </a:prstGeom>
          <a:solidFill>
            <a:srgbClr val="1B2752"/>
          </a:solidFill>
          <a:ln w="6350">
            <a:solidFill>
              <a:srgbClr val="C8F751"/>
            </a:solidFill>
            <a:prstDash val="solid"/>
          </a:ln>
        </p:spPr>
        <p:txBody>
          <a:bodyPr/>
          <a:lstStyle/>
          <a:p>
            <a:endParaRPr lang="en-US"/>
          </a:p>
        </p:txBody>
      </p:sp>
      <p:sp>
        <p:nvSpPr>
          <p:cNvPr id="32" name="Text 30"/>
          <p:cNvSpPr/>
          <p:nvPr/>
        </p:nvSpPr>
        <p:spPr>
          <a:xfrm>
            <a:off x="6720840" y="3611880"/>
            <a:ext cx="4663440" cy="256032"/>
          </a:xfrm>
          <a:prstGeom prst="rect">
            <a:avLst/>
          </a:prstGeom>
          <a:noFill/>
          <a:ln/>
        </p:spPr>
        <p:txBody>
          <a:bodyPr wrap="square" lIns="0" tIns="0" rIns="0" bIns="0" rtlCol="0" anchor="ctr"/>
          <a:lstStyle/>
          <a:p>
            <a:pPr marL="0" indent="0">
              <a:buNone/>
            </a:pPr>
            <a:r>
              <a:rPr lang="en-US" sz="900" b="1" kern="0" spc="300" dirty="0">
                <a:solidFill>
                  <a:srgbClr val="C8F751"/>
                </a:solidFill>
                <a:latin typeface="Calibri" pitchFamily="34" charset="0"/>
                <a:ea typeface="Calibri" pitchFamily="34" charset="-122"/>
                <a:cs typeface="Calibri" pitchFamily="34" charset="-120"/>
              </a:rPr>
              <a:t>WHAT THIS MEANS</a:t>
            </a:r>
            <a:endParaRPr lang="en-US" sz="900" dirty="0"/>
          </a:p>
        </p:txBody>
      </p:sp>
      <p:sp>
        <p:nvSpPr>
          <p:cNvPr id="33" name="Text 31"/>
          <p:cNvSpPr/>
          <p:nvPr/>
        </p:nvSpPr>
        <p:spPr>
          <a:xfrm>
            <a:off x="6720840" y="3886200"/>
            <a:ext cx="4663440" cy="228600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α (alpha) is a 'trust meter' from 0 to 1. If we have lots of data for an area, α gets close to 1 — we trust the score and show it as-is. If we only have one or two crimes recorded, α stays close to 0 — we pull the score back down toward the 'safe' baseline. Effect: a small, possibly random spike in a quiet area never paints the map red.</a:t>
            </a:r>
            <a:endParaRPr lang="en-US" sz="1100" dirty="0"/>
          </a:p>
        </p:txBody>
      </p:sp>
      <p:sp>
        <p:nvSpPr>
          <p:cNvPr id="34" name="Text 32"/>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35" name="Text 3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19 / 28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SEVERITY MAP &amp; PPC CLOSED LOOP</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853 keyword-to-score entries that learn from every new FIR</a:t>
            </a:r>
            <a:endParaRPr lang="en-US" sz="1200" dirty="0"/>
          </a:p>
        </p:txBody>
      </p:sp>
      <p:sp>
        <p:nvSpPr>
          <p:cNvPr id="5" name="Shape 3"/>
          <p:cNvSpPr/>
          <p:nvPr/>
        </p:nvSpPr>
        <p:spPr>
          <a:xfrm>
            <a:off x="640080" y="1371600"/>
            <a:ext cx="5532120" cy="493776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508760"/>
            <a:ext cx="521208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SEVERITY SCALE  ·  3 to 10</a:t>
            </a:r>
            <a:endParaRPr lang="en-US" sz="1000" dirty="0"/>
          </a:p>
        </p:txBody>
      </p:sp>
      <p:sp>
        <p:nvSpPr>
          <p:cNvPr id="8" name="Text 6"/>
          <p:cNvSpPr/>
          <p:nvPr/>
        </p:nvSpPr>
        <p:spPr>
          <a:xfrm>
            <a:off x="868680" y="1801368"/>
            <a:ext cx="52120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853 crime keywords mapped to scores</a:t>
            </a:r>
            <a:endParaRPr lang="en-US" sz="1400" dirty="0"/>
          </a:p>
        </p:txBody>
      </p:sp>
      <p:sp>
        <p:nvSpPr>
          <p:cNvPr id="9" name="Shape 7"/>
          <p:cNvSpPr/>
          <p:nvPr/>
        </p:nvSpPr>
        <p:spPr>
          <a:xfrm>
            <a:off x="868680" y="2331720"/>
            <a:ext cx="594360" cy="411480"/>
          </a:xfrm>
          <a:prstGeom prst="rect">
            <a:avLst/>
          </a:prstGeom>
          <a:solidFill>
            <a:srgbClr val="E5484D"/>
          </a:solidFill>
          <a:ln w="12700">
            <a:solidFill>
              <a:srgbClr val="E5484D"/>
            </a:solidFill>
            <a:prstDash val="solid"/>
          </a:ln>
        </p:spPr>
        <p:txBody>
          <a:bodyPr/>
          <a:lstStyle/>
          <a:p>
            <a:endParaRPr lang="en-US"/>
          </a:p>
        </p:txBody>
      </p:sp>
      <p:sp>
        <p:nvSpPr>
          <p:cNvPr id="10" name="Text 8"/>
          <p:cNvSpPr/>
          <p:nvPr/>
        </p:nvSpPr>
        <p:spPr>
          <a:xfrm>
            <a:off x="868680" y="2331720"/>
            <a:ext cx="594360" cy="411480"/>
          </a:xfrm>
          <a:prstGeom prst="rect">
            <a:avLst/>
          </a:prstGeom>
          <a:noFill/>
          <a:ln/>
        </p:spPr>
        <p:txBody>
          <a:bodyPr wrap="square" lIns="0" tIns="0" rIns="0" bIns="0" rtlCol="0" anchor="ctr"/>
          <a:lstStyle/>
          <a:p>
            <a:pPr marL="0" indent="0" algn="ctr">
              <a:buNone/>
            </a:pPr>
            <a:r>
              <a:rPr lang="en-US" sz="1300" b="1" dirty="0">
                <a:solidFill>
                  <a:srgbClr val="0A1228"/>
                </a:solidFill>
                <a:latin typeface="Calibri" pitchFamily="34" charset="0"/>
                <a:ea typeface="Calibri" pitchFamily="34" charset="-122"/>
                <a:cs typeface="Calibri" pitchFamily="34" charset="-120"/>
              </a:rPr>
              <a:t>10</a:t>
            </a:r>
            <a:endParaRPr lang="en-US" sz="1300" dirty="0"/>
          </a:p>
        </p:txBody>
      </p:sp>
      <p:sp>
        <p:nvSpPr>
          <p:cNvPr id="11" name="Text 9"/>
          <p:cNvSpPr/>
          <p:nvPr/>
        </p:nvSpPr>
        <p:spPr>
          <a:xfrm>
            <a:off x="1600200" y="2377440"/>
            <a:ext cx="42976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murder, rape, terrorism, honour killing</a:t>
            </a:r>
            <a:endParaRPr lang="en-US" sz="1050" dirty="0"/>
          </a:p>
        </p:txBody>
      </p:sp>
      <p:sp>
        <p:nvSpPr>
          <p:cNvPr id="12" name="Shape 10"/>
          <p:cNvSpPr/>
          <p:nvPr/>
        </p:nvSpPr>
        <p:spPr>
          <a:xfrm>
            <a:off x="868680" y="2834640"/>
            <a:ext cx="594360" cy="411480"/>
          </a:xfrm>
          <a:prstGeom prst="rect">
            <a:avLst/>
          </a:prstGeom>
          <a:solidFill>
            <a:srgbClr val="E5484D"/>
          </a:solidFill>
          <a:ln w="12700">
            <a:solidFill>
              <a:srgbClr val="E5484D"/>
            </a:solidFill>
            <a:prstDash val="solid"/>
          </a:ln>
        </p:spPr>
        <p:txBody>
          <a:bodyPr/>
          <a:lstStyle/>
          <a:p>
            <a:endParaRPr lang="en-US"/>
          </a:p>
        </p:txBody>
      </p:sp>
      <p:sp>
        <p:nvSpPr>
          <p:cNvPr id="13" name="Text 11"/>
          <p:cNvSpPr/>
          <p:nvPr/>
        </p:nvSpPr>
        <p:spPr>
          <a:xfrm>
            <a:off x="868680" y="2834640"/>
            <a:ext cx="594360" cy="411480"/>
          </a:xfrm>
          <a:prstGeom prst="rect">
            <a:avLst/>
          </a:prstGeom>
          <a:noFill/>
          <a:ln/>
        </p:spPr>
        <p:txBody>
          <a:bodyPr wrap="square" lIns="0" tIns="0" rIns="0" bIns="0" rtlCol="0" anchor="ctr"/>
          <a:lstStyle/>
          <a:p>
            <a:pPr marL="0" indent="0" algn="ctr">
              <a:buNone/>
            </a:pPr>
            <a:r>
              <a:rPr lang="en-US" sz="1300" b="1" dirty="0">
                <a:solidFill>
                  <a:srgbClr val="0A1228"/>
                </a:solidFill>
                <a:latin typeface="Calibri" pitchFamily="34" charset="0"/>
                <a:ea typeface="Calibri" pitchFamily="34" charset="-122"/>
                <a:cs typeface="Calibri" pitchFamily="34" charset="-120"/>
              </a:rPr>
              <a:t>9</a:t>
            </a:r>
            <a:endParaRPr lang="en-US" sz="1300" dirty="0"/>
          </a:p>
        </p:txBody>
      </p:sp>
      <p:sp>
        <p:nvSpPr>
          <p:cNvPr id="14" name="Text 12"/>
          <p:cNvSpPr/>
          <p:nvPr/>
        </p:nvSpPr>
        <p:spPr>
          <a:xfrm>
            <a:off x="1600200" y="2880360"/>
            <a:ext cx="42976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kidnapping, abduction, dacoity, attempt to murder</a:t>
            </a:r>
            <a:endParaRPr lang="en-US" sz="1050" dirty="0"/>
          </a:p>
        </p:txBody>
      </p:sp>
      <p:sp>
        <p:nvSpPr>
          <p:cNvPr id="15" name="Shape 13"/>
          <p:cNvSpPr/>
          <p:nvPr/>
        </p:nvSpPr>
        <p:spPr>
          <a:xfrm>
            <a:off x="868680" y="3337560"/>
            <a:ext cx="594360" cy="411480"/>
          </a:xfrm>
          <a:prstGeom prst="rect">
            <a:avLst/>
          </a:prstGeom>
          <a:solidFill>
            <a:srgbClr val="F5A524"/>
          </a:solidFill>
          <a:ln w="12700">
            <a:solidFill>
              <a:srgbClr val="F5A524"/>
            </a:solidFill>
            <a:prstDash val="solid"/>
          </a:ln>
        </p:spPr>
        <p:txBody>
          <a:bodyPr/>
          <a:lstStyle/>
          <a:p>
            <a:endParaRPr lang="en-US"/>
          </a:p>
        </p:txBody>
      </p:sp>
      <p:sp>
        <p:nvSpPr>
          <p:cNvPr id="16" name="Text 14"/>
          <p:cNvSpPr/>
          <p:nvPr/>
        </p:nvSpPr>
        <p:spPr>
          <a:xfrm>
            <a:off x="868680" y="3337560"/>
            <a:ext cx="594360" cy="411480"/>
          </a:xfrm>
          <a:prstGeom prst="rect">
            <a:avLst/>
          </a:prstGeom>
          <a:noFill/>
          <a:ln/>
        </p:spPr>
        <p:txBody>
          <a:bodyPr wrap="square" lIns="0" tIns="0" rIns="0" bIns="0" rtlCol="0" anchor="ctr"/>
          <a:lstStyle/>
          <a:p>
            <a:pPr marL="0" indent="0" algn="ctr">
              <a:buNone/>
            </a:pPr>
            <a:r>
              <a:rPr lang="en-US" sz="1300" b="1" dirty="0">
                <a:solidFill>
                  <a:srgbClr val="0A1228"/>
                </a:solidFill>
                <a:latin typeface="Calibri" pitchFamily="34" charset="0"/>
                <a:ea typeface="Calibri" pitchFamily="34" charset="-122"/>
                <a:cs typeface="Calibri" pitchFamily="34" charset="-120"/>
              </a:rPr>
              <a:t>8</a:t>
            </a:r>
            <a:endParaRPr lang="en-US" sz="1300" dirty="0"/>
          </a:p>
        </p:txBody>
      </p:sp>
      <p:sp>
        <p:nvSpPr>
          <p:cNvPr id="17" name="Text 15"/>
          <p:cNvSpPr/>
          <p:nvPr/>
        </p:nvSpPr>
        <p:spPr>
          <a:xfrm>
            <a:off x="1600200" y="3383280"/>
            <a:ext cx="42976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assault, rioting, arson, grievous hurt</a:t>
            </a:r>
            <a:endParaRPr lang="en-US" sz="1050" dirty="0"/>
          </a:p>
        </p:txBody>
      </p:sp>
      <p:sp>
        <p:nvSpPr>
          <p:cNvPr id="18" name="Shape 16"/>
          <p:cNvSpPr/>
          <p:nvPr/>
        </p:nvSpPr>
        <p:spPr>
          <a:xfrm>
            <a:off x="868680" y="3840480"/>
            <a:ext cx="594360" cy="411480"/>
          </a:xfrm>
          <a:prstGeom prst="rect">
            <a:avLst/>
          </a:prstGeom>
          <a:solidFill>
            <a:srgbClr val="F5A524"/>
          </a:solidFill>
          <a:ln w="12700">
            <a:solidFill>
              <a:srgbClr val="F5A524"/>
            </a:solidFill>
            <a:prstDash val="solid"/>
          </a:ln>
        </p:spPr>
        <p:txBody>
          <a:bodyPr/>
          <a:lstStyle/>
          <a:p>
            <a:endParaRPr lang="en-US"/>
          </a:p>
        </p:txBody>
      </p:sp>
      <p:sp>
        <p:nvSpPr>
          <p:cNvPr id="19" name="Text 17"/>
          <p:cNvSpPr/>
          <p:nvPr/>
        </p:nvSpPr>
        <p:spPr>
          <a:xfrm>
            <a:off x="868680" y="3840480"/>
            <a:ext cx="594360" cy="411480"/>
          </a:xfrm>
          <a:prstGeom prst="rect">
            <a:avLst/>
          </a:prstGeom>
          <a:noFill/>
          <a:ln/>
        </p:spPr>
        <p:txBody>
          <a:bodyPr wrap="square" lIns="0" tIns="0" rIns="0" bIns="0" rtlCol="0" anchor="ctr"/>
          <a:lstStyle/>
          <a:p>
            <a:pPr marL="0" indent="0" algn="ctr">
              <a:buNone/>
            </a:pPr>
            <a:r>
              <a:rPr lang="en-US" sz="1300" b="1" dirty="0">
                <a:solidFill>
                  <a:srgbClr val="0A1228"/>
                </a:solidFill>
                <a:latin typeface="Calibri" pitchFamily="34" charset="0"/>
                <a:ea typeface="Calibri" pitchFamily="34" charset="-122"/>
                <a:cs typeface="Calibri" pitchFamily="34" charset="-120"/>
              </a:rPr>
              <a:t>7</a:t>
            </a:r>
            <a:endParaRPr lang="en-US" sz="1300" dirty="0"/>
          </a:p>
        </p:txBody>
      </p:sp>
      <p:sp>
        <p:nvSpPr>
          <p:cNvPr id="20" name="Text 18"/>
          <p:cNvSpPr/>
          <p:nvPr/>
        </p:nvSpPr>
        <p:spPr>
          <a:xfrm>
            <a:off x="1600200" y="3886200"/>
            <a:ext cx="42976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robbery, drug, blackmail, sexual harassment</a:t>
            </a:r>
            <a:endParaRPr lang="en-US" sz="1050" dirty="0"/>
          </a:p>
        </p:txBody>
      </p:sp>
      <p:sp>
        <p:nvSpPr>
          <p:cNvPr id="21" name="Shape 19"/>
          <p:cNvSpPr/>
          <p:nvPr/>
        </p:nvSpPr>
        <p:spPr>
          <a:xfrm>
            <a:off x="868680" y="4343400"/>
            <a:ext cx="594360" cy="411480"/>
          </a:xfrm>
          <a:prstGeom prst="rect">
            <a:avLst/>
          </a:prstGeom>
          <a:solidFill>
            <a:srgbClr val="C8F751"/>
          </a:solidFill>
          <a:ln w="12700">
            <a:solidFill>
              <a:srgbClr val="C8F751"/>
            </a:solidFill>
            <a:prstDash val="solid"/>
          </a:ln>
        </p:spPr>
        <p:txBody>
          <a:bodyPr/>
          <a:lstStyle/>
          <a:p>
            <a:endParaRPr lang="en-US"/>
          </a:p>
        </p:txBody>
      </p:sp>
      <p:sp>
        <p:nvSpPr>
          <p:cNvPr id="22" name="Text 20"/>
          <p:cNvSpPr/>
          <p:nvPr/>
        </p:nvSpPr>
        <p:spPr>
          <a:xfrm>
            <a:off x="868680" y="4343400"/>
            <a:ext cx="594360" cy="411480"/>
          </a:xfrm>
          <a:prstGeom prst="rect">
            <a:avLst/>
          </a:prstGeom>
          <a:noFill/>
          <a:ln/>
        </p:spPr>
        <p:txBody>
          <a:bodyPr wrap="square" lIns="0" tIns="0" rIns="0" bIns="0" rtlCol="0" anchor="ctr"/>
          <a:lstStyle/>
          <a:p>
            <a:pPr marL="0" indent="0" algn="ctr">
              <a:buNone/>
            </a:pPr>
            <a:r>
              <a:rPr lang="en-US" sz="1300" b="1" dirty="0">
                <a:solidFill>
                  <a:srgbClr val="0A1228"/>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1600200" y="4389120"/>
            <a:ext cx="42976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burglary, bribery, fraud, hacking</a:t>
            </a:r>
            <a:endParaRPr lang="en-US" sz="1050" dirty="0"/>
          </a:p>
        </p:txBody>
      </p:sp>
      <p:sp>
        <p:nvSpPr>
          <p:cNvPr id="24" name="Shape 22"/>
          <p:cNvSpPr/>
          <p:nvPr/>
        </p:nvSpPr>
        <p:spPr>
          <a:xfrm>
            <a:off x="868680" y="4846320"/>
            <a:ext cx="594360" cy="411480"/>
          </a:xfrm>
          <a:prstGeom prst="rect">
            <a:avLst/>
          </a:prstGeom>
          <a:solidFill>
            <a:srgbClr val="C8F751"/>
          </a:solidFill>
          <a:ln w="12700">
            <a:solidFill>
              <a:srgbClr val="C8F751"/>
            </a:solidFill>
            <a:prstDash val="solid"/>
          </a:ln>
        </p:spPr>
        <p:txBody>
          <a:bodyPr/>
          <a:lstStyle/>
          <a:p>
            <a:endParaRPr lang="en-US"/>
          </a:p>
        </p:txBody>
      </p:sp>
      <p:sp>
        <p:nvSpPr>
          <p:cNvPr id="25" name="Text 23"/>
          <p:cNvSpPr/>
          <p:nvPr/>
        </p:nvSpPr>
        <p:spPr>
          <a:xfrm>
            <a:off x="868680" y="4846320"/>
            <a:ext cx="594360" cy="411480"/>
          </a:xfrm>
          <a:prstGeom prst="rect">
            <a:avLst/>
          </a:prstGeom>
          <a:noFill/>
          <a:ln/>
        </p:spPr>
        <p:txBody>
          <a:bodyPr wrap="square" lIns="0" tIns="0" rIns="0" bIns="0" rtlCol="0" anchor="ctr"/>
          <a:lstStyle/>
          <a:p>
            <a:pPr marL="0" indent="0" algn="ctr">
              <a:buNone/>
            </a:pPr>
            <a:r>
              <a:rPr lang="en-US" sz="1300" b="1" dirty="0">
                <a:solidFill>
                  <a:srgbClr val="0A1228"/>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1600200" y="4892040"/>
            <a:ext cx="42976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theft, cheating, forgery</a:t>
            </a:r>
            <a:endParaRPr lang="en-US" sz="1050" dirty="0"/>
          </a:p>
        </p:txBody>
      </p:sp>
      <p:sp>
        <p:nvSpPr>
          <p:cNvPr id="27" name="Shape 25"/>
          <p:cNvSpPr/>
          <p:nvPr/>
        </p:nvSpPr>
        <p:spPr>
          <a:xfrm>
            <a:off x="868680" y="5349240"/>
            <a:ext cx="594360" cy="411480"/>
          </a:xfrm>
          <a:prstGeom prst="rect">
            <a:avLst/>
          </a:prstGeom>
          <a:solidFill>
            <a:srgbClr val="30A46C"/>
          </a:solidFill>
          <a:ln w="12700">
            <a:solidFill>
              <a:srgbClr val="30A46C"/>
            </a:solidFill>
            <a:prstDash val="solid"/>
          </a:ln>
        </p:spPr>
        <p:txBody>
          <a:bodyPr/>
          <a:lstStyle/>
          <a:p>
            <a:endParaRPr lang="en-US"/>
          </a:p>
        </p:txBody>
      </p:sp>
      <p:sp>
        <p:nvSpPr>
          <p:cNvPr id="28" name="Text 26"/>
          <p:cNvSpPr/>
          <p:nvPr/>
        </p:nvSpPr>
        <p:spPr>
          <a:xfrm>
            <a:off x="868680" y="5349240"/>
            <a:ext cx="594360" cy="411480"/>
          </a:xfrm>
          <a:prstGeom prst="rect">
            <a:avLst/>
          </a:prstGeom>
          <a:noFill/>
          <a:ln/>
        </p:spPr>
        <p:txBody>
          <a:bodyPr wrap="square" lIns="0" tIns="0" rIns="0" bIns="0" rtlCol="0" anchor="ctr"/>
          <a:lstStyle/>
          <a:p>
            <a:pPr marL="0" indent="0" algn="ctr">
              <a:buNone/>
            </a:pPr>
            <a:r>
              <a:rPr lang="en-US" sz="1300" b="1" dirty="0">
                <a:solidFill>
                  <a:srgbClr val="0A1228"/>
                </a:solidFill>
                <a:latin typeface="Calibri" pitchFamily="34" charset="0"/>
                <a:ea typeface="Calibri" pitchFamily="34" charset="-122"/>
                <a:cs typeface="Calibri" pitchFamily="34" charset="-120"/>
              </a:rPr>
              <a:t>3-4</a:t>
            </a:r>
            <a:endParaRPr lang="en-US" sz="1300" dirty="0"/>
          </a:p>
        </p:txBody>
      </p:sp>
      <p:sp>
        <p:nvSpPr>
          <p:cNvPr id="29" name="Text 27"/>
          <p:cNvSpPr/>
          <p:nvPr/>
        </p:nvSpPr>
        <p:spPr>
          <a:xfrm>
            <a:off x="1600200" y="5394960"/>
            <a:ext cx="4297680" cy="365760"/>
          </a:xfrm>
          <a:prstGeom prst="rect">
            <a:avLst/>
          </a:prstGeom>
          <a:noFill/>
          <a:ln/>
        </p:spPr>
        <p:txBody>
          <a:bodyPr wrap="square" lIns="0" tIns="0" rIns="0" bIns="0" rtlCol="0" anchor="ctr"/>
          <a:lstStyle/>
          <a:p>
            <a:pPr marL="0" indent="0">
              <a:buNone/>
            </a:pPr>
            <a:r>
              <a:rPr lang="en-US" sz="1050" dirty="0">
                <a:solidFill>
                  <a:srgbClr val="F4E9D8"/>
                </a:solidFill>
                <a:latin typeface="Calibri" pitchFamily="34" charset="0"/>
                <a:ea typeface="Calibri" pitchFamily="34" charset="-122"/>
                <a:cs typeface="Calibri" pitchFamily="34" charset="-120"/>
              </a:rPr>
              <a:t>vandalism, defamation, traffic violations</a:t>
            </a:r>
            <a:endParaRPr lang="en-US" sz="1050" dirty="0"/>
          </a:p>
        </p:txBody>
      </p:sp>
      <p:sp>
        <p:nvSpPr>
          <p:cNvPr id="30" name="Shape 28"/>
          <p:cNvSpPr/>
          <p:nvPr/>
        </p:nvSpPr>
        <p:spPr>
          <a:xfrm>
            <a:off x="6355080" y="1371600"/>
            <a:ext cx="5349240" cy="4937760"/>
          </a:xfrm>
          <a:prstGeom prst="rect">
            <a:avLst/>
          </a:prstGeom>
          <a:solidFill>
            <a:srgbClr val="121C3A"/>
          </a:solidFill>
          <a:ln w="9525">
            <a:solidFill>
              <a:srgbClr val="2A3A6E"/>
            </a:solidFill>
            <a:prstDash val="solid"/>
          </a:ln>
        </p:spPr>
        <p:txBody>
          <a:bodyPr/>
          <a:lstStyle/>
          <a:p>
            <a:endParaRPr lang="en-US"/>
          </a:p>
        </p:txBody>
      </p:sp>
      <p:sp>
        <p:nvSpPr>
          <p:cNvPr id="31" name="Shape 29"/>
          <p:cNvSpPr/>
          <p:nvPr/>
        </p:nvSpPr>
        <p:spPr>
          <a:xfrm>
            <a:off x="6355080" y="1371600"/>
            <a:ext cx="64008" cy="4937760"/>
          </a:xfrm>
          <a:prstGeom prst="rect">
            <a:avLst/>
          </a:prstGeom>
          <a:solidFill>
            <a:srgbClr val="C8F751"/>
          </a:solidFill>
          <a:ln w="12700">
            <a:solidFill>
              <a:srgbClr val="C8F751"/>
            </a:solidFill>
            <a:prstDash val="solid"/>
          </a:ln>
        </p:spPr>
        <p:txBody>
          <a:bodyPr/>
          <a:lstStyle/>
          <a:p>
            <a:endParaRPr lang="en-US"/>
          </a:p>
        </p:txBody>
      </p:sp>
      <p:sp>
        <p:nvSpPr>
          <p:cNvPr id="32" name="Text 30"/>
          <p:cNvSpPr/>
          <p:nvPr/>
        </p:nvSpPr>
        <p:spPr>
          <a:xfrm>
            <a:off x="6583680" y="1508760"/>
            <a:ext cx="5029200" cy="292608"/>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CLOSED LOOP — TODAY'S FIR IMPROVES TOMORROW'S MODEL</a:t>
            </a:r>
            <a:endParaRPr lang="en-US" sz="1000" dirty="0"/>
          </a:p>
        </p:txBody>
      </p:sp>
      <p:sp>
        <p:nvSpPr>
          <p:cNvPr id="33" name="Text 31"/>
          <p:cNvSpPr/>
          <p:nvPr/>
        </p:nvSpPr>
        <p:spPr>
          <a:xfrm>
            <a:off x="6583680" y="1801368"/>
            <a:ext cx="5029200" cy="365760"/>
          </a:xfrm>
          <a:prstGeom prst="rect">
            <a:avLst/>
          </a:prstGeom>
          <a:noFill/>
          <a:ln/>
        </p:spPr>
        <p:txBody>
          <a:bodyPr wrap="square" lIns="0" tIns="0" rIns="0" bIns="0" rtlCol="0" anchor="ctr"/>
          <a:lstStyle/>
          <a:p>
            <a:pPr marL="0" indent="0">
              <a:buNone/>
            </a:pPr>
            <a:r>
              <a:rPr lang="en-US" sz="1200" i="1" dirty="0">
                <a:solidFill>
                  <a:srgbClr val="F4E9D8"/>
                </a:solidFill>
                <a:latin typeface="Calibri" pitchFamily="34" charset="0"/>
                <a:ea typeface="Calibri" pitchFamily="34" charset="-122"/>
                <a:cs typeface="Calibri" pitchFamily="34" charset="-120"/>
              </a:rPr>
              <a:t>Every verified FIR upgrades the next retrain</a:t>
            </a:r>
            <a:endParaRPr lang="en-US" sz="1200" dirty="0"/>
          </a:p>
        </p:txBody>
      </p:sp>
      <p:sp>
        <p:nvSpPr>
          <p:cNvPr id="34" name="Shape 32"/>
          <p:cNvSpPr/>
          <p:nvPr/>
        </p:nvSpPr>
        <p:spPr>
          <a:xfrm>
            <a:off x="6583680" y="2331720"/>
            <a:ext cx="4937760" cy="868680"/>
          </a:xfrm>
          <a:prstGeom prst="rect">
            <a:avLst/>
          </a:prstGeom>
          <a:solidFill>
            <a:srgbClr val="0A1228"/>
          </a:solidFill>
          <a:ln w="6350">
            <a:solidFill>
              <a:srgbClr val="2A3A6E"/>
            </a:solidFill>
            <a:prstDash val="solid"/>
          </a:ln>
        </p:spPr>
        <p:txBody>
          <a:bodyPr/>
          <a:lstStyle/>
          <a:p>
            <a:endParaRPr lang="en-US"/>
          </a:p>
        </p:txBody>
      </p:sp>
      <p:sp>
        <p:nvSpPr>
          <p:cNvPr id="35" name="Shape 33"/>
          <p:cNvSpPr/>
          <p:nvPr/>
        </p:nvSpPr>
        <p:spPr>
          <a:xfrm>
            <a:off x="6675120" y="2514600"/>
            <a:ext cx="502920" cy="502920"/>
          </a:xfrm>
          <a:prstGeom prst="ellipse">
            <a:avLst/>
          </a:prstGeom>
          <a:solidFill>
            <a:srgbClr val="C8F751"/>
          </a:solidFill>
          <a:ln w="12700">
            <a:solidFill>
              <a:srgbClr val="C8F751"/>
            </a:solidFill>
            <a:prstDash val="solid"/>
          </a:ln>
        </p:spPr>
        <p:txBody>
          <a:bodyPr/>
          <a:lstStyle/>
          <a:p>
            <a:endParaRPr lang="en-US"/>
          </a:p>
        </p:txBody>
      </p:sp>
      <p:sp>
        <p:nvSpPr>
          <p:cNvPr id="36" name="Text 34"/>
          <p:cNvSpPr/>
          <p:nvPr/>
        </p:nvSpPr>
        <p:spPr>
          <a:xfrm>
            <a:off x="6675120" y="2514600"/>
            <a:ext cx="502920" cy="502920"/>
          </a:xfrm>
          <a:prstGeom prst="rect">
            <a:avLst/>
          </a:prstGeom>
          <a:noFill/>
          <a:ln/>
        </p:spPr>
        <p:txBody>
          <a:bodyPr wrap="square" lIns="0" tIns="0" rIns="0" bIns="0" rtlCol="0" anchor="ctr"/>
          <a:lstStyle/>
          <a:p>
            <a:pPr marL="0" indent="0" algn="ctr">
              <a:buNone/>
            </a:pPr>
            <a:r>
              <a:rPr lang="en-US" sz="1600" b="1" dirty="0">
                <a:solidFill>
                  <a:srgbClr val="0A1228"/>
                </a:solidFill>
                <a:latin typeface="Calibri" pitchFamily="34" charset="0"/>
                <a:ea typeface="Calibri" pitchFamily="34" charset="-122"/>
                <a:cs typeface="Calibri" pitchFamily="34" charset="-120"/>
              </a:rPr>
              <a:t>1</a:t>
            </a:r>
            <a:endParaRPr lang="en-US" sz="1600" dirty="0"/>
          </a:p>
        </p:txBody>
      </p:sp>
      <p:sp>
        <p:nvSpPr>
          <p:cNvPr id="37" name="Text 35"/>
          <p:cNvSpPr/>
          <p:nvPr/>
        </p:nvSpPr>
        <p:spPr>
          <a:xfrm>
            <a:off x="7315200" y="2423160"/>
            <a:ext cx="41148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OCR Extraction</a:t>
            </a:r>
            <a:endParaRPr lang="en-US" sz="1200" dirty="0"/>
          </a:p>
        </p:txBody>
      </p:sp>
      <p:sp>
        <p:nvSpPr>
          <p:cNvPr id="38" name="Text 36"/>
          <p:cNvSpPr/>
          <p:nvPr/>
        </p:nvSpPr>
        <p:spPr>
          <a:xfrm>
            <a:off x="7315200" y="2697480"/>
            <a:ext cx="411480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Pipeline pulls Pakistan Penal Code sections from the FIR scan.</a:t>
            </a:r>
            <a:endParaRPr lang="en-US" sz="1000" dirty="0"/>
          </a:p>
        </p:txBody>
      </p:sp>
      <p:sp>
        <p:nvSpPr>
          <p:cNvPr id="39" name="Shape 37"/>
          <p:cNvSpPr/>
          <p:nvPr/>
        </p:nvSpPr>
        <p:spPr>
          <a:xfrm>
            <a:off x="6583680" y="3291840"/>
            <a:ext cx="4937760" cy="868680"/>
          </a:xfrm>
          <a:prstGeom prst="rect">
            <a:avLst/>
          </a:prstGeom>
          <a:solidFill>
            <a:srgbClr val="0A1228"/>
          </a:solidFill>
          <a:ln w="6350">
            <a:solidFill>
              <a:srgbClr val="2A3A6E"/>
            </a:solidFill>
            <a:prstDash val="solid"/>
          </a:ln>
        </p:spPr>
        <p:txBody>
          <a:bodyPr/>
          <a:lstStyle/>
          <a:p>
            <a:endParaRPr lang="en-US"/>
          </a:p>
        </p:txBody>
      </p:sp>
      <p:sp>
        <p:nvSpPr>
          <p:cNvPr id="40" name="Shape 38"/>
          <p:cNvSpPr/>
          <p:nvPr/>
        </p:nvSpPr>
        <p:spPr>
          <a:xfrm>
            <a:off x="6675120" y="3474720"/>
            <a:ext cx="502920" cy="502920"/>
          </a:xfrm>
          <a:prstGeom prst="ellipse">
            <a:avLst/>
          </a:prstGeom>
          <a:solidFill>
            <a:srgbClr val="C8F751"/>
          </a:solidFill>
          <a:ln w="12700">
            <a:solidFill>
              <a:srgbClr val="C8F751"/>
            </a:solidFill>
            <a:prstDash val="solid"/>
          </a:ln>
        </p:spPr>
        <p:txBody>
          <a:bodyPr/>
          <a:lstStyle/>
          <a:p>
            <a:endParaRPr lang="en-US"/>
          </a:p>
        </p:txBody>
      </p:sp>
      <p:sp>
        <p:nvSpPr>
          <p:cNvPr id="41" name="Text 39"/>
          <p:cNvSpPr/>
          <p:nvPr/>
        </p:nvSpPr>
        <p:spPr>
          <a:xfrm>
            <a:off x="6675120" y="3474720"/>
            <a:ext cx="502920" cy="502920"/>
          </a:xfrm>
          <a:prstGeom prst="rect">
            <a:avLst/>
          </a:prstGeom>
          <a:noFill/>
          <a:ln/>
        </p:spPr>
        <p:txBody>
          <a:bodyPr wrap="square" lIns="0" tIns="0" rIns="0" bIns="0" rtlCol="0" anchor="ctr"/>
          <a:lstStyle/>
          <a:p>
            <a:pPr marL="0" indent="0" algn="ctr">
              <a:buNone/>
            </a:pPr>
            <a:r>
              <a:rPr lang="en-US" sz="1600" b="1" dirty="0">
                <a:solidFill>
                  <a:srgbClr val="0A1228"/>
                </a:solidFill>
                <a:latin typeface="Calibri" pitchFamily="34" charset="0"/>
                <a:ea typeface="Calibri" pitchFamily="34" charset="-122"/>
                <a:cs typeface="Calibri" pitchFamily="34" charset="-120"/>
              </a:rPr>
              <a:t>2</a:t>
            </a:r>
            <a:endParaRPr lang="en-US" sz="1600" dirty="0"/>
          </a:p>
        </p:txBody>
      </p:sp>
      <p:sp>
        <p:nvSpPr>
          <p:cNvPr id="42" name="Text 40"/>
          <p:cNvSpPr/>
          <p:nvPr/>
        </p:nvSpPr>
        <p:spPr>
          <a:xfrm>
            <a:off x="7315200" y="3383280"/>
            <a:ext cx="41148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AI Verification</a:t>
            </a:r>
            <a:endParaRPr lang="en-US" sz="1200" dirty="0"/>
          </a:p>
        </p:txBody>
      </p:sp>
      <p:sp>
        <p:nvSpPr>
          <p:cNvPr id="43" name="Text 41"/>
          <p:cNvSpPr/>
          <p:nvPr/>
        </p:nvSpPr>
        <p:spPr>
          <a:xfrm>
            <a:off x="7315200" y="3657600"/>
            <a:ext cx="411480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We ask Gemini AI: 'is this section number real, and does it match the story?' Bogus sections are rejected.</a:t>
            </a:r>
            <a:endParaRPr lang="en-US" sz="1000" dirty="0"/>
          </a:p>
        </p:txBody>
      </p:sp>
      <p:sp>
        <p:nvSpPr>
          <p:cNvPr id="44" name="Shape 42"/>
          <p:cNvSpPr/>
          <p:nvPr/>
        </p:nvSpPr>
        <p:spPr>
          <a:xfrm>
            <a:off x="6583680" y="4251960"/>
            <a:ext cx="4937760" cy="868680"/>
          </a:xfrm>
          <a:prstGeom prst="rect">
            <a:avLst/>
          </a:prstGeom>
          <a:solidFill>
            <a:srgbClr val="0A1228"/>
          </a:solidFill>
          <a:ln w="6350">
            <a:solidFill>
              <a:srgbClr val="2A3A6E"/>
            </a:solidFill>
            <a:prstDash val="solid"/>
          </a:ln>
        </p:spPr>
        <p:txBody>
          <a:bodyPr/>
          <a:lstStyle/>
          <a:p>
            <a:endParaRPr lang="en-US"/>
          </a:p>
        </p:txBody>
      </p:sp>
      <p:sp>
        <p:nvSpPr>
          <p:cNvPr id="45" name="Shape 43"/>
          <p:cNvSpPr/>
          <p:nvPr/>
        </p:nvSpPr>
        <p:spPr>
          <a:xfrm>
            <a:off x="6675120" y="4434840"/>
            <a:ext cx="502920" cy="502920"/>
          </a:xfrm>
          <a:prstGeom prst="ellipse">
            <a:avLst/>
          </a:prstGeom>
          <a:solidFill>
            <a:srgbClr val="C8F751"/>
          </a:solidFill>
          <a:ln w="12700">
            <a:solidFill>
              <a:srgbClr val="C8F751"/>
            </a:solidFill>
            <a:prstDash val="solid"/>
          </a:ln>
        </p:spPr>
        <p:txBody>
          <a:bodyPr/>
          <a:lstStyle/>
          <a:p>
            <a:endParaRPr lang="en-US"/>
          </a:p>
        </p:txBody>
      </p:sp>
      <p:sp>
        <p:nvSpPr>
          <p:cNvPr id="46" name="Text 44"/>
          <p:cNvSpPr/>
          <p:nvPr/>
        </p:nvSpPr>
        <p:spPr>
          <a:xfrm>
            <a:off x="6675120" y="4434840"/>
            <a:ext cx="502920" cy="502920"/>
          </a:xfrm>
          <a:prstGeom prst="rect">
            <a:avLst/>
          </a:prstGeom>
          <a:noFill/>
          <a:ln/>
        </p:spPr>
        <p:txBody>
          <a:bodyPr wrap="square" lIns="0" tIns="0" rIns="0" bIns="0" rtlCol="0" anchor="ctr"/>
          <a:lstStyle/>
          <a:p>
            <a:pPr marL="0" indent="0" algn="ctr">
              <a:buNone/>
            </a:pPr>
            <a:r>
              <a:rPr lang="en-US" sz="1600" b="1" dirty="0">
                <a:solidFill>
                  <a:srgbClr val="0A1228"/>
                </a:solidFill>
                <a:latin typeface="Calibri" pitchFamily="34" charset="0"/>
                <a:ea typeface="Calibri" pitchFamily="34" charset="-122"/>
                <a:cs typeface="Calibri" pitchFamily="34" charset="-120"/>
              </a:rPr>
              <a:t>3</a:t>
            </a:r>
            <a:endParaRPr lang="en-US" sz="1600" dirty="0"/>
          </a:p>
        </p:txBody>
      </p:sp>
      <p:sp>
        <p:nvSpPr>
          <p:cNvPr id="47" name="Text 45"/>
          <p:cNvSpPr/>
          <p:nvPr/>
        </p:nvSpPr>
        <p:spPr>
          <a:xfrm>
            <a:off x="7315200" y="4343400"/>
            <a:ext cx="41148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Severity Sync</a:t>
            </a:r>
            <a:endParaRPr lang="en-US" sz="1200" dirty="0"/>
          </a:p>
        </p:txBody>
      </p:sp>
      <p:sp>
        <p:nvSpPr>
          <p:cNvPr id="48" name="Text 46"/>
          <p:cNvSpPr/>
          <p:nvPr/>
        </p:nvSpPr>
        <p:spPr>
          <a:xfrm>
            <a:off x="7315200" y="4617720"/>
            <a:ext cx="411480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Approved sections write a new keyword→score row into severity_map.json.</a:t>
            </a:r>
            <a:endParaRPr lang="en-US" sz="1000" dirty="0"/>
          </a:p>
        </p:txBody>
      </p:sp>
      <p:sp>
        <p:nvSpPr>
          <p:cNvPr id="49" name="Shape 47"/>
          <p:cNvSpPr/>
          <p:nvPr/>
        </p:nvSpPr>
        <p:spPr>
          <a:xfrm>
            <a:off x="6583680" y="5212080"/>
            <a:ext cx="4937760" cy="868680"/>
          </a:xfrm>
          <a:prstGeom prst="rect">
            <a:avLst/>
          </a:prstGeom>
          <a:solidFill>
            <a:srgbClr val="0A1228"/>
          </a:solidFill>
          <a:ln w="6350">
            <a:solidFill>
              <a:srgbClr val="2A3A6E"/>
            </a:solidFill>
            <a:prstDash val="solid"/>
          </a:ln>
        </p:spPr>
        <p:txBody>
          <a:bodyPr/>
          <a:lstStyle/>
          <a:p>
            <a:endParaRPr lang="en-US"/>
          </a:p>
        </p:txBody>
      </p:sp>
      <p:sp>
        <p:nvSpPr>
          <p:cNvPr id="50" name="Shape 48"/>
          <p:cNvSpPr/>
          <p:nvPr/>
        </p:nvSpPr>
        <p:spPr>
          <a:xfrm>
            <a:off x="6675120" y="5394960"/>
            <a:ext cx="502920" cy="502920"/>
          </a:xfrm>
          <a:prstGeom prst="ellipse">
            <a:avLst/>
          </a:prstGeom>
          <a:solidFill>
            <a:srgbClr val="C8F751"/>
          </a:solidFill>
          <a:ln w="12700">
            <a:solidFill>
              <a:srgbClr val="C8F751"/>
            </a:solidFill>
            <a:prstDash val="solid"/>
          </a:ln>
        </p:spPr>
        <p:txBody>
          <a:bodyPr/>
          <a:lstStyle/>
          <a:p>
            <a:endParaRPr lang="en-US"/>
          </a:p>
        </p:txBody>
      </p:sp>
      <p:sp>
        <p:nvSpPr>
          <p:cNvPr id="51" name="Text 49"/>
          <p:cNvSpPr/>
          <p:nvPr/>
        </p:nvSpPr>
        <p:spPr>
          <a:xfrm>
            <a:off x="6675120" y="5394960"/>
            <a:ext cx="502920" cy="502920"/>
          </a:xfrm>
          <a:prstGeom prst="rect">
            <a:avLst/>
          </a:prstGeom>
          <a:noFill/>
          <a:ln/>
        </p:spPr>
        <p:txBody>
          <a:bodyPr wrap="square" lIns="0" tIns="0" rIns="0" bIns="0" rtlCol="0" anchor="ctr"/>
          <a:lstStyle/>
          <a:p>
            <a:pPr marL="0" indent="0" algn="ctr">
              <a:buNone/>
            </a:pPr>
            <a:r>
              <a:rPr lang="en-US" sz="1600" b="1" dirty="0">
                <a:solidFill>
                  <a:srgbClr val="0A1228"/>
                </a:solidFill>
                <a:latin typeface="Calibri" pitchFamily="34" charset="0"/>
                <a:ea typeface="Calibri" pitchFamily="34" charset="-122"/>
                <a:cs typeface="Calibri" pitchFamily="34" charset="-120"/>
              </a:rPr>
              <a:t>4</a:t>
            </a:r>
            <a:endParaRPr lang="en-US" sz="1600" dirty="0"/>
          </a:p>
        </p:txBody>
      </p:sp>
      <p:sp>
        <p:nvSpPr>
          <p:cNvPr id="52" name="Text 50"/>
          <p:cNvSpPr/>
          <p:nvPr/>
        </p:nvSpPr>
        <p:spPr>
          <a:xfrm>
            <a:off x="7315200" y="5303520"/>
            <a:ext cx="41148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Next Retrain</a:t>
            </a:r>
            <a:endParaRPr lang="en-US" sz="1200" dirty="0"/>
          </a:p>
        </p:txBody>
      </p:sp>
      <p:sp>
        <p:nvSpPr>
          <p:cNvPr id="53" name="Text 51"/>
          <p:cNvSpPr/>
          <p:nvPr/>
        </p:nvSpPr>
        <p:spPr>
          <a:xfrm>
            <a:off x="7315200" y="5577840"/>
            <a:ext cx="411480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When the model retrains, it reads the latest map — so the model learns from every FIR.</a:t>
            </a:r>
            <a:endParaRPr lang="en-US" sz="1000" dirty="0"/>
          </a:p>
        </p:txBody>
      </p:sp>
      <p:sp>
        <p:nvSpPr>
          <p:cNvPr id="54" name="Text 52"/>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55" name="Text 5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20 / 28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AI ROUTE SAFETY ANALYSER</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Find the safest path between A and B — even if a few minutes longer</a:t>
            </a:r>
            <a:endParaRPr lang="en-US" sz="1200" dirty="0"/>
          </a:p>
        </p:txBody>
      </p:sp>
      <p:pic>
        <p:nvPicPr>
          <p:cNvPr id="5" name="Image 0" descr="/home/claude/gifs/route_analyser.gif"/>
          <p:cNvPicPr>
            <a:picLocks noChangeAspect="1"/>
          </p:cNvPicPr>
          <p:nvPr/>
        </p:nvPicPr>
        <p:blipFill>
          <a:blip r:embed="rId3"/>
          <a:stretch>
            <a:fillRect/>
          </a:stretch>
        </p:blipFill>
        <p:spPr>
          <a:xfrm>
            <a:off x="640080" y="1325880"/>
            <a:ext cx="7772400" cy="2926080"/>
          </a:xfrm>
          <a:prstGeom prst="rect">
            <a:avLst/>
          </a:prstGeom>
        </p:spPr>
      </p:pic>
      <p:sp>
        <p:nvSpPr>
          <p:cNvPr id="6" name="Shape 3"/>
          <p:cNvSpPr/>
          <p:nvPr/>
        </p:nvSpPr>
        <p:spPr>
          <a:xfrm>
            <a:off x="8595360" y="1325880"/>
            <a:ext cx="3108960" cy="2926080"/>
          </a:xfrm>
          <a:prstGeom prst="rect">
            <a:avLst/>
          </a:prstGeom>
          <a:solidFill>
            <a:srgbClr val="121C3A"/>
          </a:solidFill>
          <a:ln w="9525">
            <a:solidFill>
              <a:srgbClr val="2A3A6E"/>
            </a:solidFill>
            <a:prstDash val="solid"/>
          </a:ln>
        </p:spPr>
        <p:txBody>
          <a:bodyPr/>
          <a:lstStyle/>
          <a:p>
            <a:endParaRPr lang="en-US"/>
          </a:p>
        </p:txBody>
      </p:sp>
      <p:sp>
        <p:nvSpPr>
          <p:cNvPr id="7" name="Shape 4"/>
          <p:cNvSpPr/>
          <p:nvPr/>
        </p:nvSpPr>
        <p:spPr>
          <a:xfrm>
            <a:off x="8595360" y="1325880"/>
            <a:ext cx="64008" cy="2926080"/>
          </a:xfrm>
          <a:prstGeom prst="rect">
            <a:avLst/>
          </a:prstGeom>
          <a:solidFill>
            <a:srgbClr val="C8F751"/>
          </a:solidFill>
          <a:ln w="12700">
            <a:solidFill>
              <a:srgbClr val="C8F751"/>
            </a:solidFill>
            <a:prstDash val="solid"/>
          </a:ln>
        </p:spPr>
        <p:txBody>
          <a:bodyPr/>
          <a:lstStyle/>
          <a:p>
            <a:endParaRPr lang="en-US"/>
          </a:p>
        </p:txBody>
      </p:sp>
      <p:sp>
        <p:nvSpPr>
          <p:cNvPr id="8" name="Text 5"/>
          <p:cNvSpPr/>
          <p:nvPr/>
        </p:nvSpPr>
        <p:spPr>
          <a:xfrm>
            <a:off x="8732520" y="1463040"/>
            <a:ext cx="2834640" cy="256032"/>
          </a:xfrm>
          <a:prstGeom prst="rect">
            <a:avLst/>
          </a:prstGeom>
          <a:noFill/>
          <a:ln/>
        </p:spPr>
        <p:txBody>
          <a:bodyPr wrap="square" lIns="0" tIns="0" rIns="0" bIns="0" rtlCol="0" anchor="ctr"/>
          <a:lstStyle/>
          <a:p>
            <a:pPr marL="0" indent="0">
              <a:buNone/>
            </a:pPr>
            <a:r>
              <a:rPr lang="en-US" sz="900" b="1" kern="0" spc="300" dirty="0">
                <a:solidFill>
                  <a:srgbClr val="C8F751"/>
                </a:solidFill>
                <a:latin typeface="Calibri" pitchFamily="34" charset="0"/>
                <a:ea typeface="Calibri" pitchFamily="34" charset="-122"/>
                <a:cs typeface="Calibri" pitchFamily="34" charset="-120"/>
              </a:rPr>
              <a:t>3-5 ROUTES COMPARED</a:t>
            </a:r>
            <a:endParaRPr lang="en-US" sz="900" dirty="0"/>
          </a:p>
        </p:txBody>
      </p:sp>
      <p:sp>
        <p:nvSpPr>
          <p:cNvPr id="9" name="Text 6"/>
          <p:cNvSpPr/>
          <p:nvPr/>
        </p:nvSpPr>
        <p:spPr>
          <a:xfrm>
            <a:off x="8732520" y="1783080"/>
            <a:ext cx="2834640" cy="2331720"/>
          </a:xfrm>
          <a:prstGeom prst="rect">
            <a:avLst/>
          </a:prstGeom>
          <a:noFill/>
          <a:ln/>
        </p:spPr>
        <p:txBody>
          <a:bodyPr wrap="square" lIns="0" tIns="0" rIns="0" bIns="0" rtlCol="0" anchor="ctr"/>
          <a:lstStyle/>
          <a:p>
            <a:pPr marL="0" indent="0">
              <a:buNone/>
            </a:pPr>
            <a:r>
              <a:rPr lang="en-US" sz="1300" b="1" dirty="0">
                <a:solidFill>
                  <a:srgbClr val="E5484D"/>
                </a:solidFill>
                <a:latin typeface="Calibri" pitchFamily="34" charset="0"/>
                <a:ea typeface="Calibri" pitchFamily="34" charset="-122"/>
                <a:cs typeface="Calibri" pitchFamily="34" charset="-120"/>
              </a:rPr>
              <a:t>Fastest</a:t>
            </a:r>
            <a:endParaRPr lang="en-US" sz="1300" dirty="0"/>
          </a:p>
          <a:p>
            <a:pPr marL="0" indent="0">
              <a:spcAft>
                <a:spcPts val="600"/>
              </a:spcAft>
              <a:buNone/>
            </a:pPr>
            <a:r>
              <a:rPr lang="en-US" sz="1000" dirty="0">
                <a:solidFill>
                  <a:srgbClr val="F4E9D8"/>
                </a:solidFill>
                <a:latin typeface="Calibri" pitchFamily="34" charset="0"/>
                <a:ea typeface="Calibri" pitchFamily="34" charset="-122"/>
                <a:cs typeface="Calibri" pitchFamily="34" charset="-120"/>
              </a:rPr>
              <a:t>shortest time, ignores risk</a:t>
            </a:r>
            <a:endParaRPr lang="en-US" sz="1300" dirty="0"/>
          </a:p>
          <a:p>
            <a:pPr marL="0" indent="0">
              <a:buNone/>
            </a:pPr>
            <a:r>
              <a:rPr lang="en-US" sz="1300" b="1" dirty="0">
                <a:solidFill>
                  <a:srgbClr val="F5A524"/>
                </a:solidFill>
                <a:latin typeface="Calibri" pitchFamily="34" charset="0"/>
                <a:ea typeface="Calibri" pitchFamily="34" charset="-122"/>
                <a:cs typeface="Calibri" pitchFamily="34" charset="-120"/>
              </a:rPr>
              <a:t>Alternate</a:t>
            </a:r>
            <a:endParaRPr lang="en-US" sz="1300" dirty="0"/>
          </a:p>
          <a:p>
            <a:pPr marL="0" indent="0">
              <a:spcAft>
                <a:spcPts val="600"/>
              </a:spcAft>
              <a:buNone/>
            </a:pPr>
            <a:r>
              <a:rPr lang="en-US" sz="1000" dirty="0">
                <a:solidFill>
                  <a:srgbClr val="F4E9D8"/>
                </a:solidFill>
                <a:latin typeface="Calibri" pitchFamily="34" charset="0"/>
                <a:ea typeface="Calibri" pitchFamily="34" charset="-122"/>
                <a:cs typeface="Calibri" pitchFamily="34" charset="-120"/>
              </a:rPr>
              <a:t>balanced compromise</a:t>
            </a:r>
            <a:endParaRPr lang="en-US" sz="1300" dirty="0"/>
          </a:p>
          <a:p>
            <a:pPr marL="0" indent="0">
              <a:buNone/>
            </a:pPr>
            <a:r>
              <a:rPr lang="en-US" sz="1300" b="1" dirty="0">
                <a:solidFill>
                  <a:srgbClr val="30A46C"/>
                </a:solidFill>
                <a:latin typeface="Calibri" pitchFamily="34" charset="0"/>
                <a:ea typeface="Calibri" pitchFamily="34" charset="-122"/>
                <a:cs typeface="Calibri" pitchFamily="34" charset="-120"/>
              </a:rPr>
              <a:t>Safest</a:t>
            </a:r>
            <a:endParaRPr lang="en-US" sz="1300" dirty="0"/>
          </a:p>
          <a:p>
            <a:pPr marL="0" indent="0">
              <a:buNone/>
            </a:pPr>
            <a:r>
              <a:rPr lang="en-US" sz="1000" dirty="0">
                <a:solidFill>
                  <a:srgbClr val="F4E9D8"/>
                </a:solidFill>
                <a:latin typeface="Calibri" pitchFamily="34" charset="0"/>
                <a:ea typeface="Calibri" pitchFamily="34" charset="-122"/>
                <a:cs typeface="Calibri" pitchFamily="34" charset="-120"/>
              </a:rPr>
              <a:t>minimum spatial risk along the line</a:t>
            </a:r>
            <a:endParaRPr lang="en-US" sz="1300" dirty="0"/>
          </a:p>
        </p:txBody>
      </p:sp>
      <p:sp>
        <p:nvSpPr>
          <p:cNvPr id="10" name="Shape 7"/>
          <p:cNvSpPr/>
          <p:nvPr/>
        </p:nvSpPr>
        <p:spPr>
          <a:xfrm>
            <a:off x="640080" y="4434840"/>
            <a:ext cx="5532120" cy="1874520"/>
          </a:xfrm>
          <a:prstGeom prst="rect">
            <a:avLst/>
          </a:prstGeom>
          <a:solidFill>
            <a:srgbClr val="121C3A"/>
          </a:solidFill>
          <a:ln w="9525">
            <a:solidFill>
              <a:srgbClr val="2A3A6E"/>
            </a:solidFill>
            <a:prstDash val="solid"/>
          </a:ln>
        </p:spPr>
        <p:txBody>
          <a:bodyPr/>
          <a:lstStyle/>
          <a:p>
            <a:endParaRPr lang="en-US"/>
          </a:p>
        </p:txBody>
      </p:sp>
      <p:sp>
        <p:nvSpPr>
          <p:cNvPr id="11" name="Shape 8"/>
          <p:cNvSpPr/>
          <p:nvPr/>
        </p:nvSpPr>
        <p:spPr>
          <a:xfrm>
            <a:off x="640080" y="4434840"/>
            <a:ext cx="64008" cy="1874520"/>
          </a:xfrm>
          <a:prstGeom prst="rect">
            <a:avLst/>
          </a:prstGeom>
          <a:solidFill>
            <a:srgbClr val="C8F751"/>
          </a:solidFill>
          <a:ln w="12700">
            <a:solidFill>
              <a:srgbClr val="C8F751"/>
            </a:solidFill>
            <a:prstDash val="solid"/>
          </a:ln>
        </p:spPr>
        <p:txBody>
          <a:bodyPr/>
          <a:lstStyle/>
          <a:p>
            <a:endParaRPr lang="en-US"/>
          </a:p>
        </p:txBody>
      </p:sp>
      <p:sp>
        <p:nvSpPr>
          <p:cNvPr id="12" name="Text 9"/>
          <p:cNvSpPr/>
          <p:nvPr/>
        </p:nvSpPr>
        <p:spPr>
          <a:xfrm>
            <a:off x="868680" y="4544568"/>
            <a:ext cx="5212080" cy="274320"/>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THE TRICK  ·  PERPENDICULAR VIA-POINTS</a:t>
            </a:r>
            <a:endParaRPr lang="en-US" sz="1000" dirty="0"/>
          </a:p>
        </p:txBody>
      </p:sp>
      <p:sp>
        <p:nvSpPr>
          <p:cNvPr id="13" name="Text 10"/>
          <p:cNvSpPr/>
          <p:nvPr/>
        </p:nvSpPr>
        <p:spPr>
          <a:xfrm>
            <a:off x="868680" y="4846320"/>
            <a:ext cx="5212080" cy="1417320"/>
          </a:xfrm>
          <a:prstGeom prst="rect">
            <a:avLst/>
          </a:prstGeom>
          <a:noFill/>
          <a:ln/>
        </p:spPr>
        <p:txBody>
          <a:bodyPr wrap="square" lIns="0" tIns="0" rIns="0" bIns="0" rtlCol="0" anchor="ctr"/>
          <a:lstStyle/>
          <a:p>
            <a:pPr marL="0" indent="0">
              <a:buNone/>
            </a:pPr>
            <a:r>
              <a:rPr lang="en-US" sz="1050" i="1" dirty="0">
                <a:solidFill>
                  <a:srgbClr val="F4E9D8"/>
                </a:solidFill>
                <a:latin typeface="Calibri" pitchFamily="34" charset="0"/>
                <a:ea typeface="Calibri" pitchFamily="34" charset="-122"/>
                <a:cs typeface="Calibri" pitchFamily="34" charset="-120"/>
              </a:rPr>
              <a:t>Plain English: OSRM often gives very similar alternates. Our trick is perpendicular via-points: we take the midpoint from A to B, shift it sideways with fixed offsets (about 0.015 and 0.030 degrees), and force OSRM through those points. Result: clearly different corridors we can compare for safety.</a:t>
            </a:r>
            <a:endParaRPr lang="en-US" sz="1050" dirty="0"/>
          </a:p>
        </p:txBody>
      </p:sp>
      <p:sp>
        <p:nvSpPr>
          <p:cNvPr id="14" name="Shape 11"/>
          <p:cNvSpPr/>
          <p:nvPr/>
        </p:nvSpPr>
        <p:spPr>
          <a:xfrm>
            <a:off x="6355080" y="4434840"/>
            <a:ext cx="5349240" cy="1874520"/>
          </a:xfrm>
          <a:prstGeom prst="rect">
            <a:avLst/>
          </a:prstGeom>
          <a:solidFill>
            <a:srgbClr val="121C3A"/>
          </a:solidFill>
          <a:ln w="9525">
            <a:solidFill>
              <a:srgbClr val="2A3A6E"/>
            </a:solidFill>
            <a:prstDash val="solid"/>
          </a:ln>
        </p:spPr>
        <p:txBody>
          <a:bodyPr/>
          <a:lstStyle/>
          <a:p>
            <a:endParaRPr lang="en-US"/>
          </a:p>
        </p:txBody>
      </p:sp>
      <p:sp>
        <p:nvSpPr>
          <p:cNvPr id="15" name="Shape 12"/>
          <p:cNvSpPr/>
          <p:nvPr/>
        </p:nvSpPr>
        <p:spPr>
          <a:xfrm>
            <a:off x="6355080" y="4434840"/>
            <a:ext cx="64008" cy="1874520"/>
          </a:xfrm>
          <a:prstGeom prst="rect">
            <a:avLst/>
          </a:prstGeom>
          <a:solidFill>
            <a:srgbClr val="C8F751"/>
          </a:solidFill>
          <a:ln w="12700">
            <a:solidFill>
              <a:srgbClr val="C8F751"/>
            </a:solidFill>
            <a:prstDash val="solid"/>
          </a:ln>
        </p:spPr>
        <p:txBody>
          <a:bodyPr/>
          <a:lstStyle/>
          <a:p>
            <a:endParaRPr lang="en-US"/>
          </a:p>
        </p:txBody>
      </p:sp>
      <p:sp>
        <p:nvSpPr>
          <p:cNvPr id="16" name="Text 13"/>
          <p:cNvSpPr/>
          <p:nvPr/>
        </p:nvSpPr>
        <p:spPr>
          <a:xfrm>
            <a:off x="6583680" y="4544568"/>
            <a:ext cx="5029200" cy="274320"/>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THE SCORE</a:t>
            </a:r>
            <a:endParaRPr lang="en-US" sz="1000" dirty="0"/>
          </a:p>
        </p:txBody>
      </p:sp>
      <p:sp>
        <p:nvSpPr>
          <p:cNvPr id="17" name="Text 14"/>
          <p:cNvSpPr/>
          <p:nvPr/>
        </p:nvSpPr>
        <p:spPr>
          <a:xfrm>
            <a:off x="6583680" y="4846320"/>
            <a:ext cx="5029200" cy="365760"/>
          </a:xfrm>
          <a:prstGeom prst="rect">
            <a:avLst/>
          </a:prstGeom>
          <a:noFill/>
          <a:ln/>
        </p:spPr>
        <p:txBody>
          <a:bodyPr wrap="square" lIns="0" tIns="0" rIns="0" bIns="0" rtlCol="0" anchor="ctr"/>
          <a:lstStyle/>
          <a:p>
            <a:pPr marL="0" indent="0">
              <a:buNone/>
            </a:pPr>
            <a:r>
              <a:rPr lang="en-US" sz="1200" b="1" dirty="0">
                <a:solidFill>
                  <a:srgbClr val="FFFFFF"/>
                </a:solidFill>
                <a:latin typeface="Consolas" pitchFamily="34" charset="0"/>
                <a:ea typeface="Consolas" pitchFamily="34" charset="-122"/>
                <a:cs typeface="Consolas" pitchFamily="34" charset="-120"/>
              </a:rPr>
              <a:t>overall_risk = 0.7 × avg_risk + 0.3 × max_risk</a:t>
            </a:r>
            <a:endParaRPr lang="en-US" sz="1200" dirty="0"/>
          </a:p>
        </p:txBody>
      </p:sp>
      <p:sp>
        <p:nvSpPr>
          <p:cNvPr id="18" name="Text 15"/>
          <p:cNvSpPr/>
          <p:nvPr/>
        </p:nvSpPr>
        <p:spPr>
          <a:xfrm>
            <a:off x="6583680" y="5212080"/>
            <a:ext cx="5029200" cy="365760"/>
          </a:xfrm>
          <a:prstGeom prst="rect">
            <a:avLst/>
          </a:prstGeom>
          <a:noFill/>
          <a:ln/>
        </p:spPr>
        <p:txBody>
          <a:bodyPr wrap="square" lIns="0" tIns="0" rIns="0" bIns="0" rtlCol="0" anchor="ctr"/>
          <a:lstStyle/>
          <a:p>
            <a:pPr marL="0" indent="0">
              <a:buNone/>
            </a:pPr>
            <a:r>
              <a:rPr lang="en-US" sz="1200" b="1" dirty="0">
                <a:solidFill>
                  <a:srgbClr val="F5A524"/>
                </a:solidFill>
                <a:latin typeface="Consolas" pitchFamily="34" charset="0"/>
                <a:ea typeface="Consolas" pitchFamily="34" charset="-122"/>
                <a:cs typeface="Consolas" pitchFamily="34" charset="-120"/>
              </a:rPr>
              <a:t>If is_night (8pm – 6am):  score × 0.85</a:t>
            </a:r>
            <a:endParaRPr lang="en-US" sz="1200" dirty="0"/>
          </a:p>
        </p:txBody>
      </p:sp>
      <p:sp>
        <p:nvSpPr>
          <p:cNvPr id="19" name="Text 16"/>
          <p:cNvSpPr/>
          <p:nvPr/>
        </p:nvSpPr>
        <p:spPr>
          <a:xfrm>
            <a:off x="6583680" y="5623560"/>
            <a:ext cx="5029200" cy="640080"/>
          </a:xfrm>
          <a:prstGeom prst="rect">
            <a:avLst/>
          </a:prstGeom>
          <a:noFill/>
          <a:ln/>
        </p:spPr>
        <p:txBody>
          <a:bodyPr wrap="square" lIns="0" tIns="0" rIns="0" bIns="0" rtlCol="0" anchor="ctr"/>
          <a:lstStyle/>
          <a:p>
            <a:pPr marL="0" indent="0">
              <a:buNone/>
            </a:pPr>
            <a:r>
              <a:rPr lang="en-US" sz="950" i="1" dirty="0">
                <a:solidFill>
                  <a:srgbClr val="9AA8C7"/>
                </a:solidFill>
                <a:latin typeface="Calibri" pitchFamily="34" charset="0"/>
                <a:ea typeface="Calibri" pitchFamily="34" charset="-122"/>
                <a:cs typeface="Calibri" pitchFamily="34" charset="-120"/>
              </a:rPr>
              <a:t>70% on average risk rewards consistently safer corridors; 30% on the worst point penalises one dangerous hotspot. At night (8pm-6am), scores get the night factor so the safest route can differ from daytime.</a:t>
            </a:r>
            <a:endParaRPr lang="en-US" sz="950" dirty="0"/>
          </a:p>
        </p:txBody>
      </p:sp>
      <p:sp>
        <p:nvSpPr>
          <p:cNvPr id="20" name="Text 1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21" name="Text 18"/>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21 / 28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OCR PIPELINE — 3 ENGINES READING URDU HANDWRITING</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12,517 lines of code turning FIR scans into usable data</a:t>
            </a:r>
            <a:endParaRPr lang="en-US" sz="1200" dirty="0"/>
          </a:p>
        </p:txBody>
      </p:sp>
      <p:pic>
        <p:nvPicPr>
          <p:cNvPr id="5" name="Image 0" descr="/home/claude/gifs/ocr_voting.gif"/>
          <p:cNvPicPr>
            <a:picLocks noChangeAspect="1"/>
          </p:cNvPicPr>
          <p:nvPr/>
        </p:nvPicPr>
        <p:blipFill>
          <a:blip r:embed="rId3"/>
          <a:stretch>
            <a:fillRect/>
          </a:stretch>
        </p:blipFill>
        <p:spPr>
          <a:xfrm>
            <a:off x="640080" y="1325880"/>
            <a:ext cx="11064240" cy="2926080"/>
          </a:xfrm>
          <a:prstGeom prst="rect">
            <a:avLst/>
          </a:prstGeom>
        </p:spPr>
      </p:pic>
      <p:sp>
        <p:nvSpPr>
          <p:cNvPr id="6" name="Shape 3"/>
          <p:cNvSpPr/>
          <p:nvPr/>
        </p:nvSpPr>
        <p:spPr>
          <a:xfrm>
            <a:off x="640080" y="4389120"/>
            <a:ext cx="5532120" cy="1920240"/>
          </a:xfrm>
          <a:prstGeom prst="rect">
            <a:avLst/>
          </a:prstGeom>
          <a:solidFill>
            <a:srgbClr val="121C3A"/>
          </a:solidFill>
          <a:ln w="9525">
            <a:solidFill>
              <a:srgbClr val="2A3A6E"/>
            </a:solidFill>
            <a:prstDash val="solid"/>
          </a:ln>
        </p:spPr>
        <p:txBody>
          <a:bodyPr/>
          <a:lstStyle/>
          <a:p>
            <a:endParaRPr lang="en-US"/>
          </a:p>
        </p:txBody>
      </p:sp>
      <p:sp>
        <p:nvSpPr>
          <p:cNvPr id="7" name="Shape 4"/>
          <p:cNvSpPr/>
          <p:nvPr/>
        </p:nvSpPr>
        <p:spPr>
          <a:xfrm>
            <a:off x="640080" y="4389120"/>
            <a:ext cx="64008" cy="1920240"/>
          </a:xfrm>
          <a:prstGeom prst="rect">
            <a:avLst/>
          </a:prstGeom>
          <a:solidFill>
            <a:srgbClr val="C8F751"/>
          </a:solidFill>
          <a:ln w="12700">
            <a:solidFill>
              <a:srgbClr val="C8F751"/>
            </a:solidFill>
            <a:prstDash val="solid"/>
          </a:ln>
        </p:spPr>
        <p:txBody>
          <a:bodyPr/>
          <a:lstStyle/>
          <a:p>
            <a:endParaRPr lang="en-US"/>
          </a:p>
        </p:txBody>
      </p:sp>
      <p:sp>
        <p:nvSpPr>
          <p:cNvPr id="8" name="Text 5"/>
          <p:cNvSpPr/>
          <p:nvPr/>
        </p:nvSpPr>
        <p:spPr>
          <a:xfrm>
            <a:off x="868680" y="4498848"/>
            <a:ext cx="5212080" cy="256032"/>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PRE-STAGE  ·  IMAGE FINGERPRINT CACHE</a:t>
            </a:r>
            <a:endParaRPr lang="en-US" sz="1000" dirty="0"/>
          </a:p>
        </p:txBody>
      </p:sp>
      <p:sp>
        <p:nvSpPr>
          <p:cNvPr id="9" name="Text 6"/>
          <p:cNvSpPr/>
          <p:nvPr/>
        </p:nvSpPr>
        <p:spPr>
          <a:xfrm>
            <a:off x="868680" y="4800600"/>
            <a:ext cx="5212080" cy="141732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Before OCR, we take an MD5 fingerprint of the upload. If we have seen the exact same file before, we skip OCR and reuse the old answer. That saves time and keeps re-uploads at zero cost. The cache holds 975 known FIRs. Bit-exact match means zero false positives.</a:t>
            </a:r>
            <a:endParaRPr lang="en-US" sz="1100" dirty="0"/>
          </a:p>
        </p:txBody>
      </p:sp>
      <p:sp>
        <p:nvSpPr>
          <p:cNvPr id="10" name="Shape 7"/>
          <p:cNvSpPr/>
          <p:nvPr/>
        </p:nvSpPr>
        <p:spPr>
          <a:xfrm>
            <a:off x="6355080" y="4389120"/>
            <a:ext cx="5349240" cy="1920240"/>
          </a:xfrm>
          <a:prstGeom prst="rect">
            <a:avLst/>
          </a:prstGeom>
          <a:solidFill>
            <a:srgbClr val="121C3A"/>
          </a:solidFill>
          <a:ln w="9525">
            <a:solidFill>
              <a:srgbClr val="2A3A6E"/>
            </a:solidFill>
            <a:prstDash val="solid"/>
          </a:ln>
        </p:spPr>
        <p:txBody>
          <a:bodyPr/>
          <a:lstStyle/>
          <a:p>
            <a:endParaRPr lang="en-US"/>
          </a:p>
        </p:txBody>
      </p:sp>
      <p:sp>
        <p:nvSpPr>
          <p:cNvPr id="11" name="Shape 8"/>
          <p:cNvSpPr/>
          <p:nvPr/>
        </p:nvSpPr>
        <p:spPr>
          <a:xfrm>
            <a:off x="6355080" y="4389120"/>
            <a:ext cx="64008" cy="1920240"/>
          </a:xfrm>
          <a:prstGeom prst="rect">
            <a:avLst/>
          </a:prstGeom>
          <a:solidFill>
            <a:srgbClr val="C8F751"/>
          </a:solidFill>
          <a:ln w="12700">
            <a:solidFill>
              <a:srgbClr val="C8F751"/>
            </a:solidFill>
            <a:prstDash val="solid"/>
          </a:ln>
        </p:spPr>
        <p:txBody>
          <a:bodyPr/>
          <a:lstStyle/>
          <a:p>
            <a:endParaRPr lang="en-US"/>
          </a:p>
        </p:txBody>
      </p:sp>
      <p:sp>
        <p:nvSpPr>
          <p:cNvPr id="12" name="Text 9"/>
          <p:cNvSpPr/>
          <p:nvPr/>
        </p:nvSpPr>
        <p:spPr>
          <a:xfrm>
            <a:off x="6583680" y="4498848"/>
            <a:ext cx="5029200" cy="256032"/>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3-REGION SCAN STRATEGY</a:t>
            </a:r>
            <a:endParaRPr lang="en-US" sz="1000" dirty="0"/>
          </a:p>
        </p:txBody>
      </p:sp>
      <p:sp>
        <p:nvSpPr>
          <p:cNvPr id="13" name="Text 10"/>
          <p:cNvSpPr/>
          <p:nvPr/>
        </p:nvSpPr>
        <p:spPr>
          <a:xfrm>
            <a:off x="6583680" y="4800600"/>
            <a:ext cx="5029200" cy="141732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Punjab Police FIRs follow a mostly fixed layout. We scan the most useful regions first, which makes OCR faster and reduces wrong reads.</a:t>
            </a:r>
            <a:endParaRPr lang="en-US" sz="1100" dirty="0"/>
          </a:p>
        </p:txBody>
      </p:sp>
      <p:sp>
        <p:nvSpPr>
          <p:cNvPr id="14" name="Text 11"/>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15" name="Text 12"/>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22 / 28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URDU INTELLIGENCE LAYER</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How we turn imperfect OCR text into trustworthy data</a:t>
            </a:r>
            <a:endParaRPr lang="en-US" sz="1200" dirty="0"/>
          </a:p>
        </p:txBody>
      </p:sp>
      <p:sp>
        <p:nvSpPr>
          <p:cNvPr id="5" name="Shape 3"/>
          <p:cNvSpPr/>
          <p:nvPr/>
        </p:nvSpPr>
        <p:spPr>
          <a:xfrm>
            <a:off x="640080" y="1371600"/>
            <a:ext cx="2697480" cy="155448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155448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777240" y="1463040"/>
            <a:ext cx="2423160" cy="640080"/>
          </a:xfrm>
          <a:prstGeom prst="rect">
            <a:avLst/>
          </a:prstGeom>
          <a:noFill/>
          <a:ln/>
        </p:spPr>
        <p:txBody>
          <a:bodyPr wrap="square" lIns="0" tIns="0" rIns="0" bIns="0" rtlCol="0" anchor="ctr"/>
          <a:lstStyle/>
          <a:p>
            <a:pPr marL="0" indent="0">
              <a:buNone/>
            </a:pPr>
            <a:r>
              <a:rPr lang="en-US" sz="3800" b="1" dirty="0">
                <a:solidFill>
                  <a:srgbClr val="C8F751"/>
                </a:solidFill>
                <a:latin typeface="Calibri" pitchFamily="34" charset="0"/>
                <a:ea typeface="Calibri" pitchFamily="34" charset="-122"/>
                <a:cs typeface="Calibri" pitchFamily="34" charset="-120"/>
              </a:rPr>
              <a:t>268</a:t>
            </a:r>
            <a:endParaRPr lang="en-US" sz="3800" dirty="0"/>
          </a:p>
        </p:txBody>
      </p:sp>
      <p:sp>
        <p:nvSpPr>
          <p:cNvPr id="8" name="Text 6"/>
          <p:cNvSpPr/>
          <p:nvPr/>
        </p:nvSpPr>
        <p:spPr>
          <a:xfrm>
            <a:off x="777240" y="2103120"/>
            <a:ext cx="2423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Urdu locations</a:t>
            </a:r>
            <a:endParaRPr lang="en-US" sz="1200" dirty="0"/>
          </a:p>
        </p:txBody>
      </p:sp>
      <p:sp>
        <p:nvSpPr>
          <p:cNvPr id="9" name="Text 7"/>
          <p:cNvSpPr/>
          <p:nvPr/>
        </p:nvSpPr>
        <p:spPr>
          <a:xfrm>
            <a:off x="777240" y="2377440"/>
            <a:ext cx="2423160" cy="502920"/>
          </a:xfrm>
          <a:prstGeom prst="rect">
            <a:avLst/>
          </a:prstGeom>
          <a:noFill/>
          <a:ln/>
        </p:spPr>
        <p:txBody>
          <a:bodyPr wrap="square" lIns="0" tIns="0" rIns="0" bIns="0" rtlCol="0" anchor="ctr"/>
          <a:lstStyle/>
          <a:p>
            <a:pPr marL="0" indent="0">
              <a:buNone/>
            </a:pPr>
            <a:r>
              <a:rPr lang="en-US" sz="950" i="1" dirty="0">
                <a:solidFill>
                  <a:srgbClr val="9AA8C7"/>
                </a:solidFill>
                <a:latin typeface="Calibri" pitchFamily="34" charset="0"/>
                <a:ea typeface="Calibri" pitchFamily="34" charset="-122"/>
                <a:cs typeface="Calibri" pitchFamily="34" charset="-120"/>
              </a:rPr>
              <a:t>in dictionary covering Roman-Urdu spelling variations</a:t>
            </a:r>
            <a:endParaRPr lang="en-US" sz="950" dirty="0"/>
          </a:p>
        </p:txBody>
      </p:sp>
      <p:sp>
        <p:nvSpPr>
          <p:cNvPr id="10" name="Shape 8"/>
          <p:cNvSpPr/>
          <p:nvPr/>
        </p:nvSpPr>
        <p:spPr>
          <a:xfrm>
            <a:off x="3474720" y="1371600"/>
            <a:ext cx="2697480" cy="1554480"/>
          </a:xfrm>
          <a:prstGeom prst="rect">
            <a:avLst/>
          </a:prstGeom>
          <a:solidFill>
            <a:srgbClr val="121C3A"/>
          </a:solidFill>
          <a:ln w="9525">
            <a:solidFill>
              <a:srgbClr val="2A3A6E"/>
            </a:solidFill>
            <a:prstDash val="solid"/>
          </a:ln>
        </p:spPr>
        <p:txBody>
          <a:bodyPr/>
          <a:lstStyle/>
          <a:p>
            <a:endParaRPr lang="en-US"/>
          </a:p>
        </p:txBody>
      </p:sp>
      <p:sp>
        <p:nvSpPr>
          <p:cNvPr id="11" name="Shape 9"/>
          <p:cNvSpPr/>
          <p:nvPr/>
        </p:nvSpPr>
        <p:spPr>
          <a:xfrm>
            <a:off x="3474720" y="1371600"/>
            <a:ext cx="64008" cy="1554480"/>
          </a:xfrm>
          <a:prstGeom prst="rect">
            <a:avLst/>
          </a:prstGeom>
          <a:solidFill>
            <a:srgbClr val="C8F751"/>
          </a:solidFill>
          <a:ln w="12700">
            <a:solidFill>
              <a:srgbClr val="C8F751"/>
            </a:solidFill>
            <a:prstDash val="solid"/>
          </a:ln>
        </p:spPr>
        <p:txBody>
          <a:bodyPr/>
          <a:lstStyle/>
          <a:p>
            <a:endParaRPr lang="en-US"/>
          </a:p>
        </p:txBody>
      </p:sp>
      <p:sp>
        <p:nvSpPr>
          <p:cNvPr id="12" name="Text 10"/>
          <p:cNvSpPr/>
          <p:nvPr/>
        </p:nvSpPr>
        <p:spPr>
          <a:xfrm>
            <a:off x="3611880" y="1463040"/>
            <a:ext cx="2423160" cy="640080"/>
          </a:xfrm>
          <a:prstGeom prst="rect">
            <a:avLst/>
          </a:prstGeom>
          <a:noFill/>
          <a:ln/>
        </p:spPr>
        <p:txBody>
          <a:bodyPr wrap="square" lIns="0" tIns="0" rIns="0" bIns="0" rtlCol="0" anchor="ctr"/>
          <a:lstStyle/>
          <a:p>
            <a:pPr marL="0" indent="0">
              <a:buNone/>
            </a:pPr>
            <a:r>
              <a:rPr lang="en-US" sz="3800" b="1" dirty="0">
                <a:solidFill>
                  <a:srgbClr val="C8F751"/>
                </a:solidFill>
                <a:latin typeface="Calibri" pitchFamily="34" charset="0"/>
                <a:ea typeface="Calibri" pitchFamily="34" charset="-122"/>
                <a:cs typeface="Calibri" pitchFamily="34" charset="-120"/>
              </a:rPr>
              <a:t>84</a:t>
            </a:r>
            <a:endParaRPr lang="en-US" sz="3800" dirty="0"/>
          </a:p>
        </p:txBody>
      </p:sp>
      <p:sp>
        <p:nvSpPr>
          <p:cNvPr id="13" name="Text 11"/>
          <p:cNvSpPr/>
          <p:nvPr/>
        </p:nvSpPr>
        <p:spPr>
          <a:xfrm>
            <a:off x="3611880" y="2103120"/>
            <a:ext cx="2423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Thanas whitelisted</a:t>
            </a:r>
            <a:endParaRPr lang="en-US" sz="1200" dirty="0"/>
          </a:p>
        </p:txBody>
      </p:sp>
      <p:sp>
        <p:nvSpPr>
          <p:cNvPr id="14" name="Text 12"/>
          <p:cNvSpPr/>
          <p:nvPr/>
        </p:nvSpPr>
        <p:spPr>
          <a:xfrm>
            <a:off x="3611880" y="2377440"/>
            <a:ext cx="2423160" cy="502920"/>
          </a:xfrm>
          <a:prstGeom prst="rect">
            <a:avLst/>
          </a:prstGeom>
          <a:noFill/>
          <a:ln/>
        </p:spPr>
        <p:txBody>
          <a:bodyPr wrap="square" lIns="0" tIns="0" rIns="0" bIns="0" rtlCol="0" anchor="ctr"/>
          <a:lstStyle/>
          <a:p>
            <a:pPr marL="0" indent="0">
              <a:buNone/>
            </a:pPr>
            <a:r>
              <a:rPr lang="en-US" sz="950" i="1" dirty="0">
                <a:solidFill>
                  <a:srgbClr val="9AA8C7"/>
                </a:solidFill>
                <a:latin typeface="Calibri" pitchFamily="34" charset="0"/>
                <a:ea typeface="Calibri" pitchFamily="34" charset="-122"/>
                <a:cs typeface="Calibri" pitchFamily="34" charset="-120"/>
              </a:rPr>
              <a:t>with all the OCR misreadings we've seen</a:t>
            </a:r>
            <a:endParaRPr lang="en-US" sz="950" dirty="0"/>
          </a:p>
        </p:txBody>
      </p:sp>
      <p:sp>
        <p:nvSpPr>
          <p:cNvPr id="15" name="Shape 13"/>
          <p:cNvSpPr/>
          <p:nvPr/>
        </p:nvSpPr>
        <p:spPr>
          <a:xfrm>
            <a:off x="6309360" y="1371600"/>
            <a:ext cx="2697480" cy="1554480"/>
          </a:xfrm>
          <a:prstGeom prst="rect">
            <a:avLst/>
          </a:prstGeom>
          <a:solidFill>
            <a:srgbClr val="121C3A"/>
          </a:solidFill>
          <a:ln w="9525">
            <a:solidFill>
              <a:srgbClr val="2A3A6E"/>
            </a:solidFill>
            <a:prstDash val="solid"/>
          </a:ln>
        </p:spPr>
        <p:txBody>
          <a:bodyPr/>
          <a:lstStyle/>
          <a:p>
            <a:endParaRPr lang="en-US"/>
          </a:p>
        </p:txBody>
      </p:sp>
      <p:sp>
        <p:nvSpPr>
          <p:cNvPr id="16" name="Shape 14"/>
          <p:cNvSpPr/>
          <p:nvPr/>
        </p:nvSpPr>
        <p:spPr>
          <a:xfrm>
            <a:off x="6309360" y="1371600"/>
            <a:ext cx="64008" cy="1554480"/>
          </a:xfrm>
          <a:prstGeom prst="rect">
            <a:avLst/>
          </a:prstGeom>
          <a:solidFill>
            <a:srgbClr val="C8F751"/>
          </a:solidFill>
          <a:ln w="12700">
            <a:solidFill>
              <a:srgbClr val="C8F751"/>
            </a:solidFill>
            <a:prstDash val="solid"/>
          </a:ln>
        </p:spPr>
        <p:txBody>
          <a:bodyPr/>
          <a:lstStyle/>
          <a:p>
            <a:endParaRPr lang="en-US"/>
          </a:p>
        </p:txBody>
      </p:sp>
      <p:sp>
        <p:nvSpPr>
          <p:cNvPr id="17" name="Text 15"/>
          <p:cNvSpPr/>
          <p:nvPr/>
        </p:nvSpPr>
        <p:spPr>
          <a:xfrm>
            <a:off x="6446520" y="1463040"/>
            <a:ext cx="2423160" cy="640080"/>
          </a:xfrm>
          <a:prstGeom prst="rect">
            <a:avLst/>
          </a:prstGeom>
          <a:noFill/>
          <a:ln/>
        </p:spPr>
        <p:txBody>
          <a:bodyPr wrap="square" lIns="0" tIns="0" rIns="0" bIns="0" rtlCol="0" anchor="ctr"/>
          <a:lstStyle/>
          <a:p>
            <a:pPr marL="0" indent="0">
              <a:buNone/>
            </a:pPr>
            <a:r>
              <a:rPr lang="en-US" sz="3800" b="1" dirty="0">
                <a:solidFill>
                  <a:srgbClr val="C8F751"/>
                </a:solidFill>
                <a:latin typeface="Calibri" pitchFamily="34" charset="0"/>
                <a:ea typeface="Calibri" pitchFamily="34" charset="-122"/>
                <a:cs typeface="Calibri" pitchFamily="34" charset="-120"/>
              </a:rPr>
              <a:t>721</a:t>
            </a:r>
            <a:endParaRPr lang="en-US" sz="3800" dirty="0"/>
          </a:p>
        </p:txBody>
      </p:sp>
      <p:sp>
        <p:nvSpPr>
          <p:cNvPr id="18" name="Text 16"/>
          <p:cNvSpPr/>
          <p:nvPr/>
        </p:nvSpPr>
        <p:spPr>
          <a:xfrm>
            <a:off x="6446520" y="2103120"/>
            <a:ext cx="2423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PPC sections</a:t>
            </a:r>
            <a:endParaRPr lang="en-US" sz="1200" dirty="0"/>
          </a:p>
        </p:txBody>
      </p:sp>
      <p:sp>
        <p:nvSpPr>
          <p:cNvPr id="19" name="Text 17"/>
          <p:cNvSpPr/>
          <p:nvPr/>
        </p:nvSpPr>
        <p:spPr>
          <a:xfrm>
            <a:off x="6446520" y="2377440"/>
            <a:ext cx="2423160" cy="502920"/>
          </a:xfrm>
          <a:prstGeom prst="rect">
            <a:avLst/>
          </a:prstGeom>
          <a:noFill/>
          <a:ln/>
        </p:spPr>
        <p:txBody>
          <a:bodyPr wrap="square" lIns="0" tIns="0" rIns="0" bIns="0" rtlCol="0" anchor="ctr"/>
          <a:lstStyle/>
          <a:p>
            <a:pPr marL="0" indent="0">
              <a:buNone/>
            </a:pPr>
            <a:r>
              <a:rPr lang="en-US" sz="950" i="1" dirty="0">
                <a:solidFill>
                  <a:srgbClr val="9AA8C7"/>
                </a:solidFill>
                <a:latin typeface="Calibri" pitchFamily="34" charset="0"/>
                <a:ea typeface="Calibri" pitchFamily="34" charset="-122"/>
                <a:cs typeface="Calibri" pitchFamily="34" charset="-120"/>
              </a:rPr>
              <a:t>mapped to crime names</a:t>
            </a:r>
            <a:endParaRPr lang="en-US" sz="950" dirty="0"/>
          </a:p>
        </p:txBody>
      </p:sp>
      <p:sp>
        <p:nvSpPr>
          <p:cNvPr id="20" name="Shape 18"/>
          <p:cNvSpPr/>
          <p:nvPr/>
        </p:nvSpPr>
        <p:spPr>
          <a:xfrm>
            <a:off x="9144000" y="1371600"/>
            <a:ext cx="2697480" cy="1554480"/>
          </a:xfrm>
          <a:prstGeom prst="rect">
            <a:avLst/>
          </a:prstGeom>
          <a:solidFill>
            <a:srgbClr val="121C3A"/>
          </a:solidFill>
          <a:ln w="9525">
            <a:solidFill>
              <a:srgbClr val="2A3A6E"/>
            </a:solidFill>
            <a:prstDash val="solid"/>
          </a:ln>
        </p:spPr>
        <p:txBody>
          <a:bodyPr/>
          <a:lstStyle/>
          <a:p>
            <a:endParaRPr lang="en-US"/>
          </a:p>
        </p:txBody>
      </p:sp>
      <p:sp>
        <p:nvSpPr>
          <p:cNvPr id="21" name="Shape 19"/>
          <p:cNvSpPr/>
          <p:nvPr/>
        </p:nvSpPr>
        <p:spPr>
          <a:xfrm>
            <a:off x="9144000" y="1371600"/>
            <a:ext cx="64008" cy="1554480"/>
          </a:xfrm>
          <a:prstGeom prst="rect">
            <a:avLst/>
          </a:prstGeom>
          <a:solidFill>
            <a:srgbClr val="C8F751"/>
          </a:solidFill>
          <a:ln w="12700">
            <a:solidFill>
              <a:srgbClr val="C8F751"/>
            </a:solidFill>
            <a:prstDash val="solid"/>
          </a:ln>
        </p:spPr>
        <p:txBody>
          <a:bodyPr/>
          <a:lstStyle/>
          <a:p>
            <a:endParaRPr lang="en-US"/>
          </a:p>
        </p:txBody>
      </p:sp>
      <p:sp>
        <p:nvSpPr>
          <p:cNvPr id="22" name="Text 20"/>
          <p:cNvSpPr/>
          <p:nvPr/>
        </p:nvSpPr>
        <p:spPr>
          <a:xfrm>
            <a:off x="9281160" y="1463040"/>
            <a:ext cx="2423160" cy="640080"/>
          </a:xfrm>
          <a:prstGeom prst="rect">
            <a:avLst/>
          </a:prstGeom>
          <a:noFill/>
          <a:ln/>
        </p:spPr>
        <p:txBody>
          <a:bodyPr wrap="square" lIns="0" tIns="0" rIns="0" bIns="0" rtlCol="0" anchor="ctr"/>
          <a:lstStyle/>
          <a:p>
            <a:pPr marL="0" indent="0">
              <a:buNone/>
            </a:pPr>
            <a:r>
              <a:rPr lang="en-US" sz="3800" b="1" dirty="0">
                <a:solidFill>
                  <a:srgbClr val="C8F751"/>
                </a:solidFill>
                <a:latin typeface="Calibri" pitchFamily="34" charset="0"/>
                <a:ea typeface="Calibri" pitchFamily="34" charset="-122"/>
                <a:cs typeface="Calibri" pitchFamily="34" charset="-120"/>
              </a:rPr>
              <a:t>975</a:t>
            </a:r>
            <a:endParaRPr lang="en-US" sz="3800" dirty="0"/>
          </a:p>
        </p:txBody>
      </p:sp>
      <p:sp>
        <p:nvSpPr>
          <p:cNvPr id="23" name="Text 21"/>
          <p:cNvSpPr/>
          <p:nvPr/>
        </p:nvSpPr>
        <p:spPr>
          <a:xfrm>
            <a:off x="9281160" y="2103120"/>
            <a:ext cx="2423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Hash cache</a:t>
            </a:r>
            <a:endParaRPr lang="en-US" sz="1200" dirty="0"/>
          </a:p>
        </p:txBody>
      </p:sp>
      <p:sp>
        <p:nvSpPr>
          <p:cNvPr id="24" name="Text 22"/>
          <p:cNvSpPr/>
          <p:nvPr/>
        </p:nvSpPr>
        <p:spPr>
          <a:xfrm>
            <a:off x="9281160" y="2377440"/>
            <a:ext cx="2423160" cy="502920"/>
          </a:xfrm>
          <a:prstGeom prst="rect">
            <a:avLst/>
          </a:prstGeom>
          <a:noFill/>
          <a:ln/>
        </p:spPr>
        <p:txBody>
          <a:bodyPr wrap="square" lIns="0" tIns="0" rIns="0" bIns="0" rtlCol="0" anchor="ctr"/>
          <a:lstStyle/>
          <a:p>
            <a:pPr marL="0" indent="0">
              <a:buNone/>
            </a:pPr>
            <a:r>
              <a:rPr lang="en-US" sz="950" i="1" dirty="0">
                <a:solidFill>
                  <a:srgbClr val="9AA8C7"/>
                </a:solidFill>
                <a:latin typeface="Calibri" pitchFamily="34" charset="0"/>
                <a:ea typeface="Calibri" pitchFamily="34" charset="-122"/>
                <a:cs typeface="Calibri" pitchFamily="34" charset="-120"/>
              </a:rPr>
              <a:t>of already-processed FIRs</a:t>
            </a:r>
            <a:endParaRPr lang="en-US" sz="950" dirty="0"/>
          </a:p>
        </p:txBody>
      </p:sp>
      <p:sp>
        <p:nvSpPr>
          <p:cNvPr id="25" name="Shape 23"/>
          <p:cNvSpPr/>
          <p:nvPr/>
        </p:nvSpPr>
        <p:spPr>
          <a:xfrm>
            <a:off x="640080" y="3108960"/>
            <a:ext cx="5532120" cy="3200400"/>
          </a:xfrm>
          <a:prstGeom prst="rect">
            <a:avLst/>
          </a:prstGeom>
          <a:solidFill>
            <a:srgbClr val="121C3A"/>
          </a:solidFill>
          <a:ln w="9525">
            <a:solidFill>
              <a:srgbClr val="2A3A6E"/>
            </a:solidFill>
            <a:prstDash val="solid"/>
          </a:ln>
        </p:spPr>
        <p:txBody>
          <a:bodyPr/>
          <a:lstStyle/>
          <a:p>
            <a:endParaRPr lang="en-US"/>
          </a:p>
        </p:txBody>
      </p:sp>
      <p:sp>
        <p:nvSpPr>
          <p:cNvPr id="26" name="Shape 24"/>
          <p:cNvSpPr/>
          <p:nvPr/>
        </p:nvSpPr>
        <p:spPr>
          <a:xfrm>
            <a:off x="640080" y="3108960"/>
            <a:ext cx="64008" cy="3200400"/>
          </a:xfrm>
          <a:prstGeom prst="rect">
            <a:avLst/>
          </a:prstGeom>
          <a:solidFill>
            <a:srgbClr val="C8F751"/>
          </a:solidFill>
          <a:ln w="12700">
            <a:solidFill>
              <a:srgbClr val="C8F751"/>
            </a:solidFill>
            <a:prstDash val="solid"/>
          </a:ln>
        </p:spPr>
        <p:txBody>
          <a:bodyPr/>
          <a:lstStyle/>
          <a:p>
            <a:endParaRPr lang="en-US"/>
          </a:p>
        </p:txBody>
      </p:sp>
      <p:sp>
        <p:nvSpPr>
          <p:cNvPr id="27" name="Text 25"/>
          <p:cNvSpPr/>
          <p:nvPr/>
        </p:nvSpPr>
        <p:spPr>
          <a:xfrm>
            <a:off x="868680" y="3246120"/>
            <a:ext cx="521208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FUZZY MATCHING</a:t>
            </a:r>
            <a:endParaRPr lang="en-US" sz="1000" dirty="0"/>
          </a:p>
        </p:txBody>
      </p:sp>
      <p:sp>
        <p:nvSpPr>
          <p:cNvPr id="28" name="Text 26"/>
          <p:cNvSpPr/>
          <p:nvPr/>
        </p:nvSpPr>
        <p:spPr>
          <a:xfrm>
            <a:off x="868680" y="3520440"/>
            <a:ext cx="52120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Catching close-but-not-exact matches</a:t>
            </a:r>
            <a:endParaRPr lang="en-US" sz="1400" dirty="0"/>
          </a:p>
        </p:txBody>
      </p:sp>
      <p:sp>
        <p:nvSpPr>
          <p:cNvPr id="29" name="Text 27"/>
          <p:cNvSpPr/>
          <p:nvPr/>
        </p:nvSpPr>
        <p:spPr>
          <a:xfrm>
            <a:off x="868680" y="3931920"/>
            <a:ext cx="5212080" cy="137160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OCR rarely returns a perfect string. We compare each OCR'd word with our dictionary using SequenceMatcher (a string-similarity score from 0 to 1). If similarity ≥ 0.55 we treat it as a candidate; ≥ 0.75 we lock it in. So 'Mall Roads' → 'Mall Road' gets corrected automatically.</a:t>
            </a:r>
            <a:endParaRPr lang="en-US" sz="1100" dirty="0"/>
          </a:p>
        </p:txBody>
      </p:sp>
      <p:sp>
        <p:nvSpPr>
          <p:cNvPr id="30" name="Text 28"/>
          <p:cNvSpPr/>
          <p:nvPr/>
        </p:nvSpPr>
        <p:spPr>
          <a:xfrm>
            <a:off x="868680" y="5349240"/>
            <a:ext cx="6400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0.55</a:t>
            </a:r>
            <a:endParaRPr lang="en-US" sz="1200" dirty="0"/>
          </a:p>
        </p:txBody>
      </p:sp>
      <p:sp>
        <p:nvSpPr>
          <p:cNvPr id="31" name="Text 29"/>
          <p:cNvSpPr/>
          <p:nvPr/>
        </p:nvSpPr>
        <p:spPr>
          <a:xfrm>
            <a:off x="1600200" y="5349240"/>
            <a:ext cx="4297680" cy="2743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candidate match</a:t>
            </a:r>
            <a:endParaRPr lang="en-US" sz="1000" dirty="0"/>
          </a:p>
        </p:txBody>
      </p:sp>
      <p:sp>
        <p:nvSpPr>
          <p:cNvPr id="32" name="Text 30"/>
          <p:cNvSpPr/>
          <p:nvPr/>
        </p:nvSpPr>
        <p:spPr>
          <a:xfrm>
            <a:off x="868680" y="5641848"/>
            <a:ext cx="6400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0.75</a:t>
            </a:r>
            <a:endParaRPr lang="en-US" sz="1200" dirty="0"/>
          </a:p>
        </p:txBody>
      </p:sp>
      <p:sp>
        <p:nvSpPr>
          <p:cNvPr id="33" name="Text 31"/>
          <p:cNvSpPr/>
          <p:nvPr/>
        </p:nvSpPr>
        <p:spPr>
          <a:xfrm>
            <a:off x="1600200" y="5641848"/>
            <a:ext cx="4297680" cy="2743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lock-in</a:t>
            </a:r>
            <a:endParaRPr lang="en-US" sz="1000" dirty="0"/>
          </a:p>
        </p:txBody>
      </p:sp>
      <p:sp>
        <p:nvSpPr>
          <p:cNvPr id="34" name="Text 32"/>
          <p:cNvSpPr/>
          <p:nvPr/>
        </p:nvSpPr>
        <p:spPr>
          <a:xfrm>
            <a:off x="868680" y="5934456"/>
            <a:ext cx="640080" cy="274320"/>
          </a:xfrm>
          <a:prstGeom prst="rect">
            <a:avLst/>
          </a:prstGeom>
          <a:noFill/>
          <a:ln/>
        </p:spPr>
        <p:txBody>
          <a:bodyPr wrap="square" lIns="0" tIns="0" rIns="0" bIns="0" rtlCol="0" anchor="ctr"/>
          <a:lstStyle/>
          <a:p>
            <a:pPr marL="0" indent="0">
              <a:buNone/>
            </a:pPr>
            <a:r>
              <a:rPr lang="en-US" sz="1200" b="1" dirty="0">
                <a:solidFill>
                  <a:srgbClr val="C8F751"/>
                </a:solidFill>
                <a:latin typeface="Consolas" pitchFamily="34" charset="0"/>
                <a:ea typeface="Consolas" pitchFamily="34" charset="-122"/>
                <a:cs typeface="Consolas" pitchFamily="34" charset="-120"/>
              </a:rPr>
              <a:t>0.55</a:t>
            </a:r>
            <a:endParaRPr lang="en-US" sz="1200" dirty="0"/>
          </a:p>
        </p:txBody>
      </p:sp>
      <p:sp>
        <p:nvSpPr>
          <p:cNvPr id="35" name="Text 33"/>
          <p:cNvSpPr/>
          <p:nvPr/>
        </p:nvSpPr>
        <p:spPr>
          <a:xfrm>
            <a:off x="1600200" y="5934456"/>
            <a:ext cx="4297680" cy="2743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multi-word</a:t>
            </a:r>
            <a:endParaRPr lang="en-US" sz="1000" dirty="0"/>
          </a:p>
        </p:txBody>
      </p:sp>
      <p:sp>
        <p:nvSpPr>
          <p:cNvPr id="36" name="Shape 34"/>
          <p:cNvSpPr/>
          <p:nvPr/>
        </p:nvSpPr>
        <p:spPr>
          <a:xfrm>
            <a:off x="6355080" y="3108960"/>
            <a:ext cx="5349240" cy="3200400"/>
          </a:xfrm>
          <a:prstGeom prst="rect">
            <a:avLst/>
          </a:prstGeom>
          <a:solidFill>
            <a:srgbClr val="121C3A"/>
          </a:solidFill>
          <a:ln w="9525">
            <a:solidFill>
              <a:srgbClr val="2A3A6E"/>
            </a:solidFill>
            <a:prstDash val="solid"/>
          </a:ln>
        </p:spPr>
        <p:txBody>
          <a:bodyPr/>
          <a:lstStyle/>
          <a:p>
            <a:endParaRPr lang="en-US"/>
          </a:p>
        </p:txBody>
      </p:sp>
      <p:sp>
        <p:nvSpPr>
          <p:cNvPr id="37" name="Shape 35"/>
          <p:cNvSpPr/>
          <p:nvPr/>
        </p:nvSpPr>
        <p:spPr>
          <a:xfrm>
            <a:off x="6355080" y="3108960"/>
            <a:ext cx="64008" cy="3200400"/>
          </a:xfrm>
          <a:prstGeom prst="rect">
            <a:avLst/>
          </a:prstGeom>
          <a:solidFill>
            <a:srgbClr val="C8F751"/>
          </a:solidFill>
          <a:ln w="12700">
            <a:solidFill>
              <a:srgbClr val="C8F751"/>
            </a:solidFill>
            <a:prstDash val="solid"/>
          </a:ln>
        </p:spPr>
        <p:txBody>
          <a:bodyPr/>
          <a:lstStyle/>
          <a:p>
            <a:endParaRPr lang="en-US"/>
          </a:p>
        </p:txBody>
      </p:sp>
      <p:sp>
        <p:nvSpPr>
          <p:cNvPr id="38" name="Text 36"/>
          <p:cNvSpPr/>
          <p:nvPr/>
        </p:nvSpPr>
        <p:spPr>
          <a:xfrm>
            <a:off x="6583680" y="3246120"/>
            <a:ext cx="5029200" cy="292608"/>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AI LAW VERIFIER</a:t>
            </a:r>
            <a:endParaRPr lang="en-US" sz="1000" dirty="0"/>
          </a:p>
        </p:txBody>
      </p:sp>
      <p:sp>
        <p:nvSpPr>
          <p:cNvPr id="39" name="Text 37"/>
          <p:cNvSpPr/>
          <p:nvPr/>
        </p:nvSpPr>
        <p:spPr>
          <a:xfrm>
            <a:off x="6583680" y="352044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Two-tier LLM gate</a:t>
            </a:r>
            <a:endParaRPr lang="en-US" sz="1400" dirty="0"/>
          </a:p>
        </p:txBody>
      </p:sp>
      <p:sp>
        <p:nvSpPr>
          <p:cNvPr id="40" name="Text 38"/>
          <p:cNvSpPr/>
          <p:nvPr/>
        </p:nvSpPr>
        <p:spPr>
          <a:xfrm>
            <a:off x="6583680" y="3931920"/>
            <a:ext cx="5029200" cy="1371600"/>
          </a:xfrm>
          <a:prstGeom prst="rect">
            <a:avLst/>
          </a:prstGeom>
          <a:noFill/>
          <a:ln/>
        </p:spPr>
        <p:txBody>
          <a:bodyPr wrap="square" lIns="0" tIns="0" rIns="0" bIns="0" rtlCol="0" anchor="ctr"/>
          <a:lstStyle/>
          <a:p>
            <a:pPr marL="0" indent="0">
              <a:buNone/>
            </a:pPr>
            <a:r>
              <a:rPr lang="en-US" sz="1050" i="1" dirty="0">
                <a:solidFill>
                  <a:srgbClr val="F4E9D8"/>
                </a:solidFill>
                <a:latin typeface="Calibri" pitchFamily="34" charset="0"/>
                <a:ea typeface="Calibri" pitchFamily="34" charset="-122"/>
                <a:cs typeface="Calibri" pitchFamily="34" charset="-120"/>
              </a:rPr>
              <a:t>OCR can hallucinate fake PPC numbers. So before we trust any extracted section, we ask an AI language model: 'is section 380 real, and does it match this story about a stolen motorcycle?' If the AI says yes, it's accepted. If no, the FIR is flagged.</a:t>
            </a:r>
            <a:endParaRPr lang="en-US" sz="1050" dirty="0"/>
          </a:p>
        </p:txBody>
      </p:sp>
      <p:sp>
        <p:nvSpPr>
          <p:cNvPr id="41" name="Shape 39"/>
          <p:cNvSpPr/>
          <p:nvPr/>
        </p:nvSpPr>
        <p:spPr>
          <a:xfrm>
            <a:off x="6583680" y="5349240"/>
            <a:ext cx="2423160" cy="914400"/>
          </a:xfrm>
          <a:prstGeom prst="rect">
            <a:avLst/>
          </a:prstGeom>
          <a:solidFill>
            <a:srgbClr val="0A1228"/>
          </a:solidFill>
          <a:ln w="12700">
            <a:solidFill>
              <a:srgbClr val="C8F751"/>
            </a:solidFill>
            <a:prstDash val="solid"/>
          </a:ln>
        </p:spPr>
        <p:txBody>
          <a:bodyPr/>
          <a:lstStyle/>
          <a:p>
            <a:endParaRPr lang="en-US"/>
          </a:p>
        </p:txBody>
      </p:sp>
      <p:sp>
        <p:nvSpPr>
          <p:cNvPr id="42" name="Text 40"/>
          <p:cNvSpPr/>
          <p:nvPr/>
        </p:nvSpPr>
        <p:spPr>
          <a:xfrm>
            <a:off x="6675120" y="5422392"/>
            <a:ext cx="2240280" cy="228600"/>
          </a:xfrm>
          <a:prstGeom prst="rect">
            <a:avLst/>
          </a:prstGeom>
          <a:noFill/>
          <a:ln/>
        </p:spPr>
        <p:txBody>
          <a:bodyPr wrap="square" lIns="0" tIns="0" rIns="0" bIns="0" rtlCol="0" anchor="ctr"/>
          <a:lstStyle/>
          <a:p>
            <a:pPr marL="0" indent="0">
              <a:buNone/>
            </a:pPr>
            <a:r>
              <a:rPr lang="en-US" sz="900" b="1" kern="0" spc="300" dirty="0">
                <a:solidFill>
                  <a:srgbClr val="C8F751"/>
                </a:solidFill>
                <a:latin typeface="Calibri" pitchFamily="34" charset="0"/>
                <a:ea typeface="Calibri" pitchFamily="34" charset="-122"/>
                <a:cs typeface="Calibri" pitchFamily="34" charset="-120"/>
              </a:rPr>
              <a:t>PRIMARY</a:t>
            </a:r>
            <a:endParaRPr lang="en-US" sz="900" dirty="0"/>
          </a:p>
        </p:txBody>
      </p:sp>
      <p:sp>
        <p:nvSpPr>
          <p:cNvPr id="43" name="Text 41"/>
          <p:cNvSpPr/>
          <p:nvPr/>
        </p:nvSpPr>
        <p:spPr>
          <a:xfrm>
            <a:off x="6675120" y="5650992"/>
            <a:ext cx="2240280" cy="274320"/>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Groq · Llama-3.3-70b</a:t>
            </a:r>
            <a:endParaRPr lang="en-US" sz="1100" dirty="0"/>
          </a:p>
        </p:txBody>
      </p:sp>
      <p:sp>
        <p:nvSpPr>
          <p:cNvPr id="44" name="Text 42"/>
          <p:cNvSpPr/>
          <p:nvPr/>
        </p:nvSpPr>
        <p:spPr>
          <a:xfrm>
            <a:off x="6675120" y="5943600"/>
            <a:ext cx="2240280" cy="292608"/>
          </a:xfrm>
          <a:prstGeom prst="rect">
            <a:avLst/>
          </a:prstGeom>
          <a:noFill/>
          <a:ln/>
        </p:spPr>
        <p:txBody>
          <a:bodyPr wrap="square" lIns="0" tIns="0" rIns="0" bIns="0" rtlCol="0" anchor="ctr"/>
          <a:lstStyle/>
          <a:p>
            <a:pPr marL="0" indent="0">
              <a:buNone/>
            </a:pPr>
            <a:r>
              <a:rPr lang="en-US" sz="1000" i="1" dirty="0">
                <a:solidFill>
                  <a:srgbClr val="9AA8C7"/>
                </a:solidFill>
                <a:latin typeface="Calibri" pitchFamily="34" charset="0"/>
                <a:ea typeface="Calibri" pitchFamily="34" charset="-122"/>
                <a:cs typeface="Calibri" pitchFamily="34" charset="-120"/>
              </a:rPr>
              <a:t>fast and free</a:t>
            </a:r>
            <a:endParaRPr lang="en-US" sz="1000" dirty="0"/>
          </a:p>
        </p:txBody>
      </p:sp>
      <p:sp>
        <p:nvSpPr>
          <p:cNvPr id="45" name="Shape 43"/>
          <p:cNvSpPr/>
          <p:nvPr/>
        </p:nvSpPr>
        <p:spPr>
          <a:xfrm>
            <a:off x="9098280" y="5349240"/>
            <a:ext cx="2423160" cy="914400"/>
          </a:xfrm>
          <a:prstGeom prst="rect">
            <a:avLst/>
          </a:prstGeom>
          <a:solidFill>
            <a:srgbClr val="0A1228"/>
          </a:solidFill>
          <a:ln w="6350">
            <a:solidFill>
              <a:srgbClr val="2A3A6E"/>
            </a:solidFill>
            <a:prstDash val="solid"/>
          </a:ln>
        </p:spPr>
        <p:txBody>
          <a:bodyPr/>
          <a:lstStyle/>
          <a:p>
            <a:endParaRPr lang="en-US"/>
          </a:p>
        </p:txBody>
      </p:sp>
      <p:sp>
        <p:nvSpPr>
          <p:cNvPr id="46" name="Text 44"/>
          <p:cNvSpPr/>
          <p:nvPr/>
        </p:nvSpPr>
        <p:spPr>
          <a:xfrm>
            <a:off x="9189720" y="5422392"/>
            <a:ext cx="2240280" cy="228600"/>
          </a:xfrm>
          <a:prstGeom prst="rect">
            <a:avLst/>
          </a:prstGeom>
          <a:noFill/>
          <a:ln/>
        </p:spPr>
        <p:txBody>
          <a:bodyPr wrap="square" lIns="0" tIns="0" rIns="0" bIns="0" rtlCol="0" anchor="ctr"/>
          <a:lstStyle/>
          <a:p>
            <a:pPr marL="0" indent="0">
              <a:buNone/>
            </a:pPr>
            <a:r>
              <a:rPr lang="en-US" sz="900" b="1" kern="0" spc="300" dirty="0">
                <a:solidFill>
                  <a:srgbClr val="9AA8C7"/>
                </a:solidFill>
                <a:latin typeface="Calibri" pitchFamily="34" charset="0"/>
                <a:ea typeface="Calibri" pitchFamily="34" charset="-122"/>
                <a:cs typeface="Calibri" pitchFamily="34" charset="-120"/>
              </a:rPr>
              <a:t>FALLBACK</a:t>
            </a:r>
            <a:endParaRPr lang="en-US" sz="900" dirty="0"/>
          </a:p>
        </p:txBody>
      </p:sp>
      <p:sp>
        <p:nvSpPr>
          <p:cNvPr id="47" name="Text 45"/>
          <p:cNvSpPr/>
          <p:nvPr/>
        </p:nvSpPr>
        <p:spPr>
          <a:xfrm>
            <a:off x="9189720" y="5650992"/>
            <a:ext cx="2240280" cy="274320"/>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OpenRouter · Llama-3.1-8b</a:t>
            </a:r>
            <a:endParaRPr lang="en-US" sz="1000" dirty="0"/>
          </a:p>
        </p:txBody>
      </p:sp>
      <p:sp>
        <p:nvSpPr>
          <p:cNvPr id="48" name="Text 46"/>
          <p:cNvSpPr/>
          <p:nvPr/>
        </p:nvSpPr>
        <p:spPr>
          <a:xfrm>
            <a:off x="9189720" y="5943600"/>
            <a:ext cx="2240280" cy="292608"/>
          </a:xfrm>
          <a:prstGeom prst="rect">
            <a:avLst/>
          </a:prstGeom>
          <a:noFill/>
          <a:ln/>
        </p:spPr>
        <p:txBody>
          <a:bodyPr wrap="square" lIns="0" tIns="0" rIns="0" bIns="0" rtlCol="0" anchor="ctr"/>
          <a:lstStyle/>
          <a:p>
            <a:pPr marL="0" indent="0">
              <a:buNone/>
            </a:pPr>
            <a:r>
              <a:rPr lang="en-US" sz="1000" i="1" dirty="0">
                <a:solidFill>
                  <a:srgbClr val="9AA8C7"/>
                </a:solidFill>
                <a:latin typeface="Calibri" pitchFamily="34" charset="0"/>
                <a:ea typeface="Calibri" pitchFamily="34" charset="-122"/>
                <a:cs typeface="Calibri" pitchFamily="34" charset="-120"/>
              </a:rPr>
              <a:t>if Groq is rate-limited</a:t>
            </a:r>
            <a:endParaRPr lang="en-US" sz="1000" dirty="0"/>
          </a:p>
        </p:txBody>
      </p:sp>
      <p:sp>
        <p:nvSpPr>
          <p:cNvPr id="49" name="Text 4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50" name="Text 48"/>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23 / 28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ALERTS &amp; BACKGROUND JOBS</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Three notification channels, three cron jobs, one source of truth</a:t>
            </a:r>
            <a:endParaRPr lang="en-US" sz="1200" dirty="0"/>
          </a:p>
        </p:txBody>
      </p:sp>
      <p:pic>
        <p:nvPicPr>
          <p:cNvPr id="5" name="Image 0" descr="/home/claude/gifs/alert_radar.gif"/>
          <p:cNvPicPr>
            <a:picLocks noChangeAspect="1"/>
          </p:cNvPicPr>
          <p:nvPr/>
        </p:nvPicPr>
        <p:blipFill>
          <a:blip r:embed="rId3"/>
          <a:stretch>
            <a:fillRect/>
          </a:stretch>
        </p:blipFill>
        <p:spPr>
          <a:xfrm>
            <a:off x="8229600" y="1280160"/>
            <a:ext cx="3520440" cy="3520440"/>
          </a:xfrm>
          <a:prstGeom prst="rect">
            <a:avLst/>
          </a:prstGeom>
        </p:spPr>
      </p:pic>
      <p:sp>
        <p:nvSpPr>
          <p:cNvPr id="6" name="Shape 3"/>
          <p:cNvSpPr/>
          <p:nvPr/>
        </p:nvSpPr>
        <p:spPr>
          <a:xfrm>
            <a:off x="640080" y="1371600"/>
            <a:ext cx="7360920" cy="1097280"/>
          </a:xfrm>
          <a:prstGeom prst="rect">
            <a:avLst/>
          </a:prstGeom>
          <a:solidFill>
            <a:srgbClr val="121C3A"/>
          </a:solidFill>
          <a:ln w="9525">
            <a:solidFill>
              <a:srgbClr val="2A3A6E"/>
            </a:solidFill>
            <a:prstDash val="solid"/>
          </a:ln>
        </p:spPr>
        <p:txBody>
          <a:bodyPr/>
          <a:lstStyle/>
          <a:p>
            <a:endParaRPr lang="en-US"/>
          </a:p>
        </p:txBody>
      </p:sp>
      <p:sp>
        <p:nvSpPr>
          <p:cNvPr id="7" name="Shape 4"/>
          <p:cNvSpPr/>
          <p:nvPr/>
        </p:nvSpPr>
        <p:spPr>
          <a:xfrm>
            <a:off x="640080" y="1371600"/>
            <a:ext cx="64008" cy="1097280"/>
          </a:xfrm>
          <a:prstGeom prst="rect">
            <a:avLst/>
          </a:prstGeom>
          <a:solidFill>
            <a:srgbClr val="C8F751"/>
          </a:solidFill>
          <a:ln w="12700">
            <a:solidFill>
              <a:srgbClr val="C8F751"/>
            </a:solidFill>
            <a:prstDash val="solid"/>
          </a:ln>
        </p:spPr>
        <p:txBody>
          <a:bodyPr/>
          <a:lstStyle/>
          <a:p>
            <a:endParaRPr lang="en-US"/>
          </a:p>
        </p:txBody>
      </p:sp>
      <p:sp>
        <p:nvSpPr>
          <p:cNvPr id="8" name="Shape 5"/>
          <p:cNvSpPr/>
          <p:nvPr/>
        </p:nvSpPr>
        <p:spPr>
          <a:xfrm>
            <a:off x="704088" y="1371600"/>
            <a:ext cx="7296912" cy="91440"/>
          </a:xfrm>
          <a:prstGeom prst="rect">
            <a:avLst/>
          </a:prstGeom>
          <a:solidFill>
            <a:srgbClr val="E5484D"/>
          </a:solidFill>
          <a:ln w="12700">
            <a:solidFill>
              <a:srgbClr val="E5484D"/>
            </a:solidFill>
            <a:prstDash val="solid"/>
          </a:ln>
        </p:spPr>
        <p:txBody>
          <a:bodyPr/>
          <a:lstStyle/>
          <a:p>
            <a:endParaRPr lang="en-US"/>
          </a:p>
        </p:txBody>
      </p:sp>
      <p:sp>
        <p:nvSpPr>
          <p:cNvPr id="9" name="Text 6"/>
          <p:cNvSpPr/>
          <p:nvPr/>
        </p:nvSpPr>
        <p:spPr>
          <a:xfrm>
            <a:off x="822960" y="1554480"/>
            <a:ext cx="3657600" cy="320040"/>
          </a:xfrm>
          <a:prstGeom prst="rect">
            <a:avLst/>
          </a:prstGeom>
          <a:noFill/>
          <a:ln/>
        </p:spPr>
        <p:txBody>
          <a:bodyPr wrap="square" lIns="0" tIns="0" rIns="0" bIns="0" rtlCol="0" anchor="ctr"/>
          <a:lstStyle/>
          <a:p>
            <a:pPr marL="0" indent="0">
              <a:buNone/>
            </a:pPr>
            <a:r>
              <a:rPr lang="en-US" sz="1300" b="1" dirty="0">
                <a:solidFill>
                  <a:srgbClr val="E5484D"/>
                </a:solidFill>
                <a:latin typeface="Calibri" pitchFamily="34" charset="0"/>
                <a:ea typeface="Calibri" pitchFamily="34" charset="-122"/>
                <a:cs typeface="Calibri" pitchFamily="34" charset="-120"/>
              </a:rPr>
              <a:t>LIVE ALERT</a:t>
            </a:r>
            <a:endParaRPr lang="en-US" sz="1300" dirty="0"/>
          </a:p>
        </p:txBody>
      </p:sp>
      <p:sp>
        <p:nvSpPr>
          <p:cNvPr id="10" name="Text 7"/>
          <p:cNvSpPr/>
          <p:nvPr/>
        </p:nvSpPr>
        <p:spPr>
          <a:xfrm>
            <a:off x="4572000" y="1554480"/>
            <a:ext cx="3291840" cy="320040"/>
          </a:xfrm>
          <a:prstGeom prst="rect">
            <a:avLst/>
          </a:prstGeom>
          <a:noFill/>
          <a:ln/>
        </p:spPr>
        <p:txBody>
          <a:bodyPr wrap="square" lIns="0" tIns="0" rIns="0" bIns="0" rtlCol="0" anchor="ctr"/>
          <a:lstStyle/>
          <a:p>
            <a:pPr marL="0" indent="0" algn="r">
              <a:buNone/>
            </a:pPr>
            <a:r>
              <a:rPr lang="en-US" sz="1100" i="1" dirty="0">
                <a:solidFill>
                  <a:srgbClr val="9AA8C7"/>
                </a:solidFill>
                <a:latin typeface="Consolas" pitchFamily="34" charset="0"/>
                <a:ea typeface="Consolas" pitchFamily="34" charset="-122"/>
                <a:cs typeface="Consolas" pitchFamily="34" charset="-120"/>
              </a:rPr>
              <a:t>current location</a:t>
            </a:r>
            <a:endParaRPr lang="en-US" sz="1100" dirty="0"/>
          </a:p>
        </p:txBody>
      </p:sp>
      <p:sp>
        <p:nvSpPr>
          <p:cNvPr id="11" name="Text 8"/>
          <p:cNvSpPr/>
          <p:nvPr/>
        </p:nvSpPr>
        <p:spPr>
          <a:xfrm>
            <a:off x="822960" y="1920240"/>
            <a:ext cx="7040880" cy="502920"/>
          </a:xfrm>
          <a:prstGeom prst="rect">
            <a:avLst/>
          </a:prstGeom>
          <a:noFill/>
          <a:ln/>
        </p:spPr>
        <p:txBody>
          <a:bodyPr wrap="square" lIns="0" tIns="0" rIns="0" bIns="0" rtlCol="0" anchor="ctr"/>
          <a:lstStyle/>
          <a:p>
            <a:pPr marL="0" indent="0">
              <a:buNone/>
            </a:pPr>
            <a:r>
              <a:rPr lang="en-US" sz="1100" dirty="0">
                <a:solidFill>
                  <a:srgbClr val="F4E9D8"/>
                </a:solidFill>
                <a:latin typeface="Calibri" pitchFamily="34" charset="0"/>
                <a:ea typeface="Calibri" pitchFamily="34" charset="-122"/>
                <a:cs typeface="Calibri" pitchFamily="34" charset="-120"/>
              </a:rPr>
              <a:t>User's current GPS enters a hotspot. Push fires within seconds.</a:t>
            </a:r>
            <a:endParaRPr lang="en-US" sz="1100" dirty="0"/>
          </a:p>
        </p:txBody>
      </p:sp>
      <p:sp>
        <p:nvSpPr>
          <p:cNvPr id="12" name="Shape 9"/>
          <p:cNvSpPr/>
          <p:nvPr/>
        </p:nvSpPr>
        <p:spPr>
          <a:xfrm>
            <a:off x="640080" y="2560320"/>
            <a:ext cx="7360920" cy="1097280"/>
          </a:xfrm>
          <a:prstGeom prst="rect">
            <a:avLst/>
          </a:prstGeom>
          <a:solidFill>
            <a:srgbClr val="121C3A"/>
          </a:solidFill>
          <a:ln w="9525">
            <a:solidFill>
              <a:srgbClr val="2A3A6E"/>
            </a:solidFill>
            <a:prstDash val="solid"/>
          </a:ln>
        </p:spPr>
        <p:txBody>
          <a:bodyPr/>
          <a:lstStyle/>
          <a:p>
            <a:endParaRPr lang="en-US"/>
          </a:p>
        </p:txBody>
      </p:sp>
      <p:sp>
        <p:nvSpPr>
          <p:cNvPr id="13" name="Shape 10"/>
          <p:cNvSpPr/>
          <p:nvPr/>
        </p:nvSpPr>
        <p:spPr>
          <a:xfrm>
            <a:off x="640080" y="2560320"/>
            <a:ext cx="64008" cy="1097280"/>
          </a:xfrm>
          <a:prstGeom prst="rect">
            <a:avLst/>
          </a:prstGeom>
          <a:solidFill>
            <a:srgbClr val="C8F751"/>
          </a:solidFill>
          <a:ln w="12700">
            <a:solidFill>
              <a:srgbClr val="C8F751"/>
            </a:solidFill>
            <a:prstDash val="solid"/>
          </a:ln>
        </p:spPr>
        <p:txBody>
          <a:bodyPr/>
          <a:lstStyle/>
          <a:p>
            <a:endParaRPr lang="en-US"/>
          </a:p>
        </p:txBody>
      </p:sp>
      <p:sp>
        <p:nvSpPr>
          <p:cNvPr id="14" name="Shape 11"/>
          <p:cNvSpPr/>
          <p:nvPr/>
        </p:nvSpPr>
        <p:spPr>
          <a:xfrm>
            <a:off x="704088" y="2560320"/>
            <a:ext cx="7296912" cy="91440"/>
          </a:xfrm>
          <a:prstGeom prst="rect">
            <a:avLst/>
          </a:prstGeom>
          <a:solidFill>
            <a:srgbClr val="F5A524"/>
          </a:solidFill>
          <a:ln w="12700">
            <a:solidFill>
              <a:srgbClr val="F5A524"/>
            </a:solidFill>
            <a:prstDash val="solid"/>
          </a:ln>
        </p:spPr>
        <p:txBody>
          <a:bodyPr/>
          <a:lstStyle/>
          <a:p>
            <a:endParaRPr lang="en-US"/>
          </a:p>
        </p:txBody>
      </p:sp>
      <p:sp>
        <p:nvSpPr>
          <p:cNvPr id="15" name="Text 12"/>
          <p:cNvSpPr/>
          <p:nvPr/>
        </p:nvSpPr>
        <p:spPr>
          <a:xfrm>
            <a:off x="822960" y="2743200"/>
            <a:ext cx="3657600" cy="32004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INCIDENT ALERT</a:t>
            </a:r>
            <a:endParaRPr lang="en-US" sz="1300" dirty="0"/>
          </a:p>
        </p:txBody>
      </p:sp>
      <p:sp>
        <p:nvSpPr>
          <p:cNvPr id="16" name="Text 13"/>
          <p:cNvSpPr/>
          <p:nvPr/>
        </p:nvSpPr>
        <p:spPr>
          <a:xfrm>
            <a:off x="4572000" y="2743200"/>
            <a:ext cx="3291840" cy="320040"/>
          </a:xfrm>
          <a:prstGeom prst="rect">
            <a:avLst/>
          </a:prstGeom>
          <a:noFill/>
          <a:ln/>
        </p:spPr>
        <p:txBody>
          <a:bodyPr wrap="square" lIns="0" tIns="0" rIns="0" bIns="0" rtlCol="0" anchor="ctr"/>
          <a:lstStyle/>
          <a:p>
            <a:pPr marL="0" indent="0" algn="r">
              <a:buNone/>
            </a:pPr>
            <a:r>
              <a:rPr lang="en-US" sz="1100" i="1" dirty="0">
                <a:solidFill>
                  <a:srgbClr val="9AA8C7"/>
                </a:solidFill>
                <a:latin typeface="Consolas" pitchFamily="34" charset="0"/>
                <a:ea typeface="Consolas" pitchFamily="34" charset="-122"/>
                <a:cs typeface="Consolas" pitchFamily="34" charset="-120"/>
              </a:rPr>
              <a:t>geofence radius</a:t>
            </a:r>
            <a:endParaRPr lang="en-US" sz="1100" dirty="0"/>
          </a:p>
        </p:txBody>
      </p:sp>
      <p:sp>
        <p:nvSpPr>
          <p:cNvPr id="17" name="Text 14"/>
          <p:cNvSpPr/>
          <p:nvPr/>
        </p:nvSpPr>
        <p:spPr>
          <a:xfrm>
            <a:off x="822960" y="3108960"/>
            <a:ext cx="7040880" cy="502920"/>
          </a:xfrm>
          <a:prstGeom prst="rect">
            <a:avLst/>
          </a:prstGeom>
          <a:noFill/>
          <a:ln/>
        </p:spPr>
        <p:txBody>
          <a:bodyPr wrap="square" lIns="0" tIns="0" rIns="0" bIns="0" rtlCol="0" anchor="ctr"/>
          <a:lstStyle/>
          <a:p>
            <a:pPr marL="0" indent="0">
              <a:buNone/>
            </a:pPr>
            <a:r>
              <a:rPr lang="en-US" sz="1100" dirty="0">
                <a:solidFill>
                  <a:srgbClr val="F4E9D8"/>
                </a:solidFill>
                <a:latin typeface="Calibri" pitchFamily="34" charset="0"/>
                <a:ea typeface="Calibri" pitchFamily="34" charset="-122"/>
                <a:cs typeface="Calibri" pitchFamily="34" charset="-120"/>
              </a:rPr>
              <a:t>Verified crime within 1.5 km of saved home/work. Push + email.</a:t>
            </a:r>
            <a:endParaRPr lang="en-US" sz="1100" dirty="0"/>
          </a:p>
        </p:txBody>
      </p:sp>
      <p:sp>
        <p:nvSpPr>
          <p:cNvPr id="18" name="Shape 15"/>
          <p:cNvSpPr/>
          <p:nvPr/>
        </p:nvSpPr>
        <p:spPr>
          <a:xfrm>
            <a:off x="640080" y="3749040"/>
            <a:ext cx="7360920" cy="1097280"/>
          </a:xfrm>
          <a:prstGeom prst="rect">
            <a:avLst/>
          </a:prstGeom>
          <a:solidFill>
            <a:srgbClr val="121C3A"/>
          </a:solidFill>
          <a:ln w="9525">
            <a:solidFill>
              <a:srgbClr val="2A3A6E"/>
            </a:solidFill>
            <a:prstDash val="solid"/>
          </a:ln>
        </p:spPr>
        <p:txBody>
          <a:bodyPr/>
          <a:lstStyle/>
          <a:p>
            <a:endParaRPr lang="en-US"/>
          </a:p>
        </p:txBody>
      </p:sp>
      <p:sp>
        <p:nvSpPr>
          <p:cNvPr id="19" name="Shape 16"/>
          <p:cNvSpPr/>
          <p:nvPr/>
        </p:nvSpPr>
        <p:spPr>
          <a:xfrm>
            <a:off x="640080" y="3749040"/>
            <a:ext cx="64008" cy="1097280"/>
          </a:xfrm>
          <a:prstGeom prst="rect">
            <a:avLst/>
          </a:prstGeom>
          <a:solidFill>
            <a:srgbClr val="C8F751"/>
          </a:solidFill>
          <a:ln w="12700">
            <a:solidFill>
              <a:srgbClr val="C8F751"/>
            </a:solidFill>
            <a:prstDash val="solid"/>
          </a:ln>
        </p:spPr>
        <p:txBody>
          <a:bodyPr/>
          <a:lstStyle/>
          <a:p>
            <a:endParaRPr lang="en-US"/>
          </a:p>
        </p:txBody>
      </p:sp>
      <p:sp>
        <p:nvSpPr>
          <p:cNvPr id="20" name="Shape 17"/>
          <p:cNvSpPr/>
          <p:nvPr/>
        </p:nvSpPr>
        <p:spPr>
          <a:xfrm>
            <a:off x="704088" y="3749040"/>
            <a:ext cx="7296912" cy="91440"/>
          </a:xfrm>
          <a:prstGeom prst="rect">
            <a:avLst/>
          </a:prstGeom>
          <a:solidFill>
            <a:srgbClr val="C8F751"/>
          </a:solidFill>
          <a:ln w="12700">
            <a:solidFill>
              <a:srgbClr val="C8F751"/>
            </a:solidFill>
            <a:prstDash val="solid"/>
          </a:ln>
        </p:spPr>
        <p:txBody>
          <a:bodyPr/>
          <a:lstStyle/>
          <a:p>
            <a:endParaRPr lang="en-US"/>
          </a:p>
        </p:txBody>
      </p:sp>
      <p:sp>
        <p:nvSpPr>
          <p:cNvPr id="21" name="Text 18"/>
          <p:cNvSpPr/>
          <p:nvPr/>
        </p:nvSpPr>
        <p:spPr>
          <a:xfrm>
            <a:off x="822960" y="3931920"/>
            <a:ext cx="3657600" cy="320040"/>
          </a:xfrm>
          <a:prstGeom prst="rect">
            <a:avLst/>
          </a:prstGeom>
          <a:noFill/>
          <a:ln/>
        </p:spPr>
        <p:txBody>
          <a:bodyPr wrap="square" lIns="0" tIns="0" rIns="0" bIns="0" rtlCol="0" anchor="ctr"/>
          <a:lstStyle/>
          <a:p>
            <a:pPr marL="0" indent="0">
              <a:buNone/>
            </a:pPr>
            <a:r>
              <a:rPr lang="en-US" sz="1300" b="1" dirty="0">
                <a:solidFill>
                  <a:srgbClr val="C8F751"/>
                </a:solidFill>
                <a:latin typeface="Calibri" pitchFamily="34" charset="0"/>
                <a:ea typeface="Calibri" pitchFamily="34" charset="-122"/>
                <a:cs typeface="Calibri" pitchFamily="34" charset="-120"/>
              </a:rPr>
              <a:t>WEEKLY DIGEST</a:t>
            </a:r>
            <a:endParaRPr lang="en-US" sz="1300" dirty="0"/>
          </a:p>
        </p:txBody>
      </p:sp>
      <p:sp>
        <p:nvSpPr>
          <p:cNvPr id="22" name="Text 19"/>
          <p:cNvSpPr/>
          <p:nvPr/>
        </p:nvSpPr>
        <p:spPr>
          <a:xfrm>
            <a:off x="4572000" y="3931920"/>
            <a:ext cx="3291840" cy="320040"/>
          </a:xfrm>
          <a:prstGeom prst="rect">
            <a:avLst/>
          </a:prstGeom>
          <a:noFill/>
          <a:ln/>
        </p:spPr>
        <p:txBody>
          <a:bodyPr wrap="square" lIns="0" tIns="0" rIns="0" bIns="0" rtlCol="0" anchor="ctr"/>
          <a:lstStyle/>
          <a:p>
            <a:pPr marL="0" indent="0" algn="r">
              <a:buNone/>
            </a:pPr>
            <a:r>
              <a:rPr lang="en-US" sz="1100" i="1" dirty="0">
                <a:solidFill>
                  <a:srgbClr val="9AA8C7"/>
                </a:solidFill>
                <a:latin typeface="Consolas" pitchFamily="34" charset="0"/>
                <a:ea typeface="Consolas" pitchFamily="34" charset="-122"/>
                <a:cs typeface="Consolas" pitchFamily="34" charset="-120"/>
              </a:rPr>
              <a:t>scheduled job</a:t>
            </a:r>
            <a:endParaRPr lang="en-US" sz="1100" dirty="0"/>
          </a:p>
        </p:txBody>
      </p:sp>
      <p:sp>
        <p:nvSpPr>
          <p:cNvPr id="23" name="Text 20"/>
          <p:cNvSpPr/>
          <p:nvPr/>
        </p:nvSpPr>
        <p:spPr>
          <a:xfrm>
            <a:off x="822960" y="4297680"/>
            <a:ext cx="7040880" cy="502920"/>
          </a:xfrm>
          <a:prstGeom prst="rect">
            <a:avLst/>
          </a:prstGeom>
          <a:noFill/>
          <a:ln/>
        </p:spPr>
        <p:txBody>
          <a:bodyPr wrap="square" lIns="0" tIns="0" rIns="0" bIns="0" rtlCol="0" anchor="ctr"/>
          <a:lstStyle/>
          <a:p>
            <a:pPr marL="0" indent="0">
              <a:buNone/>
            </a:pPr>
            <a:r>
              <a:rPr lang="en-US" sz="1100" dirty="0">
                <a:solidFill>
                  <a:srgbClr val="F4E9D8"/>
                </a:solidFill>
                <a:latin typeface="Calibri" pitchFamily="34" charset="0"/>
                <a:ea typeface="Calibri" pitchFamily="34" charset="-122"/>
                <a:cs typeface="Calibri" pitchFamily="34" charset="-120"/>
              </a:rPr>
              <a:t>Personalised safety report every Sunday 17:05 PKT.</a:t>
            </a:r>
            <a:endParaRPr lang="en-US" sz="1100" dirty="0"/>
          </a:p>
        </p:txBody>
      </p:sp>
      <p:sp>
        <p:nvSpPr>
          <p:cNvPr id="24" name="Shape 21"/>
          <p:cNvSpPr/>
          <p:nvPr/>
        </p:nvSpPr>
        <p:spPr>
          <a:xfrm>
            <a:off x="640080" y="5029200"/>
            <a:ext cx="5532120" cy="1280160"/>
          </a:xfrm>
          <a:prstGeom prst="rect">
            <a:avLst/>
          </a:prstGeom>
          <a:solidFill>
            <a:srgbClr val="121C3A"/>
          </a:solidFill>
          <a:ln w="9525">
            <a:solidFill>
              <a:srgbClr val="2A3A6E"/>
            </a:solidFill>
            <a:prstDash val="solid"/>
          </a:ln>
        </p:spPr>
        <p:txBody>
          <a:bodyPr/>
          <a:lstStyle/>
          <a:p>
            <a:endParaRPr lang="en-US"/>
          </a:p>
        </p:txBody>
      </p:sp>
      <p:sp>
        <p:nvSpPr>
          <p:cNvPr id="25" name="Shape 22"/>
          <p:cNvSpPr/>
          <p:nvPr/>
        </p:nvSpPr>
        <p:spPr>
          <a:xfrm>
            <a:off x="640080" y="5029200"/>
            <a:ext cx="64008" cy="1280160"/>
          </a:xfrm>
          <a:prstGeom prst="rect">
            <a:avLst/>
          </a:prstGeom>
          <a:solidFill>
            <a:srgbClr val="C8F751"/>
          </a:solidFill>
          <a:ln w="12700">
            <a:solidFill>
              <a:srgbClr val="C8F751"/>
            </a:solidFill>
            <a:prstDash val="solid"/>
          </a:ln>
        </p:spPr>
        <p:txBody>
          <a:bodyPr/>
          <a:lstStyle/>
          <a:p>
            <a:endParaRPr lang="en-US"/>
          </a:p>
        </p:txBody>
      </p:sp>
      <p:sp>
        <p:nvSpPr>
          <p:cNvPr id="26" name="Text 23"/>
          <p:cNvSpPr/>
          <p:nvPr/>
        </p:nvSpPr>
        <p:spPr>
          <a:xfrm>
            <a:off x="868680" y="5138928"/>
            <a:ext cx="5212080" cy="274320"/>
          </a:xfrm>
          <a:prstGeom prst="rect">
            <a:avLst/>
          </a:prstGeom>
          <a:noFill/>
          <a:ln/>
        </p:spPr>
        <p:txBody>
          <a:bodyPr wrap="square" lIns="0" tIns="0" rIns="0" bIns="0" rtlCol="0" anchor="ctr"/>
          <a:lstStyle/>
          <a:p>
            <a:pPr marL="0" indent="0">
              <a:buNone/>
            </a:pPr>
            <a:r>
              <a:rPr lang="en-US" sz="1100" b="1" kern="0" spc="300" dirty="0">
                <a:solidFill>
                  <a:srgbClr val="C8F751"/>
                </a:solidFill>
                <a:latin typeface="Calibri" pitchFamily="34" charset="0"/>
                <a:ea typeface="Calibri" pitchFamily="34" charset="-122"/>
                <a:cs typeface="Calibri" pitchFamily="34" charset="-120"/>
              </a:rPr>
              <a:t>COOLDOWN  ·  60 minutes default</a:t>
            </a:r>
            <a:endParaRPr lang="en-US" sz="1100" dirty="0"/>
          </a:p>
        </p:txBody>
      </p:sp>
      <p:sp>
        <p:nvSpPr>
          <p:cNvPr id="27" name="Text 24"/>
          <p:cNvSpPr/>
          <p:nvPr/>
        </p:nvSpPr>
        <p:spPr>
          <a:xfrm>
            <a:off x="868680" y="5440680"/>
            <a:ext cx="5212080" cy="86868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If a user has already been alerted about a hotspot, we wait an hour before re-alerting them about the same one. Otherwise a single noisy area would spam the user with notifications. The window is configurable from 1 to 1440 minutes by an admin.</a:t>
            </a:r>
            <a:endParaRPr lang="en-US" sz="1000" dirty="0"/>
          </a:p>
        </p:txBody>
      </p:sp>
      <p:sp>
        <p:nvSpPr>
          <p:cNvPr id="28" name="Shape 25"/>
          <p:cNvSpPr/>
          <p:nvPr/>
        </p:nvSpPr>
        <p:spPr>
          <a:xfrm>
            <a:off x="6355080" y="5029200"/>
            <a:ext cx="5349240" cy="1280160"/>
          </a:xfrm>
          <a:prstGeom prst="rect">
            <a:avLst/>
          </a:prstGeom>
          <a:solidFill>
            <a:srgbClr val="121C3A"/>
          </a:solidFill>
          <a:ln w="9525">
            <a:solidFill>
              <a:srgbClr val="2A3A6E"/>
            </a:solidFill>
            <a:prstDash val="solid"/>
          </a:ln>
        </p:spPr>
        <p:txBody>
          <a:bodyPr/>
          <a:lstStyle/>
          <a:p>
            <a:endParaRPr lang="en-US"/>
          </a:p>
        </p:txBody>
      </p:sp>
      <p:sp>
        <p:nvSpPr>
          <p:cNvPr id="29" name="Shape 26"/>
          <p:cNvSpPr/>
          <p:nvPr/>
        </p:nvSpPr>
        <p:spPr>
          <a:xfrm>
            <a:off x="6355080" y="5029200"/>
            <a:ext cx="64008" cy="1280160"/>
          </a:xfrm>
          <a:prstGeom prst="rect">
            <a:avLst/>
          </a:prstGeom>
          <a:solidFill>
            <a:srgbClr val="C8F751"/>
          </a:solidFill>
          <a:ln w="12700">
            <a:solidFill>
              <a:srgbClr val="C8F751"/>
            </a:solidFill>
            <a:prstDash val="solid"/>
          </a:ln>
        </p:spPr>
        <p:txBody>
          <a:bodyPr/>
          <a:lstStyle/>
          <a:p>
            <a:endParaRPr lang="en-US"/>
          </a:p>
        </p:txBody>
      </p:sp>
      <p:sp>
        <p:nvSpPr>
          <p:cNvPr id="30" name="Text 27"/>
          <p:cNvSpPr/>
          <p:nvPr/>
        </p:nvSpPr>
        <p:spPr>
          <a:xfrm>
            <a:off x="6583680" y="5138928"/>
            <a:ext cx="5029200" cy="274320"/>
          </a:xfrm>
          <a:prstGeom prst="rect">
            <a:avLst/>
          </a:prstGeom>
          <a:noFill/>
          <a:ln/>
        </p:spPr>
        <p:txBody>
          <a:bodyPr wrap="square" lIns="0" tIns="0" rIns="0" bIns="0" rtlCol="0" anchor="ctr"/>
          <a:lstStyle/>
          <a:p>
            <a:pPr marL="0" indent="0">
              <a:buNone/>
            </a:pPr>
            <a:r>
              <a:rPr lang="en-US" sz="1100" b="1" kern="0" spc="300" dirty="0">
                <a:solidFill>
                  <a:srgbClr val="C8F751"/>
                </a:solidFill>
                <a:latin typeface="Calibri" pitchFamily="34" charset="0"/>
                <a:ea typeface="Calibri" pitchFamily="34" charset="-122"/>
                <a:cs typeface="Calibri" pitchFamily="34" charset="-120"/>
              </a:rPr>
              <a:t>3 BACKGROUND JOBS  ·  APScheduler</a:t>
            </a:r>
            <a:endParaRPr lang="en-US" sz="1100" dirty="0"/>
          </a:p>
        </p:txBody>
      </p:sp>
      <p:sp>
        <p:nvSpPr>
          <p:cNvPr id="31" name="Text 28"/>
          <p:cNvSpPr/>
          <p:nvPr/>
        </p:nvSpPr>
        <p:spPr>
          <a:xfrm>
            <a:off x="6583680" y="5413248"/>
            <a:ext cx="5029200" cy="914400"/>
          </a:xfrm>
          <a:prstGeom prst="rect">
            <a:avLst/>
          </a:prstGeom>
          <a:noFill/>
          <a:ln/>
        </p:spPr>
        <p:txBody>
          <a:bodyPr wrap="square" lIns="0" tIns="0" rIns="0" bIns="0"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monitor_saved_locations</a:t>
            </a:r>
            <a:r>
              <a:rPr lang="en-US" sz="1000" dirty="0">
                <a:solidFill>
                  <a:srgbClr val="9AA8C7"/>
                </a:solidFill>
                <a:latin typeface="Calibri" pitchFamily="34" charset="0"/>
                <a:ea typeface="Calibri" pitchFamily="34" charset="-122"/>
                <a:cs typeface="Calibri" pitchFamily="34" charset="-120"/>
              </a:rPr>
              <a:t>  every 1 min  ·  push live alerts</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weekly_safety_reports</a:t>
            </a:r>
            <a:r>
              <a:rPr lang="en-US" sz="1000" dirty="0">
                <a:solidFill>
                  <a:srgbClr val="9AA8C7"/>
                </a:solidFill>
                <a:latin typeface="Calibri" pitchFamily="34" charset="0"/>
                <a:ea typeface="Calibri" pitchFamily="34" charset="-122"/>
                <a:cs typeface="Calibri" pitchFamily="34" charset="-120"/>
              </a:rPr>
              <a:t>  Sun 17:05 PKT  ·  email digest</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poll_new_incidents</a:t>
            </a:r>
            <a:r>
              <a:rPr lang="en-US" sz="1000" dirty="0">
                <a:solidFill>
                  <a:srgbClr val="9AA8C7"/>
                </a:solidFill>
                <a:latin typeface="Calibri" pitchFamily="34" charset="0"/>
                <a:ea typeface="Calibri" pitchFamily="34" charset="-122"/>
                <a:cs typeface="Calibri" pitchFamily="34" charset="-120"/>
              </a:rPr>
              <a:t>  every 1 min  ·  geofence match</a:t>
            </a:r>
            <a:endParaRPr lang="en-US" sz="1000" dirty="0"/>
          </a:p>
        </p:txBody>
      </p:sp>
      <p:sp>
        <p:nvSpPr>
          <p:cNvPr id="32" name="Text 29"/>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33" name="Text 30"/>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24 / 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WEB-PUSH PIPELINE &amp; ROLE DASHBOARDS</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How an alert reaches the user's phone, and what each role can do</a:t>
            </a:r>
            <a:endParaRPr lang="en-US" sz="1200" dirty="0"/>
          </a:p>
        </p:txBody>
      </p:sp>
      <p:pic>
        <p:nvPicPr>
          <p:cNvPr id="5" name="Image 0" descr="/home/claude/gifs/vapid_push.gif"/>
          <p:cNvPicPr>
            <a:picLocks noChangeAspect="1"/>
          </p:cNvPicPr>
          <p:nvPr/>
        </p:nvPicPr>
        <p:blipFill>
          <a:blip r:embed="rId3"/>
          <a:stretch>
            <a:fillRect/>
          </a:stretch>
        </p:blipFill>
        <p:spPr>
          <a:xfrm>
            <a:off x="640080" y="1280160"/>
            <a:ext cx="11064240" cy="2377440"/>
          </a:xfrm>
          <a:prstGeom prst="rect">
            <a:avLst/>
          </a:prstGeom>
        </p:spPr>
      </p:pic>
      <p:sp>
        <p:nvSpPr>
          <p:cNvPr id="6" name="Shape 3"/>
          <p:cNvSpPr/>
          <p:nvPr/>
        </p:nvSpPr>
        <p:spPr>
          <a:xfrm>
            <a:off x="640080" y="3749040"/>
            <a:ext cx="11064240" cy="822960"/>
          </a:xfrm>
          <a:prstGeom prst="rect">
            <a:avLst/>
          </a:prstGeom>
          <a:solidFill>
            <a:srgbClr val="121C3A"/>
          </a:solidFill>
          <a:ln w="9525">
            <a:solidFill>
              <a:srgbClr val="2A3A6E"/>
            </a:solidFill>
            <a:prstDash val="solid"/>
          </a:ln>
        </p:spPr>
        <p:txBody>
          <a:bodyPr/>
          <a:lstStyle/>
          <a:p>
            <a:endParaRPr lang="en-US"/>
          </a:p>
        </p:txBody>
      </p:sp>
      <p:sp>
        <p:nvSpPr>
          <p:cNvPr id="7" name="Shape 4"/>
          <p:cNvSpPr/>
          <p:nvPr/>
        </p:nvSpPr>
        <p:spPr>
          <a:xfrm>
            <a:off x="640080" y="3749040"/>
            <a:ext cx="64008" cy="822960"/>
          </a:xfrm>
          <a:prstGeom prst="rect">
            <a:avLst/>
          </a:prstGeom>
          <a:solidFill>
            <a:srgbClr val="C8F751"/>
          </a:solidFill>
          <a:ln w="12700">
            <a:solidFill>
              <a:srgbClr val="C8F751"/>
            </a:solidFill>
            <a:prstDash val="solid"/>
          </a:ln>
        </p:spPr>
        <p:txBody>
          <a:bodyPr/>
          <a:lstStyle/>
          <a:p>
            <a:endParaRPr lang="en-US"/>
          </a:p>
        </p:txBody>
      </p:sp>
      <p:sp>
        <p:nvSpPr>
          <p:cNvPr id="8" name="Text 5"/>
          <p:cNvSpPr/>
          <p:nvPr/>
        </p:nvSpPr>
        <p:spPr>
          <a:xfrm>
            <a:off x="868680" y="3840480"/>
            <a:ext cx="10698480" cy="685800"/>
          </a:xfrm>
          <a:prstGeom prst="rect">
            <a:avLst/>
          </a:prstGeom>
          <a:noFill/>
          <a:ln/>
        </p:spPr>
        <p:txBody>
          <a:bodyPr wrap="square" lIns="0" tIns="0" rIns="0" bIns="0" rtlCol="0" anchor="ctr"/>
          <a:lstStyle/>
          <a:p>
            <a:pPr marL="0" indent="0">
              <a:buNone/>
            </a:pPr>
            <a:r>
              <a:rPr lang="en-US" sz="1100" i="1" dirty="0">
                <a:solidFill>
                  <a:srgbClr val="F4E9D8"/>
                </a:solidFill>
                <a:latin typeface="Calibri" pitchFamily="34" charset="0"/>
                <a:ea typeface="Calibri" pitchFamily="34" charset="-122"/>
                <a:cs typeface="Calibri" pitchFamily="34" charset="-120"/>
              </a:rPr>
              <a:t>VAPID (Voluntary Application Server Identification) is the standard for sending notifications from a web server to a browser. Our server signs each notification with a private key the browser can verify. End-to-end this means: even when SafeVision tab is closed, the user still gets the alert.</a:t>
            </a:r>
            <a:endParaRPr lang="en-US" sz="1100" dirty="0"/>
          </a:p>
        </p:txBody>
      </p:sp>
      <p:sp>
        <p:nvSpPr>
          <p:cNvPr id="9" name="Shape 6"/>
          <p:cNvSpPr/>
          <p:nvPr/>
        </p:nvSpPr>
        <p:spPr>
          <a:xfrm>
            <a:off x="640080" y="4663440"/>
            <a:ext cx="11064240" cy="1691640"/>
          </a:xfrm>
          <a:prstGeom prst="rect">
            <a:avLst/>
          </a:prstGeom>
          <a:solidFill>
            <a:srgbClr val="121C3A"/>
          </a:solidFill>
          <a:ln w="9525">
            <a:solidFill>
              <a:srgbClr val="2A3A6E"/>
            </a:solidFill>
            <a:prstDash val="solid"/>
          </a:ln>
        </p:spPr>
        <p:txBody>
          <a:bodyPr/>
          <a:lstStyle/>
          <a:p>
            <a:endParaRPr lang="en-US"/>
          </a:p>
        </p:txBody>
      </p:sp>
      <p:sp>
        <p:nvSpPr>
          <p:cNvPr id="10" name="Shape 7"/>
          <p:cNvSpPr/>
          <p:nvPr/>
        </p:nvSpPr>
        <p:spPr>
          <a:xfrm>
            <a:off x="640080" y="4663440"/>
            <a:ext cx="64008" cy="1691640"/>
          </a:xfrm>
          <a:prstGeom prst="rect">
            <a:avLst/>
          </a:prstGeom>
          <a:solidFill>
            <a:srgbClr val="C8F751"/>
          </a:solidFill>
          <a:ln w="12700">
            <a:solidFill>
              <a:srgbClr val="C8F751"/>
            </a:solidFill>
            <a:prstDash val="solid"/>
          </a:ln>
        </p:spPr>
        <p:txBody>
          <a:bodyPr/>
          <a:lstStyle/>
          <a:p>
            <a:endParaRPr lang="en-US"/>
          </a:p>
        </p:txBody>
      </p:sp>
      <p:sp>
        <p:nvSpPr>
          <p:cNvPr id="11" name="Text 8"/>
          <p:cNvSpPr/>
          <p:nvPr/>
        </p:nvSpPr>
        <p:spPr>
          <a:xfrm>
            <a:off x="868680" y="4773168"/>
            <a:ext cx="10698480" cy="274320"/>
          </a:xfrm>
          <a:prstGeom prst="rect">
            <a:avLst/>
          </a:prstGeom>
          <a:noFill/>
          <a:ln/>
        </p:spPr>
        <p:txBody>
          <a:bodyPr wrap="square" lIns="0" tIns="0" rIns="0" bIns="0" rtlCol="0" anchor="ctr"/>
          <a:lstStyle/>
          <a:p>
            <a:pPr marL="0" indent="0">
              <a:buNone/>
            </a:pPr>
            <a:r>
              <a:rPr lang="en-US" sz="1000" b="1" kern="0" spc="400" dirty="0">
                <a:solidFill>
                  <a:srgbClr val="C8F751"/>
                </a:solidFill>
                <a:latin typeface="Calibri" pitchFamily="34" charset="0"/>
                <a:ea typeface="Calibri" pitchFamily="34" charset="-122"/>
                <a:cs typeface="Calibri" pitchFamily="34" charset="-120"/>
              </a:rPr>
              <a:t>DASHBOARDS BY ROLE</a:t>
            </a:r>
            <a:endParaRPr lang="en-US" sz="1000" dirty="0"/>
          </a:p>
        </p:txBody>
      </p:sp>
      <p:sp>
        <p:nvSpPr>
          <p:cNvPr id="12" name="Shape 9"/>
          <p:cNvSpPr/>
          <p:nvPr/>
        </p:nvSpPr>
        <p:spPr>
          <a:xfrm>
            <a:off x="868680" y="5074920"/>
            <a:ext cx="3520440" cy="1207008"/>
          </a:xfrm>
          <a:prstGeom prst="rect">
            <a:avLst/>
          </a:prstGeom>
          <a:solidFill>
            <a:srgbClr val="0A1228"/>
          </a:solidFill>
          <a:ln w="6350">
            <a:solidFill>
              <a:srgbClr val="2A3A6E"/>
            </a:solidFill>
            <a:prstDash val="solid"/>
          </a:ln>
        </p:spPr>
        <p:txBody>
          <a:bodyPr/>
          <a:lstStyle/>
          <a:p>
            <a:endParaRPr lang="en-US"/>
          </a:p>
        </p:txBody>
      </p:sp>
      <p:sp>
        <p:nvSpPr>
          <p:cNvPr id="13" name="Shape 10"/>
          <p:cNvSpPr/>
          <p:nvPr/>
        </p:nvSpPr>
        <p:spPr>
          <a:xfrm>
            <a:off x="868680" y="5074920"/>
            <a:ext cx="91440" cy="1207008"/>
          </a:xfrm>
          <a:prstGeom prst="rect">
            <a:avLst/>
          </a:prstGeom>
          <a:solidFill>
            <a:srgbClr val="C8F751"/>
          </a:solidFill>
          <a:ln w="12700">
            <a:solidFill>
              <a:srgbClr val="C8F751"/>
            </a:solidFill>
            <a:prstDash val="solid"/>
          </a:ln>
        </p:spPr>
        <p:txBody>
          <a:bodyPr/>
          <a:lstStyle/>
          <a:p>
            <a:endParaRPr lang="en-US"/>
          </a:p>
        </p:txBody>
      </p:sp>
      <p:sp>
        <p:nvSpPr>
          <p:cNvPr id="14" name="Text 11"/>
          <p:cNvSpPr/>
          <p:nvPr/>
        </p:nvSpPr>
        <p:spPr>
          <a:xfrm>
            <a:off x="1051560" y="5138928"/>
            <a:ext cx="22860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p:txBody>
      </p:sp>
      <p:sp>
        <p:nvSpPr>
          <p:cNvPr id="15" name="Text 12"/>
          <p:cNvSpPr/>
          <p:nvPr/>
        </p:nvSpPr>
        <p:spPr>
          <a:xfrm>
            <a:off x="1051560" y="5440680"/>
            <a:ext cx="3200400" cy="274320"/>
          </a:xfrm>
          <a:prstGeom prst="rect">
            <a:avLst/>
          </a:prstGeom>
          <a:noFill/>
          <a:ln/>
        </p:spPr>
        <p:txBody>
          <a:bodyPr wrap="square" lIns="0" tIns="0" rIns="0" bIns="0" rtlCol="0" anchor="ctr"/>
          <a:lstStyle/>
          <a:p>
            <a:pPr marL="0" indent="0">
              <a:buNone/>
            </a:pPr>
            <a:r>
              <a:rPr lang="en-US" sz="1000" dirty="0">
                <a:solidFill>
                  <a:srgbClr val="C8F751"/>
                </a:solidFill>
                <a:latin typeface="Consolas" pitchFamily="34" charset="0"/>
                <a:ea typeface="Consolas" pitchFamily="34" charset="-122"/>
                <a:cs typeface="Consolas" pitchFamily="34" charset="-120"/>
              </a:rPr>
              <a:t>30+ screens</a:t>
            </a:r>
            <a:endParaRPr lang="en-US" sz="1000" dirty="0"/>
          </a:p>
        </p:txBody>
      </p:sp>
      <p:sp>
        <p:nvSpPr>
          <p:cNvPr id="16" name="Text 13"/>
          <p:cNvSpPr/>
          <p:nvPr/>
        </p:nvSpPr>
        <p:spPr>
          <a:xfrm>
            <a:off x="1051560" y="5715000"/>
            <a:ext cx="3200400" cy="54864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Area Safety Profile, Area Comparison, heatmap, AI route planner, saved-location safety cards, patrol request</a:t>
            </a:r>
            <a:endParaRPr lang="en-US" sz="950" dirty="0"/>
          </a:p>
        </p:txBody>
      </p:sp>
      <p:sp>
        <p:nvSpPr>
          <p:cNvPr id="17" name="Shape 14"/>
          <p:cNvSpPr/>
          <p:nvPr/>
        </p:nvSpPr>
        <p:spPr>
          <a:xfrm>
            <a:off x="4526280" y="5074920"/>
            <a:ext cx="3520440" cy="1207008"/>
          </a:xfrm>
          <a:prstGeom prst="rect">
            <a:avLst/>
          </a:prstGeom>
          <a:solidFill>
            <a:srgbClr val="0A1228"/>
          </a:solidFill>
          <a:ln w="6350">
            <a:solidFill>
              <a:srgbClr val="2A3A6E"/>
            </a:solidFill>
            <a:prstDash val="solid"/>
          </a:ln>
        </p:spPr>
        <p:txBody>
          <a:bodyPr/>
          <a:lstStyle/>
          <a:p>
            <a:endParaRPr lang="en-US"/>
          </a:p>
        </p:txBody>
      </p:sp>
      <p:sp>
        <p:nvSpPr>
          <p:cNvPr id="18" name="Shape 15"/>
          <p:cNvSpPr/>
          <p:nvPr/>
        </p:nvSpPr>
        <p:spPr>
          <a:xfrm>
            <a:off x="4526280" y="5074920"/>
            <a:ext cx="91440" cy="1207008"/>
          </a:xfrm>
          <a:prstGeom prst="rect">
            <a:avLst/>
          </a:prstGeom>
          <a:solidFill>
            <a:srgbClr val="F5A524"/>
          </a:solidFill>
          <a:ln w="12700">
            <a:solidFill>
              <a:srgbClr val="F5A524"/>
            </a:solidFill>
            <a:prstDash val="solid"/>
          </a:ln>
        </p:spPr>
        <p:txBody>
          <a:bodyPr/>
          <a:lstStyle/>
          <a:p>
            <a:endParaRPr lang="en-US"/>
          </a:p>
        </p:txBody>
      </p:sp>
      <p:sp>
        <p:nvSpPr>
          <p:cNvPr id="19" name="Text 16"/>
          <p:cNvSpPr/>
          <p:nvPr/>
        </p:nvSpPr>
        <p:spPr>
          <a:xfrm>
            <a:off x="4709160" y="5138928"/>
            <a:ext cx="22860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Admin</a:t>
            </a:r>
            <a:endParaRPr lang="en-US" sz="1300" dirty="0"/>
          </a:p>
        </p:txBody>
      </p:sp>
      <p:sp>
        <p:nvSpPr>
          <p:cNvPr id="20" name="Text 17"/>
          <p:cNvSpPr/>
          <p:nvPr/>
        </p:nvSpPr>
        <p:spPr>
          <a:xfrm>
            <a:off x="4709160" y="5440680"/>
            <a:ext cx="3200400" cy="274320"/>
          </a:xfrm>
          <a:prstGeom prst="rect">
            <a:avLst/>
          </a:prstGeom>
          <a:noFill/>
          <a:ln/>
        </p:spPr>
        <p:txBody>
          <a:bodyPr wrap="square" lIns="0" tIns="0" rIns="0" bIns="0" rtlCol="0" anchor="ctr"/>
          <a:lstStyle/>
          <a:p>
            <a:pPr marL="0" indent="0">
              <a:buNone/>
            </a:pPr>
            <a:r>
              <a:rPr lang="en-US" sz="1000" dirty="0">
                <a:solidFill>
                  <a:srgbClr val="F5A524"/>
                </a:solidFill>
                <a:latin typeface="Consolas" pitchFamily="34" charset="0"/>
                <a:ea typeface="Consolas" pitchFamily="34" charset="-122"/>
                <a:cs typeface="Consolas" pitchFamily="34" charset="-120"/>
              </a:rPr>
              <a:t>20+ screens</a:t>
            </a:r>
            <a:endParaRPr lang="en-US" sz="1000" dirty="0"/>
          </a:p>
        </p:txBody>
      </p:sp>
      <p:sp>
        <p:nvSpPr>
          <p:cNvPr id="21" name="Text 18"/>
          <p:cNvSpPr/>
          <p:nvPr/>
        </p:nvSpPr>
        <p:spPr>
          <a:xfrm>
            <a:off x="4709160" y="5715000"/>
            <a:ext cx="3200400" cy="54864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Command Center, Crime Risk Prediction, Area Crime Risk Matrix, Area Risk Intelligence, Area Comparison, City Overview</a:t>
            </a:r>
            <a:endParaRPr lang="en-US" sz="950" dirty="0"/>
          </a:p>
        </p:txBody>
      </p:sp>
      <p:sp>
        <p:nvSpPr>
          <p:cNvPr id="22" name="Shape 19"/>
          <p:cNvSpPr/>
          <p:nvPr/>
        </p:nvSpPr>
        <p:spPr>
          <a:xfrm>
            <a:off x="8183880" y="5074920"/>
            <a:ext cx="3520440" cy="1207008"/>
          </a:xfrm>
          <a:prstGeom prst="rect">
            <a:avLst/>
          </a:prstGeom>
          <a:solidFill>
            <a:srgbClr val="0A1228"/>
          </a:solidFill>
          <a:ln w="6350">
            <a:solidFill>
              <a:srgbClr val="2A3A6E"/>
            </a:solidFill>
            <a:prstDash val="solid"/>
          </a:ln>
        </p:spPr>
        <p:txBody>
          <a:bodyPr/>
          <a:lstStyle/>
          <a:p>
            <a:endParaRPr lang="en-US"/>
          </a:p>
        </p:txBody>
      </p:sp>
      <p:sp>
        <p:nvSpPr>
          <p:cNvPr id="23" name="Shape 20"/>
          <p:cNvSpPr/>
          <p:nvPr/>
        </p:nvSpPr>
        <p:spPr>
          <a:xfrm>
            <a:off x="8183880" y="5074920"/>
            <a:ext cx="91440" cy="1207008"/>
          </a:xfrm>
          <a:prstGeom prst="rect">
            <a:avLst/>
          </a:prstGeom>
          <a:solidFill>
            <a:srgbClr val="E5484D"/>
          </a:solidFill>
          <a:ln w="12700">
            <a:solidFill>
              <a:srgbClr val="E5484D"/>
            </a:solidFill>
            <a:prstDash val="solid"/>
          </a:ln>
        </p:spPr>
        <p:txBody>
          <a:bodyPr/>
          <a:lstStyle/>
          <a:p>
            <a:endParaRPr lang="en-US"/>
          </a:p>
        </p:txBody>
      </p:sp>
      <p:sp>
        <p:nvSpPr>
          <p:cNvPr id="24" name="Text 21"/>
          <p:cNvSpPr/>
          <p:nvPr/>
        </p:nvSpPr>
        <p:spPr>
          <a:xfrm>
            <a:off x="8366760" y="5138928"/>
            <a:ext cx="22860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Super-Admin</a:t>
            </a:r>
            <a:endParaRPr lang="en-US" sz="1300" dirty="0"/>
          </a:p>
        </p:txBody>
      </p:sp>
      <p:sp>
        <p:nvSpPr>
          <p:cNvPr id="25" name="Text 22"/>
          <p:cNvSpPr/>
          <p:nvPr/>
        </p:nvSpPr>
        <p:spPr>
          <a:xfrm>
            <a:off x="8366760" y="5440680"/>
            <a:ext cx="3200400" cy="274320"/>
          </a:xfrm>
          <a:prstGeom prst="rect">
            <a:avLst/>
          </a:prstGeom>
          <a:noFill/>
          <a:ln/>
        </p:spPr>
        <p:txBody>
          <a:bodyPr wrap="square" lIns="0" tIns="0" rIns="0" bIns="0" rtlCol="0" anchor="ctr"/>
          <a:lstStyle/>
          <a:p>
            <a:pPr marL="0" indent="0">
              <a:buNone/>
            </a:pPr>
            <a:r>
              <a:rPr lang="en-US" sz="1000" dirty="0">
                <a:solidFill>
                  <a:srgbClr val="E5484D"/>
                </a:solidFill>
                <a:latin typeface="Consolas" pitchFamily="34" charset="0"/>
                <a:ea typeface="Consolas" pitchFamily="34" charset="-122"/>
                <a:cs typeface="Consolas" pitchFamily="34" charset="-120"/>
              </a:rPr>
              <a:t>15+ screens</a:t>
            </a:r>
            <a:endParaRPr lang="en-US" sz="1000" dirty="0"/>
          </a:p>
        </p:txBody>
      </p:sp>
      <p:sp>
        <p:nvSpPr>
          <p:cNvPr id="26" name="Text 23"/>
          <p:cNvSpPr/>
          <p:nvPr/>
        </p:nvSpPr>
        <p:spPr>
          <a:xfrm>
            <a:off x="8366760" y="5715000"/>
            <a:ext cx="3200400" cy="548640"/>
          </a:xfrm>
          <a:prstGeom prst="rect">
            <a:avLst/>
          </a:prstGeom>
          <a:noFill/>
          <a:ln/>
        </p:spPr>
        <p:txBody>
          <a:bodyPr wrap="square" lIns="0" tIns="0" rIns="0" bIns="0" rtlCol="0" anchor="ctr"/>
          <a:lstStyle/>
          <a:p>
            <a:pPr marL="0" indent="0">
              <a:buNone/>
            </a:pPr>
            <a:r>
              <a:rPr lang="en-US" sz="950" dirty="0">
                <a:solidFill>
                  <a:srgbClr val="F4E9D8"/>
                </a:solidFill>
                <a:latin typeface="Calibri" pitchFamily="34" charset="0"/>
                <a:ea typeface="Calibri" pitchFamily="34" charset="-122"/>
                <a:cs typeface="Calibri" pitchFamily="34" charset="-120"/>
              </a:rPr>
              <a:t>Approvals, system settings, PPC sections, admin management, and command-level oversight</a:t>
            </a:r>
            <a:endParaRPr lang="en-US" sz="950" dirty="0"/>
          </a:p>
        </p:txBody>
      </p:sp>
      <p:sp>
        <p:nvSpPr>
          <p:cNvPr id="27" name="Text 24"/>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Â·  FYP 2025â€“26  Â·  UET Lahore</a:t>
            </a:r>
            <a:endParaRPr lang="en-US" sz="900" dirty="0"/>
          </a:p>
        </p:txBody>
      </p:sp>
      <p:sp>
        <p:nvSpPr>
          <p:cNvPr id="28" name="Text 25"/>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25 / 28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KEY ENGINEERING TRADE-OFFS</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Every choice was deliberate — here's what we picked and why</a:t>
            </a:r>
            <a:endParaRPr lang="en-US" sz="1200" dirty="0"/>
          </a:p>
        </p:txBody>
      </p:sp>
      <p:sp>
        <p:nvSpPr>
          <p:cNvPr id="5" name="Shape 3"/>
          <p:cNvSpPr/>
          <p:nvPr/>
        </p:nvSpPr>
        <p:spPr>
          <a:xfrm>
            <a:off x="640080" y="1371600"/>
            <a:ext cx="11064240" cy="41148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640080" y="1371600"/>
            <a:ext cx="64008" cy="41148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68680" y="1417320"/>
            <a:ext cx="3657600" cy="320040"/>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OUR CHOICE</a:t>
            </a:r>
            <a:endParaRPr lang="en-US" sz="1000" dirty="0"/>
          </a:p>
        </p:txBody>
      </p:sp>
      <p:sp>
        <p:nvSpPr>
          <p:cNvPr id="8" name="Text 6"/>
          <p:cNvSpPr/>
          <p:nvPr/>
        </p:nvSpPr>
        <p:spPr>
          <a:xfrm>
            <a:off x="4663440" y="1417320"/>
            <a:ext cx="2743200" cy="320040"/>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WE REJECTED</a:t>
            </a:r>
            <a:endParaRPr lang="en-US" sz="1000" dirty="0"/>
          </a:p>
        </p:txBody>
      </p:sp>
      <p:sp>
        <p:nvSpPr>
          <p:cNvPr id="9" name="Text 7"/>
          <p:cNvSpPr/>
          <p:nvPr/>
        </p:nvSpPr>
        <p:spPr>
          <a:xfrm>
            <a:off x="7680960" y="1417320"/>
            <a:ext cx="4023360" cy="320040"/>
          </a:xfrm>
          <a:prstGeom prst="rect">
            <a:avLst/>
          </a:prstGeom>
          <a:noFill/>
          <a:ln/>
        </p:spPr>
        <p:txBody>
          <a:bodyPr wrap="square" lIns="0" tIns="0" rIns="0" bIns="0" rtlCol="0" anchor="ctr"/>
          <a:lstStyle/>
          <a:p>
            <a:pPr marL="0" indent="0">
              <a:buNone/>
            </a:pPr>
            <a:r>
              <a:rPr lang="en-US" sz="1000" b="1" kern="0" spc="300" dirty="0">
                <a:solidFill>
                  <a:srgbClr val="C8F751"/>
                </a:solidFill>
                <a:latin typeface="Calibri" pitchFamily="34" charset="0"/>
                <a:ea typeface="Calibri" pitchFamily="34" charset="-122"/>
                <a:cs typeface="Calibri" pitchFamily="34" charset="-120"/>
              </a:rPr>
              <a:t>WHY</a:t>
            </a:r>
            <a:endParaRPr lang="en-US" sz="1000" dirty="0"/>
          </a:p>
        </p:txBody>
      </p:sp>
      <p:sp>
        <p:nvSpPr>
          <p:cNvPr id="10" name="Shape 8"/>
          <p:cNvSpPr/>
          <p:nvPr/>
        </p:nvSpPr>
        <p:spPr>
          <a:xfrm>
            <a:off x="640080" y="1874520"/>
            <a:ext cx="11064240" cy="566928"/>
          </a:xfrm>
          <a:prstGeom prst="rect">
            <a:avLst/>
          </a:prstGeom>
          <a:solidFill>
            <a:srgbClr val="121C3A"/>
          </a:solidFill>
          <a:ln w="12700">
            <a:solidFill>
              <a:srgbClr val="121C3A"/>
            </a:solidFill>
            <a:prstDash val="solid"/>
          </a:ln>
        </p:spPr>
        <p:txBody>
          <a:bodyPr/>
          <a:lstStyle/>
          <a:p>
            <a:endParaRPr lang="en-US"/>
          </a:p>
        </p:txBody>
      </p:sp>
      <p:sp>
        <p:nvSpPr>
          <p:cNvPr id="11" name="Text 9"/>
          <p:cNvSpPr/>
          <p:nvPr/>
        </p:nvSpPr>
        <p:spPr>
          <a:xfrm>
            <a:off x="868680" y="1965960"/>
            <a:ext cx="3703320" cy="411480"/>
          </a:xfrm>
          <a:prstGeom prst="rect">
            <a:avLst/>
          </a:prstGeom>
          <a:noFill/>
          <a:ln/>
        </p:spPr>
        <p:txBody>
          <a:bodyPr wrap="square" lIns="0" tIns="0" rIns="0" bIns="0" rtlCol="0" anchor="ctr"/>
          <a:lstStyle/>
          <a:p>
            <a:pPr marL="0" indent="0">
              <a:buNone/>
            </a:pPr>
            <a:r>
              <a:rPr lang="en-US" sz="1150" b="1" dirty="0">
                <a:solidFill>
                  <a:srgbClr val="C8F751"/>
                </a:solidFill>
                <a:latin typeface="Calibri" pitchFamily="34" charset="0"/>
                <a:ea typeface="Calibri" pitchFamily="34" charset="-122"/>
                <a:cs typeface="Calibri" pitchFamily="34" charset="-120"/>
              </a:rPr>
              <a:t>Random Forest + Poisson</a:t>
            </a:r>
            <a:endParaRPr lang="en-US" sz="1150" dirty="0"/>
          </a:p>
        </p:txBody>
      </p:sp>
      <p:sp>
        <p:nvSpPr>
          <p:cNvPr id="12" name="Text 10"/>
          <p:cNvSpPr/>
          <p:nvPr/>
        </p:nvSpPr>
        <p:spPr>
          <a:xfrm>
            <a:off x="4663440" y="1965960"/>
            <a:ext cx="2926080" cy="41148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One deep neural net</a:t>
            </a:r>
            <a:endParaRPr lang="en-US" sz="1050" dirty="0"/>
          </a:p>
        </p:txBody>
      </p:sp>
      <p:sp>
        <p:nvSpPr>
          <p:cNvPr id="13" name="Text 11"/>
          <p:cNvSpPr/>
          <p:nvPr/>
        </p:nvSpPr>
        <p:spPr>
          <a:xfrm>
            <a:off x="7680960" y="1965960"/>
            <a:ext cx="4023360" cy="41148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We can explain WHY an area is High; sub-200ms response; tiny model file</a:t>
            </a:r>
            <a:endParaRPr lang="en-US" sz="1000" dirty="0"/>
          </a:p>
        </p:txBody>
      </p:sp>
      <p:sp>
        <p:nvSpPr>
          <p:cNvPr id="14" name="Text 12"/>
          <p:cNvSpPr/>
          <p:nvPr/>
        </p:nvSpPr>
        <p:spPr>
          <a:xfrm>
            <a:off x="868680" y="2560320"/>
            <a:ext cx="3703320" cy="411480"/>
          </a:xfrm>
          <a:prstGeom prst="rect">
            <a:avLst/>
          </a:prstGeom>
          <a:noFill/>
          <a:ln/>
        </p:spPr>
        <p:txBody>
          <a:bodyPr wrap="square" lIns="0" tIns="0" rIns="0" bIns="0" rtlCol="0" anchor="ctr"/>
          <a:lstStyle/>
          <a:p>
            <a:pPr marL="0" indent="0">
              <a:buNone/>
            </a:pPr>
            <a:r>
              <a:rPr lang="en-US" sz="1150" b="1" dirty="0">
                <a:solidFill>
                  <a:srgbClr val="C8F751"/>
                </a:solidFill>
                <a:latin typeface="Calibri" pitchFamily="34" charset="0"/>
                <a:ea typeface="Calibri" pitchFamily="34" charset="-122"/>
                <a:cs typeface="Calibri" pitchFamily="34" charset="-120"/>
              </a:rPr>
              <a:t>TiDB Cloud (MySQL wire)</a:t>
            </a:r>
            <a:endParaRPr lang="en-US" sz="1150" dirty="0"/>
          </a:p>
        </p:txBody>
      </p:sp>
      <p:sp>
        <p:nvSpPr>
          <p:cNvPr id="15" name="Text 13"/>
          <p:cNvSpPr/>
          <p:nvPr/>
        </p:nvSpPr>
        <p:spPr>
          <a:xfrm>
            <a:off x="4663440" y="2560320"/>
            <a:ext cx="2926080" cy="41148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PostgreSQL + PostGIS</a:t>
            </a:r>
            <a:endParaRPr lang="en-US" sz="1050" dirty="0"/>
          </a:p>
        </p:txBody>
      </p:sp>
      <p:sp>
        <p:nvSpPr>
          <p:cNvPr id="16" name="Text 14"/>
          <p:cNvSpPr/>
          <p:nvPr/>
        </p:nvSpPr>
        <p:spPr>
          <a:xfrm>
            <a:off x="7680960" y="2560320"/>
            <a:ext cx="4023360" cy="41148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Free tier; we wrote our own distance math instead of using built-in spatial functions</a:t>
            </a:r>
            <a:endParaRPr lang="en-US" sz="1000" dirty="0"/>
          </a:p>
        </p:txBody>
      </p:sp>
      <p:sp>
        <p:nvSpPr>
          <p:cNvPr id="17" name="Shape 15"/>
          <p:cNvSpPr/>
          <p:nvPr/>
        </p:nvSpPr>
        <p:spPr>
          <a:xfrm>
            <a:off x="640080" y="3063240"/>
            <a:ext cx="11064240" cy="566928"/>
          </a:xfrm>
          <a:prstGeom prst="rect">
            <a:avLst/>
          </a:prstGeom>
          <a:solidFill>
            <a:srgbClr val="121C3A"/>
          </a:solidFill>
          <a:ln w="12700">
            <a:solidFill>
              <a:srgbClr val="121C3A"/>
            </a:solidFill>
            <a:prstDash val="solid"/>
          </a:ln>
        </p:spPr>
        <p:txBody>
          <a:bodyPr/>
          <a:lstStyle/>
          <a:p>
            <a:endParaRPr lang="en-US"/>
          </a:p>
        </p:txBody>
      </p:sp>
      <p:sp>
        <p:nvSpPr>
          <p:cNvPr id="18" name="Text 16"/>
          <p:cNvSpPr/>
          <p:nvPr/>
        </p:nvSpPr>
        <p:spPr>
          <a:xfrm>
            <a:off x="868680" y="3154680"/>
            <a:ext cx="3703320" cy="411480"/>
          </a:xfrm>
          <a:prstGeom prst="rect">
            <a:avLst/>
          </a:prstGeom>
          <a:noFill/>
          <a:ln/>
        </p:spPr>
        <p:txBody>
          <a:bodyPr wrap="square" lIns="0" tIns="0" rIns="0" bIns="0" rtlCol="0" anchor="ctr"/>
          <a:lstStyle/>
          <a:p>
            <a:pPr marL="0" indent="0">
              <a:buNone/>
            </a:pPr>
            <a:r>
              <a:rPr lang="en-US" sz="1150" b="1" dirty="0">
                <a:solidFill>
                  <a:srgbClr val="C8F751"/>
                </a:solidFill>
                <a:latin typeface="Calibri" pitchFamily="34" charset="0"/>
                <a:ea typeface="Calibri" pitchFamily="34" charset="-122"/>
                <a:cs typeface="Calibri" pitchFamily="34" charset="-120"/>
              </a:rPr>
              <a:t>MD5 image fingerprint</a:t>
            </a:r>
            <a:endParaRPr lang="en-US" sz="1150" dirty="0"/>
          </a:p>
        </p:txBody>
      </p:sp>
      <p:sp>
        <p:nvSpPr>
          <p:cNvPr id="19" name="Text 17"/>
          <p:cNvSpPr/>
          <p:nvPr/>
        </p:nvSpPr>
        <p:spPr>
          <a:xfrm>
            <a:off x="4663440" y="3154680"/>
            <a:ext cx="2926080" cy="41148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Perceptual hash (pHash)</a:t>
            </a:r>
            <a:endParaRPr lang="en-US" sz="1050" dirty="0"/>
          </a:p>
        </p:txBody>
      </p:sp>
      <p:sp>
        <p:nvSpPr>
          <p:cNvPr id="20" name="Text 18"/>
          <p:cNvSpPr/>
          <p:nvPr/>
        </p:nvSpPr>
        <p:spPr>
          <a:xfrm>
            <a:off x="7680960" y="3154680"/>
            <a:ext cx="4023360" cy="41148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Bit-exact match means zero false positives on already-OCR'd FIRs</a:t>
            </a:r>
            <a:endParaRPr lang="en-US" sz="1000" dirty="0"/>
          </a:p>
        </p:txBody>
      </p:sp>
      <p:sp>
        <p:nvSpPr>
          <p:cNvPr id="21" name="Text 19"/>
          <p:cNvSpPr/>
          <p:nvPr/>
        </p:nvSpPr>
        <p:spPr>
          <a:xfrm>
            <a:off x="868680" y="3749040"/>
            <a:ext cx="3703320" cy="411480"/>
          </a:xfrm>
          <a:prstGeom prst="rect">
            <a:avLst/>
          </a:prstGeom>
          <a:noFill/>
          <a:ln/>
        </p:spPr>
        <p:txBody>
          <a:bodyPr wrap="square" lIns="0" tIns="0" rIns="0" bIns="0" rtlCol="0" anchor="ctr"/>
          <a:lstStyle/>
          <a:p>
            <a:pPr marL="0" indent="0">
              <a:buNone/>
            </a:pPr>
            <a:r>
              <a:rPr lang="en-US" sz="1150" b="1" dirty="0">
                <a:solidFill>
                  <a:srgbClr val="C8F751"/>
                </a:solidFill>
                <a:latin typeface="Calibri" pitchFamily="34" charset="0"/>
                <a:ea typeface="Calibri" pitchFamily="34" charset="-122"/>
                <a:cs typeface="Calibri" pitchFamily="34" charset="-120"/>
              </a:rPr>
              <a:t>EasyOCR primary, Tesseract fallback</a:t>
            </a:r>
            <a:endParaRPr lang="en-US" sz="1150" dirty="0"/>
          </a:p>
        </p:txBody>
      </p:sp>
      <p:sp>
        <p:nvSpPr>
          <p:cNvPr id="22" name="Text 20"/>
          <p:cNvSpPr/>
          <p:nvPr/>
        </p:nvSpPr>
        <p:spPr>
          <a:xfrm>
            <a:off x="4663440" y="3749040"/>
            <a:ext cx="2926080" cy="41148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Cloud-only OCR</a:t>
            </a:r>
            <a:endParaRPr lang="en-US" sz="1050" dirty="0"/>
          </a:p>
        </p:txBody>
      </p:sp>
      <p:sp>
        <p:nvSpPr>
          <p:cNvPr id="23" name="Text 21"/>
          <p:cNvSpPr/>
          <p:nvPr/>
        </p:nvSpPr>
        <p:spPr>
          <a:xfrm>
            <a:off x="7680960" y="3749040"/>
            <a:ext cx="4023360" cy="41148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Most FIRs never leave our server — better for bandwidth and privacy</a:t>
            </a:r>
            <a:endParaRPr lang="en-US" sz="1000" dirty="0"/>
          </a:p>
        </p:txBody>
      </p:sp>
      <p:sp>
        <p:nvSpPr>
          <p:cNvPr id="24" name="Shape 22"/>
          <p:cNvSpPr/>
          <p:nvPr/>
        </p:nvSpPr>
        <p:spPr>
          <a:xfrm>
            <a:off x="640080" y="4251960"/>
            <a:ext cx="11064240" cy="566928"/>
          </a:xfrm>
          <a:prstGeom prst="rect">
            <a:avLst/>
          </a:prstGeom>
          <a:solidFill>
            <a:srgbClr val="121C3A"/>
          </a:solidFill>
          <a:ln w="12700">
            <a:solidFill>
              <a:srgbClr val="121C3A"/>
            </a:solidFill>
            <a:prstDash val="solid"/>
          </a:ln>
        </p:spPr>
        <p:txBody>
          <a:bodyPr/>
          <a:lstStyle/>
          <a:p>
            <a:endParaRPr lang="en-US"/>
          </a:p>
        </p:txBody>
      </p:sp>
      <p:sp>
        <p:nvSpPr>
          <p:cNvPr id="25" name="Text 23"/>
          <p:cNvSpPr/>
          <p:nvPr/>
        </p:nvSpPr>
        <p:spPr>
          <a:xfrm>
            <a:off x="868680" y="4343400"/>
            <a:ext cx="3703320" cy="411480"/>
          </a:xfrm>
          <a:prstGeom prst="rect">
            <a:avLst/>
          </a:prstGeom>
          <a:noFill/>
          <a:ln/>
        </p:spPr>
        <p:txBody>
          <a:bodyPr wrap="square" lIns="0" tIns="0" rIns="0" bIns="0" rtlCol="0" anchor="ctr"/>
          <a:lstStyle/>
          <a:p>
            <a:pPr marL="0" indent="0">
              <a:buNone/>
            </a:pPr>
            <a:r>
              <a:rPr lang="en-US" sz="1150" b="1" dirty="0">
                <a:solidFill>
                  <a:srgbClr val="C8F751"/>
                </a:solidFill>
                <a:latin typeface="Calibri" pitchFamily="34" charset="0"/>
                <a:ea typeface="Calibri" pitchFamily="34" charset="-122"/>
                <a:cs typeface="Calibri" pitchFamily="34" charset="-120"/>
              </a:rPr>
              <a:t>bcrypt_sha256</a:t>
            </a:r>
            <a:endParaRPr lang="en-US" sz="1150" dirty="0"/>
          </a:p>
        </p:txBody>
      </p:sp>
      <p:sp>
        <p:nvSpPr>
          <p:cNvPr id="26" name="Text 24"/>
          <p:cNvSpPr/>
          <p:nvPr/>
        </p:nvSpPr>
        <p:spPr>
          <a:xfrm>
            <a:off x="4663440" y="4343400"/>
            <a:ext cx="2926080" cy="41148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Argon2id</a:t>
            </a:r>
            <a:endParaRPr lang="en-US" sz="1050" dirty="0"/>
          </a:p>
        </p:txBody>
      </p:sp>
      <p:sp>
        <p:nvSpPr>
          <p:cNvPr id="27" name="Text 25"/>
          <p:cNvSpPr/>
          <p:nvPr/>
        </p:nvSpPr>
        <p:spPr>
          <a:xfrm>
            <a:off x="7680960" y="4343400"/>
            <a:ext cx="4023360" cy="41148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Compatible with passlib library; safely handles long Urdu names</a:t>
            </a:r>
            <a:endParaRPr lang="en-US" sz="1000" dirty="0"/>
          </a:p>
        </p:txBody>
      </p:sp>
      <p:sp>
        <p:nvSpPr>
          <p:cNvPr id="28" name="Text 26"/>
          <p:cNvSpPr/>
          <p:nvPr/>
        </p:nvSpPr>
        <p:spPr>
          <a:xfrm>
            <a:off x="868680" y="4937760"/>
            <a:ext cx="3703320" cy="411480"/>
          </a:xfrm>
          <a:prstGeom prst="rect">
            <a:avLst/>
          </a:prstGeom>
          <a:noFill/>
          <a:ln/>
        </p:spPr>
        <p:txBody>
          <a:bodyPr wrap="square" lIns="0" tIns="0" rIns="0" bIns="0" rtlCol="0" anchor="ctr"/>
          <a:lstStyle/>
          <a:p>
            <a:pPr marL="0" indent="0">
              <a:buNone/>
            </a:pPr>
            <a:r>
              <a:rPr lang="en-US" sz="1150" b="1" dirty="0">
                <a:solidFill>
                  <a:srgbClr val="C8F751"/>
                </a:solidFill>
                <a:latin typeface="Calibri" pitchFamily="34" charset="0"/>
                <a:ea typeface="Calibri" pitchFamily="34" charset="-122"/>
                <a:cs typeface="Calibri" pitchFamily="34" charset="-120"/>
              </a:rPr>
              <a:t>VAPID Web Push</a:t>
            </a:r>
            <a:endParaRPr lang="en-US" sz="1150" dirty="0"/>
          </a:p>
        </p:txBody>
      </p:sp>
      <p:sp>
        <p:nvSpPr>
          <p:cNvPr id="29" name="Text 27"/>
          <p:cNvSpPr/>
          <p:nvPr/>
        </p:nvSpPr>
        <p:spPr>
          <a:xfrm>
            <a:off x="4663440" y="4937760"/>
            <a:ext cx="2926080" cy="41148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Twilio SMS</a:t>
            </a:r>
            <a:endParaRPr lang="en-US" sz="1050" dirty="0"/>
          </a:p>
        </p:txBody>
      </p:sp>
      <p:sp>
        <p:nvSpPr>
          <p:cNvPr id="30" name="Text 28"/>
          <p:cNvSpPr/>
          <p:nvPr/>
        </p:nvSpPr>
        <p:spPr>
          <a:xfrm>
            <a:off x="7680960" y="4937760"/>
            <a:ext cx="4023360" cy="41148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$0/month, works inside the browser, no app install needed</a:t>
            </a:r>
            <a:endParaRPr lang="en-US" sz="1000" dirty="0"/>
          </a:p>
        </p:txBody>
      </p:sp>
      <p:sp>
        <p:nvSpPr>
          <p:cNvPr id="31" name="Shape 29"/>
          <p:cNvSpPr/>
          <p:nvPr/>
        </p:nvSpPr>
        <p:spPr>
          <a:xfrm>
            <a:off x="640080" y="5440680"/>
            <a:ext cx="11064240" cy="566928"/>
          </a:xfrm>
          <a:prstGeom prst="rect">
            <a:avLst/>
          </a:prstGeom>
          <a:solidFill>
            <a:srgbClr val="121C3A"/>
          </a:solidFill>
          <a:ln w="12700">
            <a:solidFill>
              <a:srgbClr val="121C3A"/>
            </a:solidFill>
            <a:prstDash val="solid"/>
          </a:ln>
        </p:spPr>
        <p:txBody>
          <a:bodyPr/>
          <a:lstStyle/>
          <a:p>
            <a:endParaRPr lang="en-US"/>
          </a:p>
        </p:txBody>
      </p:sp>
      <p:sp>
        <p:nvSpPr>
          <p:cNvPr id="32" name="Text 30"/>
          <p:cNvSpPr/>
          <p:nvPr/>
        </p:nvSpPr>
        <p:spPr>
          <a:xfrm>
            <a:off x="868680" y="5532120"/>
            <a:ext cx="3703320" cy="411480"/>
          </a:xfrm>
          <a:prstGeom prst="rect">
            <a:avLst/>
          </a:prstGeom>
          <a:noFill/>
          <a:ln/>
        </p:spPr>
        <p:txBody>
          <a:bodyPr wrap="square" lIns="0" tIns="0" rIns="0" bIns="0" rtlCol="0" anchor="ctr"/>
          <a:lstStyle/>
          <a:p>
            <a:pPr marL="0" indent="0">
              <a:buNone/>
            </a:pPr>
            <a:r>
              <a:rPr lang="en-US" sz="1150" b="1" dirty="0">
                <a:solidFill>
                  <a:srgbClr val="C8F751"/>
                </a:solidFill>
                <a:latin typeface="Calibri" pitchFamily="34" charset="0"/>
                <a:ea typeface="Calibri" pitchFamily="34" charset="-122"/>
                <a:cs typeface="Calibri" pitchFamily="34" charset="-120"/>
              </a:rPr>
              <a:t>35/15/30/10/10 fixed weights</a:t>
            </a:r>
            <a:endParaRPr lang="en-US" sz="1150" dirty="0"/>
          </a:p>
        </p:txBody>
      </p:sp>
      <p:sp>
        <p:nvSpPr>
          <p:cNvPr id="33" name="Text 31"/>
          <p:cNvSpPr/>
          <p:nvPr/>
        </p:nvSpPr>
        <p:spPr>
          <a:xfrm>
            <a:off x="4663440" y="5532120"/>
            <a:ext cx="2926080" cy="411480"/>
          </a:xfrm>
          <a:prstGeom prst="rect">
            <a:avLst/>
          </a:prstGeom>
          <a:noFill/>
          <a:ln/>
        </p:spPr>
        <p:txBody>
          <a:bodyPr wrap="square" lIns="0" tIns="0" rIns="0" bIns="0" rtlCol="0" anchor="ctr"/>
          <a:lstStyle/>
          <a:p>
            <a:pPr marL="0" indent="0">
              <a:buNone/>
            </a:pPr>
            <a:r>
              <a:rPr lang="en-US" sz="1050" i="1" dirty="0">
                <a:solidFill>
                  <a:srgbClr val="9AA8C7"/>
                </a:solidFill>
                <a:latin typeface="Calibri" pitchFamily="34" charset="0"/>
                <a:ea typeface="Calibri" pitchFamily="34" charset="-122"/>
                <a:cs typeface="Calibri" pitchFamily="34" charset="-120"/>
              </a:rPr>
              <a:t>Pure ML output</a:t>
            </a:r>
            <a:endParaRPr lang="en-US" sz="1050" dirty="0"/>
          </a:p>
        </p:txBody>
      </p:sp>
      <p:sp>
        <p:nvSpPr>
          <p:cNvPr id="34" name="Text 32"/>
          <p:cNvSpPr/>
          <p:nvPr/>
        </p:nvSpPr>
        <p:spPr>
          <a:xfrm>
            <a:off x="7680960" y="5532120"/>
            <a:ext cx="4023360" cy="41148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Domain-tuned — lets us answer 'why is this area High?' in plain words</a:t>
            </a:r>
            <a:endParaRPr lang="en-US" sz="1000" dirty="0"/>
          </a:p>
        </p:txBody>
      </p:sp>
      <p:sp>
        <p:nvSpPr>
          <p:cNvPr id="35" name="Text 33"/>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36" name="Text 34"/>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26 / 28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457200" y="411480"/>
            <a:ext cx="73152" cy="50292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658368" y="365760"/>
            <a:ext cx="10515600" cy="411480"/>
          </a:xfrm>
          <a:prstGeom prst="rect">
            <a:avLst/>
          </a:prstGeom>
          <a:noFill/>
          <a:ln/>
        </p:spPr>
        <p:txBody>
          <a:bodyPr wrap="square" lIns="0" tIns="0" rIns="0" bIns="0" rtlCol="0" anchor="ctr"/>
          <a:lstStyle/>
          <a:p>
            <a:pPr marL="0" indent="0">
              <a:buNone/>
            </a:pPr>
            <a:r>
              <a:rPr lang="en-US" sz="1800" b="1" kern="0" spc="400" dirty="0">
                <a:solidFill>
                  <a:srgbClr val="FFFFFF"/>
                </a:solidFill>
                <a:latin typeface="Calibri" pitchFamily="34" charset="0"/>
                <a:ea typeface="Calibri" pitchFamily="34" charset="-122"/>
                <a:cs typeface="Calibri" pitchFamily="34" charset="-120"/>
              </a:rPr>
              <a:t>METRICS &amp; EVALUATION</a:t>
            </a:r>
            <a:endParaRPr lang="en-US" sz="1800" dirty="0"/>
          </a:p>
        </p:txBody>
      </p:sp>
      <p:sp>
        <p:nvSpPr>
          <p:cNvPr id="4" name="Text 2"/>
          <p:cNvSpPr/>
          <p:nvPr/>
        </p:nvSpPr>
        <p:spPr>
          <a:xfrm>
            <a:off x="658368" y="777240"/>
            <a:ext cx="10515600" cy="320040"/>
          </a:xfrm>
          <a:prstGeom prst="rect">
            <a:avLst/>
          </a:prstGeom>
          <a:noFill/>
          <a:ln/>
        </p:spPr>
        <p:txBody>
          <a:bodyPr wrap="square" lIns="0" tIns="0" rIns="0" bIns="0" rtlCol="0" anchor="ctr"/>
          <a:lstStyle/>
          <a:p>
            <a:pPr marL="0" indent="0">
              <a:buNone/>
            </a:pPr>
            <a:r>
              <a:rPr lang="en-US" sz="1200" i="1" dirty="0">
                <a:solidFill>
                  <a:srgbClr val="9AA8C7"/>
                </a:solidFill>
                <a:latin typeface="Calibri" pitchFamily="34" charset="0"/>
                <a:ea typeface="Calibri" pitchFamily="34" charset="-122"/>
                <a:cs typeface="Calibri" pitchFamily="34" charset="-120"/>
              </a:rPr>
              <a:t>What the system actually achieves on real data</a:t>
            </a:r>
            <a:endParaRPr lang="en-US" sz="1200" dirty="0"/>
          </a:p>
        </p:txBody>
      </p:sp>
      <p:sp>
        <p:nvSpPr>
          <p:cNvPr id="5" name="Text 3"/>
          <p:cNvSpPr/>
          <p:nvPr/>
        </p:nvSpPr>
        <p:spPr>
          <a:xfrm>
            <a:off x="640080" y="1371600"/>
            <a:ext cx="5943600" cy="320040"/>
          </a:xfrm>
          <a:prstGeom prst="rect">
            <a:avLst/>
          </a:prstGeom>
          <a:noFill/>
          <a:ln/>
        </p:spPr>
        <p:txBody>
          <a:bodyPr wrap="square" lIns="0" tIns="0" rIns="0" bIns="0" rtlCol="0" anchor="ctr"/>
          <a:lstStyle/>
          <a:p>
            <a:pPr marL="0" indent="0">
              <a:buNone/>
            </a:pPr>
            <a:r>
              <a:rPr lang="en-US" sz="1100" b="1" kern="0" spc="300" dirty="0">
                <a:solidFill>
                  <a:srgbClr val="C8F751"/>
                </a:solidFill>
                <a:latin typeface="Calibri" pitchFamily="34" charset="0"/>
                <a:ea typeface="Calibri" pitchFamily="34" charset="-122"/>
                <a:cs typeface="Calibri" pitchFamily="34" charset="-120"/>
              </a:rPr>
              <a:t>OCR FIELD-LEVEL ACCURACY  ·  n = 120 FIRs</a:t>
            </a:r>
            <a:endParaRPr lang="en-US" sz="1100" dirty="0"/>
          </a:p>
        </p:txBody>
      </p:sp>
      <p:graphicFrame>
        <p:nvGraphicFramePr>
          <p:cNvPr id="6" name="Chart 0"/>
          <p:cNvGraphicFramePr/>
          <p:nvPr/>
        </p:nvGraphicFramePr>
        <p:xfrm>
          <a:off x="640080" y="1691640"/>
          <a:ext cx="57607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583680" y="1371600"/>
            <a:ext cx="5120640" cy="1143000"/>
          </a:xfrm>
          <a:prstGeom prst="rect">
            <a:avLst/>
          </a:prstGeom>
          <a:solidFill>
            <a:srgbClr val="121C3A"/>
          </a:solidFill>
          <a:ln w="9525">
            <a:solidFill>
              <a:srgbClr val="2A3A6E"/>
            </a:solidFill>
            <a:prstDash val="solid"/>
          </a:ln>
        </p:spPr>
        <p:txBody>
          <a:bodyPr/>
          <a:lstStyle/>
          <a:p>
            <a:endParaRPr lang="en-US"/>
          </a:p>
        </p:txBody>
      </p:sp>
      <p:sp>
        <p:nvSpPr>
          <p:cNvPr id="8" name="Shape 5"/>
          <p:cNvSpPr/>
          <p:nvPr/>
        </p:nvSpPr>
        <p:spPr>
          <a:xfrm>
            <a:off x="6583680" y="1371600"/>
            <a:ext cx="64008" cy="1143000"/>
          </a:xfrm>
          <a:prstGeom prst="rect">
            <a:avLst/>
          </a:prstGeom>
          <a:solidFill>
            <a:srgbClr val="C8F751"/>
          </a:solidFill>
          <a:ln w="12700">
            <a:solidFill>
              <a:srgbClr val="C8F751"/>
            </a:solidFill>
            <a:prstDash val="solid"/>
          </a:ln>
        </p:spPr>
        <p:txBody>
          <a:bodyPr/>
          <a:lstStyle/>
          <a:p>
            <a:endParaRPr lang="en-US"/>
          </a:p>
        </p:txBody>
      </p:sp>
      <p:sp>
        <p:nvSpPr>
          <p:cNvPr id="9" name="Text 6"/>
          <p:cNvSpPr/>
          <p:nvPr/>
        </p:nvSpPr>
        <p:spPr>
          <a:xfrm>
            <a:off x="6766560" y="1508760"/>
            <a:ext cx="1737360" cy="777240"/>
          </a:xfrm>
          <a:prstGeom prst="rect">
            <a:avLst/>
          </a:prstGeom>
          <a:noFill/>
          <a:ln/>
        </p:spPr>
        <p:txBody>
          <a:bodyPr wrap="square" lIns="0" tIns="0" rIns="0" bIns="0" rtlCol="0" anchor="ctr"/>
          <a:lstStyle/>
          <a:p>
            <a:pPr marL="0" indent="0">
              <a:buNone/>
            </a:pPr>
            <a:r>
              <a:rPr lang="en-US" sz="3200" b="1" dirty="0">
                <a:solidFill>
                  <a:srgbClr val="C8F751"/>
                </a:solidFill>
                <a:latin typeface="Calibri" pitchFamily="34" charset="0"/>
                <a:ea typeface="Calibri" pitchFamily="34" charset="-122"/>
                <a:cs typeface="Calibri" pitchFamily="34" charset="-120"/>
              </a:rPr>
              <a:t>100%</a:t>
            </a:r>
            <a:endParaRPr lang="en-US" sz="3200" dirty="0"/>
          </a:p>
        </p:txBody>
      </p:sp>
      <p:sp>
        <p:nvSpPr>
          <p:cNvPr id="10" name="Text 7"/>
          <p:cNvSpPr/>
          <p:nvPr/>
        </p:nvSpPr>
        <p:spPr>
          <a:xfrm>
            <a:off x="8595360" y="1554480"/>
            <a:ext cx="30175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Cache hit rate</a:t>
            </a:r>
            <a:endParaRPr lang="en-US" sz="1300" dirty="0"/>
          </a:p>
        </p:txBody>
      </p:sp>
      <p:sp>
        <p:nvSpPr>
          <p:cNvPr id="11" name="Text 8"/>
          <p:cNvSpPr/>
          <p:nvPr/>
        </p:nvSpPr>
        <p:spPr>
          <a:xfrm>
            <a:off x="8595360" y="1938528"/>
            <a:ext cx="3017520" cy="50292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On re-uploads of the same FIR (by construction)</a:t>
            </a:r>
            <a:endParaRPr lang="en-US" sz="1000" dirty="0"/>
          </a:p>
        </p:txBody>
      </p:sp>
      <p:sp>
        <p:nvSpPr>
          <p:cNvPr id="12" name="Shape 9"/>
          <p:cNvSpPr/>
          <p:nvPr/>
        </p:nvSpPr>
        <p:spPr>
          <a:xfrm>
            <a:off x="6583680" y="2651760"/>
            <a:ext cx="5120640" cy="1143000"/>
          </a:xfrm>
          <a:prstGeom prst="rect">
            <a:avLst/>
          </a:prstGeom>
          <a:solidFill>
            <a:srgbClr val="121C3A"/>
          </a:solidFill>
          <a:ln w="9525">
            <a:solidFill>
              <a:srgbClr val="2A3A6E"/>
            </a:solidFill>
            <a:prstDash val="solid"/>
          </a:ln>
        </p:spPr>
        <p:txBody>
          <a:bodyPr/>
          <a:lstStyle/>
          <a:p>
            <a:endParaRPr lang="en-US"/>
          </a:p>
        </p:txBody>
      </p:sp>
      <p:sp>
        <p:nvSpPr>
          <p:cNvPr id="13" name="Shape 10"/>
          <p:cNvSpPr/>
          <p:nvPr/>
        </p:nvSpPr>
        <p:spPr>
          <a:xfrm>
            <a:off x="6583680" y="2651760"/>
            <a:ext cx="64008" cy="1143000"/>
          </a:xfrm>
          <a:prstGeom prst="rect">
            <a:avLst/>
          </a:prstGeom>
          <a:solidFill>
            <a:srgbClr val="C8F751"/>
          </a:solidFill>
          <a:ln w="12700">
            <a:solidFill>
              <a:srgbClr val="C8F751"/>
            </a:solidFill>
            <a:prstDash val="solid"/>
          </a:ln>
        </p:spPr>
        <p:txBody>
          <a:bodyPr/>
          <a:lstStyle/>
          <a:p>
            <a:endParaRPr lang="en-US"/>
          </a:p>
        </p:txBody>
      </p:sp>
      <p:sp>
        <p:nvSpPr>
          <p:cNvPr id="14" name="Text 11"/>
          <p:cNvSpPr/>
          <p:nvPr/>
        </p:nvSpPr>
        <p:spPr>
          <a:xfrm>
            <a:off x="6766560" y="2788920"/>
            <a:ext cx="1737360" cy="777240"/>
          </a:xfrm>
          <a:prstGeom prst="rect">
            <a:avLst/>
          </a:prstGeom>
          <a:noFill/>
          <a:ln/>
        </p:spPr>
        <p:txBody>
          <a:bodyPr wrap="square" lIns="0" tIns="0" rIns="0" bIns="0" rtlCol="0" anchor="ctr"/>
          <a:lstStyle/>
          <a:p>
            <a:pPr marL="0" indent="0">
              <a:buNone/>
            </a:pPr>
            <a:r>
              <a:rPr lang="en-US" sz="3200" b="1" dirty="0">
                <a:solidFill>
                  <a:srgbClr val="C8F751"/>
                </a:solidFill>
                <a:latin typeface="Calibri" pitchFamily="34" charset="0"/>
                <a:ea typeface="Calibri" pitchFamily="34" charset="-122"/>
                <a:cs typeface="Calibri" pitchFamily="34" charset="-120"/>
              </a:rPr>
              <a:t>≈97%</a:t>
            </a:r>
            <a:endParaRPr lang="en-US" sz="3200" dirty="0"/>
          </a:p>
        </p:txBody>
      </p:sp>
      <p:sp>
        <p:nvSpPr>
          <p:cNvPr id="15" name="Text 12"/>
          <p:cNvSpPr/>
          <p:nvPr/>
        </p:nvSpPr>
        <p:spPr>
          <a:xfrm>
            <a:off x="8595360" y="2834640"/>
            <a:ext cx="30175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Push delivery success</a:t>
            </a:r>
            <a:endParaRPr lang="en-US" sz="1300" dirty="0"/>
          </a:p>
        </p:txBody>
      </p:sp>
      <p:sp>
        <p:nvSpPr>
          <p:cNvPr id="16" name="Text 13"/>
          <p:cNvSpPr/>
          <p:nvPr/>
        </p:nvSpPr>
        <p:spPr>
          <a:xfrm>
            <a:off x="8595360" y="3218688"/>
            <a:ext cx="3017520" cy="50292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≈3% stale subscriptions auto-pruned</a:t>
            </a:r>
            <a:endParaRPr lang="en-US" sz="1000" dirty="0"/>
          </a:p>
        </p:txBody>
      </p:sp>
      <p:sp>
        <p:nvSpPr>
          <p:cNvPr id="17" name="Shape 14"/>
          <p:cNvSpPr/>
          <p:nvPr/>
        </p:nvSpPr>
        <p:spPr>
          <a:xfrm>
            <a:off x="6583680" y="3931920"/>
            <a:ext cx="5120640" cy="1143000"/>
          </a:xfrm>
          <a:prstGeom prst="rect">
            <a:avLst/>
          </a:prstGeom>
          <a:solidFill>
            <a:srgbClr val="121C3A"/>
          </a:solidFill>
          <a:ln w="9525">
            <a:solidFill>
              <a:srgbClr val="2A3A6E"/>
            </a:solidFill>
            <a:prstDash val="solid"/>
          </a:ln>
        </p:spPr>
        <p:txBody>
          <a:bodyPr/>
          <a:lstStyle/>
          <a:p>
            <a:endParaRPr lang="en-US"/>
          </a:p>
        </p:txBody>
      </p:sp>
      <p:sp>
        <p:nvSpPr>
          <p:cNvPr id="18" name="Shape 15"/>
          <p:cNvSpPr/>
          <p:nvPr/>
        </p:nvSpPr>
        <p:spPr>
          <a:xfrm>
            <a:off x="6583680" y="3931920"/>
            <a:ext cx="64008" cy="1143000"/>
          </a:xfrm>
          <a:prstGeom prst="rect">
            <a:avLst/>
          </a:prstGeom>
          <a:solidFill>
            <a:srgbClr val="C8F751"/>
          </a:solidFill>
          <a:ln w="12700">
            <a:solidFill>
              <a:srgbClr val="C8F751"/>
            </a:solidFill>
            <a:prstDash val="solid"/>
          </a:ln>
        </p:spPr>
        <p:txBody>
          <a:bodyPr/>
          <a:lstStyle/>
          <a:p>
            <a:endParaRPr lang="en-US"/>
          </a:p>
        </p:txBody>
      </p:sp>
      <p:sp>
        <p:nvSpPr>
          <p:cNvPr id="19" name="Text 16"/>
          <p:cNvSpPr/>
          <p:nvPr/>
        </p:nvSpPr>
        <p:spPr>
          <a:xfrm>
            <a:off x="6766560" y="4069080"/>
            <a:ext cx="1737360" cy="777240"/>
          </a:xfrm>
          <a:prstGeom prst="rect">
            <a:avLst/>
          </a:prstGeom>
          <a:noFill/>
          <a:ln/>
        </p:spPr>
        <p:txBody>
          <a:bodyPr wrap="square" lIns="0" tIns="0" rIns="0" bIns="0" rtlCol="0" anchor="ctr"/>
          <a:lstStyle/>
          <a:p>
            <a:pPr marL="0" indent="0">
              <a:buNone/>
            </a:pPr>
            <a:r>
              <a:rPr lang="en-US" sz="3200" b="1" dirty="0">
                <a:solidFill>
                  <a:srgbClr val="F5A524"/>
                </a:solidFill>
                <a:latin typeface="Calibri" pitchFamily="34" charset="0"/>
                <a:ea typeface="Calibri" pitchFamily="34" charset="-122"/>
                <a:cs typeface="Calibri" pitchFamily="34" charset="-120"/>
              </a:rPr>
              <a:t>5-fold</a:t>
            </a:r>
            <a:endParaRPr lang="en-US" sz="3200" dirty="0"/>
          </a:p>
        </p:txBody>
      </p:sp>
      <p:sp>
        <p:nvSpPr>
          <p:cNvPr id="20" name="Text 17"/>
          <p:cNvSpPr/>
          <p:nvPr/>
        </p:nvSpPr>
        <p:spPr>
          <a:xfrm>
            <a:off x="8595360" y="4114800"/>
            <a:ext cx="30175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Cross-validation</a:t>
            </a:r>
            <a:endParaRPr lang="en-US" sz="1300" dirty="0"/>
          </a:p>
        </p:txBody>
      </p:sp>
      <p:sp>
        <p:nvSpPr>
          <p:cNvPr id="21" name="Text 18"/>
          <p:cNvSpPr/>
          <p:nvPr/>
        </p:nvSpPr>
        <p:spPr>
          <a:xfrm>
            <a:off x="8595360" y="4498848"/>
            <a:ext cx="3017520" cy="50292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StratifiedKFold protects skewed classes</a:t>
            </a:r>
            <a:endParaRPr lang="en-US" sz="1000" dirty="0"/>
          </a:p>
        </p:txBody>
      </p:sp>
      <p:sp>
        <p:nvSpPr>
          <p:cNvPr id="22" name="Shape 19"/>
          <p:cNvSpPr/>
          <p:nvPr/>
        </p:nvSpPr>
        <p:spPr>
          <a:xfrm>
            <a:off x="6583680" y="5212080"/>
            <a:ext cx="5120640" cy="1143000"/>
          </a:xfrm>
          <a:prstGeom prst="rect">
            <a:avLst/>
          </a:prstGeom>
          <a:solidFill>
            <a:srgbClr val="121C3A"/>
          </a:solidFill>
          <a:ln w="9525">
            <a:solidFill>
              <a:srgbClr val="2A3A6E"/>
            </a:solidFill>
            <a:prstDash val="solid"/>
          </a:ln>
        </p:spPr>
        <p:txBody>
          <a:bodyPr/>
          <a:lstStyle/>
          <a:p>
            <a:endParaRPr lang="en-US"/>
          </a:p>
        </p:txBody>
      </p:sp>
      <p:sp>
        <p:nvSpPr>
          <p:cNvPr id="23" name="Shape 20"/>
          <p:cNvSpPr/>
          <p:nvPr/>
        </p:nvSpPr>
        <p:spPr>
          <a:xfrm>
            <a:off x="6583680" y="5212080"/>
            <a:ext cx="64008" cy="1143000"/>
          </a:xfrm>
          <a:prstGeom prst="rect">
            <a:avLst/>
          </a:prstGeom>
          <a:solidFill>
            <a:srgbClr val="C8F751"/>
          </a:solidFill>
          <a:ln w="12700">
            <a:solidFill>
              <a:srgbClr val="C8F751"/>
            </a:solidFill>
            <a:prstDash val="solid"/>
          </a:ln>
        </p:spPr>
        <p:txBody>
          <a:bodyPr/>
          <a:lstStyle/>
          <a:p>
            <a:endParaRPr lang="en-US"/>
          </a:p>
        </p:txBody>
      </p:sp>
      <p:sp>
        <p:nvSpPr>
          <p:cNvPr id="24" name="Text 21"/>
          <p:cNvSpPr/>
          <p:nvPr/>
        </p:nvSpPr>
        <p:spPr>
          <a:xfrm>
            <a:off x="6766560" y="5349240"/>
            <a:ext cx="1737360" cy="777240"/>
          </a:xfrm>
          <a:prstGeom prst="rect">
            <a:avLst/>
          </a:prstGeom>
          <a:noFill/>
          <a:ln/>
        </p:spPr>
        <p:txBody>
          <a:bodyPr wrap="square" lIns="0" tIns="0" rIns="0" bIns="0" rtlCol="0" anchor="ctr"/>
          <a:lstStyle/>
          <a:p>
            <a:pPr marL="0" indent="0">
              <a:buNone/>
            </a:pPr>
            <a:r>
              <a:rPr lang="en-US" sz="3200" b="1" dirty="0">
                <a:solidFill>
                  <a:srgbClr val="F5A524"/>
                </a:solidFill>
                <a:latin typeface="Calibri" pitchFamily="34" charset="0"/>
                <a:ea typeface="Calibri" pitchFamily="34" charset="-122"/>
                <a:cs typeface="Calibri" pitchFamily="34" charset="-120"/>
              </a:rPr>
              <a:t>120ms</a:t>
            </a:r>
            <a:endParaRPr lang="en-US" sz="3200" dirty="0"/>
          </a:p>
        </p:txBody>
      </p:sp>
      <p:sp>
        <p:nvSpPr>
          <p:cNvPr id="25" name="Text 22"/>
          <p:cNvSpPr/>
          <p:nvPr/>
        </p:nvSpPr>
        <p:spPr>
          <a:xfrm>
            <a:off x="8595360" y="5394960"/>
            <a:ext cx="30175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Median predict latency</a:t>
            </a:r>
            <a:endParaRPr lang="en-US" sz="1300" dirty="0"/>
          </a:p>
        </p:txBody>
      </p:sp>
      <p:sp>
        <p:nvSpPr>
          <p:cNvPr id="26" name="Text 23"/>
          <p:cNvSpPr/>
          <p:nvPr/>
        </p:nvSpPr>
        <p:spPr>
          <a:xfrm>
            <a:off x="8595360" y="5779008"/>
            <a:ext cx="3017520" cy="502920"/>
          </a:xfrm>
          <a:prstGeom prst="rect">
            <a:avLst/>
          </a:prstGeom>
          <a:noFill/>
          <a:ln/>
        </p:spPr>
        <p:txBody>
          <a:bodyPr wrap="square" lIns="0" tIns="0" rIns="0" bIns="0" rtlCol="0" anchor="ctr"/>
          <a:lstStyle/>
          <a:p>
            <a:pPr marL="0" indent="0">
              <a:buNone/>
            </a:pPr>
            <a:r>
              <a:rPr lang="en-US" sz="1000" i="1" dirty="0">
                <a:solidFill>
                  <a:srgbClr val="F4E9D8"/>
                </a:solidFill>
                <a:latin typeface="Calibri" pitchFamily="34" charset="0"/>
                <a:ea typeface="Calibri" pitchFamily="34" charset="-122"/>
                <a:cs typeface="Calibri" pitchFamily="34" charset="-120"/>
              </a:rPr>
              <a:t>p95 below 480ms even on a cold worker</a:t>
            </a:r>
            <a:endParaRPr lang="en-US" sz="1000" dirty="0"/>
          </a:p>
        </p:txBody>
      </p:sp>
      <p:sp>
        <p:nvSpPr>
          <p:cNvPr id="27" name="Text 24"/>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AA8C7"/>
                </a:solidFill>
                <a:latin typeface="Calibri" pitchFamily="34" charset="0"/>
                <a:ea typeface="Calibri" pitchFamily="34" charset="-122"/>
                <a:cs typeface="Calibri" pitchFamily="34" charset="-120"/>
              </a:rPr>
              <a:t>SafeVision  ·  FYP 2025–26  ·  UET Lahore</a:t>
            </a:r>
            <a:endParaRPr lang="en-US" sz="900" dirty="0"/>
          </a:p>
        </p:txBody>
      </p:sp>
      <p:sp>
        <p:nvSpPr>
          <p:cNvPr id="28" name="Text 25"/>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900" dirty="0">
                <a:solidFill>
                  <a:srgbClr val="C8F751"/>
                </a:solidFill>
                <a:latin typeface="Calibri" pitchFamily="34" charset="0"/>
                <a:ea typeface="Calibri" pitchFamily="34" charset="-122"/>
                <a:cs typeface="Calibri" pitchFamily="34" charset="-120"/>
              </a:rPr>
              <a:t>27 / 28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8"/>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C8F751"/>
          </a:solidFill>
          <a:ln w="12700">
            <a:solidFill>
              <a:srgbClr val="C8F751"/>
            </a:solidFill>
            <a:prstDash val="solid"/>
          </a:ln>
        </p:spPr>
        <p:txBody>
          <a:bodyPr/>
          <a:lstStyle/>
          <a:p>
            <a:endParaRPr lang="en-US"/>
          </a:p>
        </p:txBody>
      </p:sp>
      <p:sp>
        <p:nvSpPr>
          <p:cNvPr id="3" name="Text 1"/>
          <p:cNvSpPr/>
          <p:nvPr/>
        </p:nvSpPr>
        <p:spPr>
          <a:xfrm>
            <a:off x="731520" y="502920"/>
            <a:ext cx="9144000" cy="365760"/>
          </a:xfrm>
          <a:prstGeom prst="rect">
            <a:avLst/>
          </a:prstGeom>
          <a:noFill/>
          <a:ln/>
        </p:spPr>
        <p:txBody>
          <a:bodyPr wrap="square" lIns="0" tIns="0" rIns="0" bIns="0" rtlCol="0" anchor="ctr"/>
          <a:lstStyle/>
          <a:p>
            <a:pPr marL="0" indent="0">
              <a:buNone/>
            </a:pPr>
            <a:r>
              <a:rPr lang="en-US" sz="1200" b="1" kern="0" spc="600" dirty="0">
                <a:solidFill>
                  <a:srgbClr val="C8F751"/>
                </a:solidFill>
                <a:latin typeface="Calibri" pitchFamily="34" charset="0"/>
                <a:ea typeface="Calibri" pitchFamily="34" charset="-122"/>
                <a:cs typeface="Calibri" pitchFamily="34" charset="-120"/>
              </a:rPr>
              <a:t>WHAT'S NEXT</a:t>
            </a:r>
            <a:endParaRPr lang="en-US" sz="1200" dirty="0"/>
          </a:p>
        </p:txBody>
      </p:sp>
      <p:sp>
        <p:nvSpPr>
          <p:cNvPr id="4" name="Text 2"/>
          <p:cNvSpPr/>
          <p:nvPr/>
        </p:nvSpPr>
        <p:spPr>
          <a:xfrm>
            <a:off x="731520" y="868680"/>
            <a:ext cx="10972800" cy="77724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Future Work &amp; Thank You</a:t>
            </a:r>
            <a:endParaRPr lang="en-US" sz="3800" dirty="0"/>
          </a:p>
        </p:txBody>
      </p:sp>
      <p:sp>
        <p:nvSpPr>
          <p:cNvPr id="5" name="Shape 3"/>
          <p:cNvSpPr/>
          <p:nvPr/>
        </p:nvSpPr>
        <p:spPr>
          <a:xfrm>
            <a:off x="731520" y="1783080"/>
            <a:ext cx="3611880" cy="960120"/>
          </a:xfrm>
          <a:prstGeom prst="rect">
            <a:avLst/>
          </a:prstGeom>
          <a:solidFill>
            <a:srgbClr val="121C3A"/>
          </a:solidFill>
          <a:ln w="9525">
            <a:solidFill>
              <a:srgbClr val="2A3A6E"/>
            </a:solidFill>
            <a:prstDash val="solid"/>
          </a:ln>
        </p:spPr>
        <p:txBody>
          <a:bodyPr/>
          <a:lstStyle/>
          <a:p>
            <a:endParaRPr lang="en-US"/>
          </a:p>
        </p:txBody>
      </p:sp>
      <p:sp>
        <p:nvSpPr>
          <p:cNvPr id="6" name="Shape 4"/>
          <p:cNvSpPr/>
          <p:nvPr/>
        </p:nvSpPr>
        <p:spPr>
          <a:xfrm>
            <a:off x="731520" y="1783080"/>
            <a:ext cx="64008" cy="960120"/>
          </a:xfrm>
          <a:prstGeom prst="rect">
            <a:avLst/>
          </a:prstGeom>
          <a:solidFill>
            <a:srgbClr val="C8F751"/>
          </a:solidFill>
          <a:ln w="12700">
            <a:solidFill>
              <a:srgbClr val="C8F751"/>
            </a:solidFill>
            <a:prstDash val="solid"/>
          </a:ln>
        </p:spPr>
        <p:txBody>
          <a:bodyPr/>
          <a:lstStyle/>
          <a:p>
            <a:endParaRPr lang="en-US"/>
          </a:p>
        </p:txBody>
      </p:sp>
      <p:sp>
        <p:nvSpPr>
          <p:cNvPr id="7" name="Text 5"/>
          <p:cNvSpPr/>
          <p:nvPr/>
        </p:nvSpPr>
        <p:spPr>
          <a:xfrm>
            <a:off x="896112" y="1874520"/>
            <a:ext cx="3383280" cy="320040"/>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Self-hosted Photon</a:t>
            </a:r>
            <a:endParaRPr lang="en-US" sz="1200" dirty="0"/>
          </a:p>
        </p:txBody>
      </p:sp>
      <p:sp>
        <p:nvSpPr>
          <p:cNvPr id="8" name="Text 6"/>
          <p:cNvSpPr/>
          <p:nvPr/>
        </p:nvSpPr>
        <p:spPr>
          <a:xfrm>
            <a:off x="896112" y="2194560"/>
            <a:ext cx="338328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Replace Nominatim to remove the 1-second rate-limit on geocoding.</a:t>
            </a:r>
            <a:endParaRPr lang="en-US" sz="1000" dirty="0"/>
          </a:p>
        </p:txBody>
      </p:sp>
      <p:sp>
        <p:nvSpPr>
          <p:cNvPr id="9" name="Shape 7"/>
          <p:cNvSpPr/>
          <p:nvPr/>
        </p:nvSpPr>
        <p:spPr>
          <a:xfrm>
            <a:off x="4480560" y="1783080"/>
            <a:ext cx="3611880" cy="960120"/>
          </a:xfrm>
          <a:prstGeom prst="rect">
            <a:avLst/>
          </a:prstGeom>
          <a:solidFill>
            <a:srgbClr val="121C3A"/>
          </a:solidFill>
          <a:ln w="9525">
            <a:solidFill>
              <a:srgbClr val="2A3A6E"/>
            </a:solidFill>
            <a:prstDash val="solid"/>
          </a:ln>
        </p:spPr>
        <p:txBody>
          <a:bodyPr/>
          <a:lstStyle/>
          <a:p>
            <a:endParaRPr lang="en-US"/>
          </a:p>
        </p:txBody>
      </p:sp>
      <p:sp>
        <p:nvSpPr>
          <p:cNvPr id="10" name="Shape 8"/>
          <p:cNvSpPr/>
          <p:nvPr/>
        </p:nvSpPr>
        <p:spPr>
          <a:xfrm>
            <a:off x="4480560" y="1783080"/>
            <a:ext cx="64008" cy="960120"/>
          </a:xfrm>
          <a:prstGeom prst="rect">
            <a:avLst/>
          </a:prstGeom>
          <a:solidFill>
            <a:srgbClr val="C8F751"/>
          </a:solidFill>
          <a:ln w="12700">
            <a:solidFill>
              <a:srgbClr val="C8F751"/>
            </a:solidFill>
            <a:prstDash val="solid"/>
          </a:ln>
        </p:spPr>
        <p:txBody>
          <a:bodyPr/>
          <a:lstStyle/>
          <a:p>
            <a:endParaRPr lang="en-US"/>
          </a:p>
        </p:txBody>
      </p:sp>
      <p:sp>
        <p:nvSpPr>
          <p:cNvPr id="11" name="Text 9"/>
          <p:cNvSpPr/>
          <p:nvPr/>
        </p:nvSpPr>
        <p:spPr>
          <a:xfrm>
            <a:off x="4645152" y="1874520"/>
            <a:ext cx="3383280" cy="320040"/>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DBSCAN Hotspot Mining</a:t>
            </a:r>
            <a:endParaRPr lang="en-US" sz="1200" dirty="0"/>
          </a:p>
        </p:txBody>
      </p:sp>
      <p:sp>
        <p:nvSpPr>
          <p:cNvPr id="12" name="Text 10"/>
          <p:cNvSpPr/>
          <p:nvPr/>
        </p:nvSpPr>
        <p:spPr>
          <a:xfrm>
            <a:off x="4645152" y="2194560"/>
            <a:ext cx="338328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Find emerging hotspots before they cross the High threshold.</a:t>
            </a:r>
            <a:endParaRPr lang="en-US" sz="1000" dirty="0"/>
          </a:p>
        </p:txBody>
      </p:sp>
      <p:sp>
        <p:nvSpPr>
          <p:cNvPr id="13" name="Shape 11"/>
          <p:cNvSpPr/>
          <p:nvPr/>
        </p:nvSpPr>
        <p:spPr>
          <a:xfrm>
            <a:off x="8229600" y="1783080"/>
            <a:ext cx="3611880" cy="960120"/>
          </a:xfrm>
          <a:prstGeom prst="rect">
            <a:avLst/>
          </a:prstGeom>
          <a:solidFill>
            <a:srgbClr val="121C3A"/>
          </a:solidFill>
          <a:ln w="9525">
            <a:solidFill>
              <a:srgbClr val="2A3A6E"/>
            </a:solidFill>
            <a:prstDash val="solid"/>
          </a:ln>
        </p:spPr>
        <p:txBody>
          <a:bodyPr/>
          <a:lstStyle/>
          <a:p>
            <a:endParaRPr lang="en-US"/>
          </a:p>
        </p:txBody>
      </p:sp>
      <p:sp>
        <p:nvSpPr>
          <p:cNvPr id="14" name="Shape 12"/>
          <p:cNvSpPr/>
          <p:nvPr/>
        </p:nvSpPr>
        <p:spPr>
          <a:xfrm>
            <a:off x="8229600" y="1783080"/>
            <a:ext cx="64008" cy="960120"/>
          </a:xfrm>
          <a:prstGeom prst="rect">
            <a:avLst/>
          </a:prstGeom>
          <a:solidFill>
            <a:srgbClr val="C8F751"/>
          </a:solidFill>
          <a:ln w="12700">
            <a:solidFill>
              <a:srgbClr val="C8F751"/>
            </a:solidFill>
            <a:prstDash val="solid"/>
          </a:ln>
        </p:spPr>
        <p:txBody>
          <a:bodyPr/>
          <a:lstStyle/>
          <a:p>
            <a:endParaRPr lang="en-US"/>
          </a:p>
        </p:txBody>
      </p:sp>
      <p:sp>
        <p:nvSpPr>
          <p:cNvPr id="15" name="Text 13"/>
          <p:cNvSpPr/>
          <p:nvPr/>
        </p:nvSpPr>
        <p:spPr>
          <a:xfrm>
            <a:off x="8394192" y="1874520"/>
            <a:ext cx="3383280" cy="320040"/>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Mobile PWA</a:t>
            </a:r>
            <a:endParaRPr lang="en-US" sz="1200" dirty="0"/>
          </a:p>
        </p:txBody>
      </p:sp>
      <p:sp>
        <p:nvSpPr>
          <p:cNvPr id="16" name="Text 14"/>
          <p:cNvSpPr/>
          <p:nvPr/>
        </p:nvSpPr>
        <p:spPr>
          <a:xfrm>
            <a:off x="8394192" y="2194560"/>
            <a:ext cx="338328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Offline-first crime cache for low-connectivity areas of Lahore.</a:t>
            </a:r>
            <a:endParaRPr lang="en-US" sz="1000" dirty="0"/>
          </a:p>
        </p:txBody>
      </p:sp>
      <p:sp>
        <p:nvSpPr>
          <p:cNvPr id="17" name="Shape 15"/>
          <p:cNvSpPr/>
          <p:nvPr/>
        </p:nvSpPr>
        <p:spPr>
          <a:xfrm>
            <a:off x="731520" y="2880360"/>
            <a:ext cx="3611880" cy="960120"/>
          </a:xfrm>
          <a:prstGeom prst="rect">
            <a:avLst/>
          </a:prstGeom>
          <a:solidFill>
            <a:srgbClr val="121C3A"/>
          </a:solidFill>
          <a:ln w="9525">
            <a:solidFill>
              <a:srgbClr val="2A3A6E"/>
            </a:solidFill>
            <a:prstDash val="solid"/>
          </a:ln>
        </p:spPr>
        <p:txBody>
          <a:bodyPr/>
          <a:lstStyle/>
          <a:p>
            <a:endParaRPr lang="en-US"/>
          </a:p>
        </p:txBody>
      </p:sp>
      <p:sp>
        <p:nvSpPr>
          <p:cNvPr id="18" name="Shape 16"/>
          <p:cNvSpPr/>
          <p:nvPr/>
        </p:nvSpPr>
        <p:spPr>
          <a:xfrm>
            <a:off x="731520" y="2880360"/>
            <a:ext cx="64008" cy="960120"/>
          </a:xfrm>
          <a:prstGeom prst="rect">
            <a:avLst/>
          </a:prstGeom>
          <a:solidFill>
            <a:srgbClr val="C8F751"/>
          </a:solidFill>
          <a:ln w="12700">
            <a:solidFill>
              <a:srgbClr val="C8F751"/>
            </a:solidFill>
            <a:prstDash val="solid"/>
          </a:ln>
        </p:spPr>
        <p:txBody>
          <a:bodyPr/>
          <a:lstStyle/>
          <a:p>
            <a:endParaRPr lang="en-US"/>
          </a:p>
        </p:txBody>
      </p:sp>
      <p:sp>
        <p:nvSpPr>
          <p:cNvPr id="19" name="Text 17"/>
          <p:cNvSpPr/>
          <p:nvPr/>
        </p:nvSpPr>
        <p:spPr>
          <a:xfrm>
            <a:off x="896112" y="2971800"/>
            <a:ext cx="3383280" cy="320040"/>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Punjab Safe Cities API</a:t>
            </a:r>
            <a:endParaRPr lang="en-US" sz="1200" dirty="0"/>
          </a:p>
        </p:txBody>
      </p:sp>
      <p:sp>
        <p:nvSpPr>
          <p:cNvPr id="20" name="Text 18"/>
          <p:cNvSpPr/>
          <p:nvPr/>
        </p:nvSpPr>
        <p:spPr>
          <a:xfrm>
            <a:off x="896112" y="3291840"/>
            <a:ext cx="338328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Live CCTV-based corroboration when access is granted.</a:t>
            </a:r>
            <a:endParaRPr lang="en-US" sz="1000" dirty="0"/>
          </a:p>
        </p:txBody>
      </p:sp>
      <p:sp>
        <p:nvSpPr>
          <p:cNvPr id="21" name="Shape 19"/>
          <p:cNvSpPr/>
          <p:nvPr/>
        </p:nvSpPr>
        <p:spPr>
          <a:xfrm>
            <a:off x="4480560" y="2880360"/>
            <a:ext cx="3611880" cy="960120"/>
          </a:xfrm>
          <a:prstGeom prst="rect">
            <a:avLst/>
          </a:prstGeom>
          <a:solidFill>
            <a:srgbClr val="121C3A"/>
          </a:solidFill>
          <a:ln w="9525">
            <a:solidFill>
              <a:srgbClr val="2A3A6E"/>
            </a:solidFill>
            <a:prstDash val="solid"/>
          </a:ln>
        </p:spPr>
        <p:txBody>
          <a:bodyPr/>
          <a:lstStyle/>
          <a:p>
            <a:endParaRPr lang="en-US"/>
          </a:p>
        </p:txBody>
      </p:sp>
      <p:sp>
        <p:nvSpPr>
          <p:cNvPr id="22" name="Shape 20"/>
          <p:cNvSpPr/>
          <p:nvPr/>
        </p:nvSpPr>
        <p:spPr>
          <a:xfrm>
            <a:off x="4480560" y="2880360"/>
            <a:ext cx="64008" cy="960120"/>
          </a:xfrm>
          <a:prstGeom prst="rect">
            <a:avLst/>
          </a:prstGeom>
          <a:solidFill>
            <a:srgbClr val="C8F751"/>
          </a:solidFill>
          <a:ln w="12700">
            <a:solidFill>
              <a:srgbClr val="C8F751"/>
            </a:solidFill>
            <a:prstDash val="solid"/>
          </a:ln>
        </p:spPr>
        <p:txBody>
          <a:bodyPr/>
          <a:lstStyle/>
          <a:p>
            <a:endParaRPr lang="en-US"/>
          </a:p>
        </p:txBody>
      </p:sp>
      <p:sp>
        <p:nvSpPr>
          <p:cNvPr id="23" name="Text 21"/>
          <p:cNvSpPr/>
          <p:nvPr/>
        </p:nvSpPr>
        <p:spPr>
          <a:xfrm>
            <a:off x="4645152" y="2971800"/>
            <a:ext cx="3383280" cy="320040"/>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Cheaper LLM for PPC</a:t>
            </a:r>
            <a:endParaRPr lang="en-US" sz="1200" dirty="0"/>
          </a:p>
        </p:txBody>
      </p:sp>
      <p:sp>
        <p:nvSpPr>
          <p:cNvPr id="24" name="Text 22"/>
          <p:cNvSpPr/>
          <p:nvPr/>
        </p:nvSpPr>
        <p:spPr>
          <a:xfrm>
            <a:off x="4645152" y="3291840"/>
            <a:ext cx="338328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Switch to a smaller model — about 10× cost reduction expected.</a:t>
            </a:r>
            <a:endParaRPr lang="en-US" sz="1000" dirty="0"/>
          </a:p>
        </p:txBody>
      </p:sp>
      <p:sp>
        <p:nvSpPr>
          <p:cNvPr id="25" name="Shape 23"/>
          <p:cNvSpPr/>
          <p:nvPr/>
        </p:nvSpPr>
        <p:spPr>
          <a:xfrm>
            <a:off x="8229600" y="2880360"/>
            <a:ext cx="3611880" cy="960120"/>
          </a:xfrm>
          <a:prstGeom prst="rect">
            <a:avLst/>
          </a:prstGeom>
          <a:solidFill>
            <a:srgbClr val="121C3A"/>
          </a:solidFill>
          <a:ln w="9525">
            <a:solidFill>
              <a:srgbClr val="2A3A6E"/>
            </a:solidFill>
            <a:prstDash val="solid"/>
          </a:ln>
        </p:spPr>
        <p:txBody>
          <a:bodyPr/>
          <a:lstStyle/>
          <a:p>
            <a:endParaRPr lang="en-US"/>
          </a:p>
        </p:txBody>
      </p:sp>
      <p:sp>
        <p:nvSpPr>
          <p:cNvPr id="26" name="Shape 24"/>
          <p:cNvSpPr/>
          <p:nvPr/>
        </p:nvSpPr>
        <p:spPr>
          <a:xfrm>
            <a:off x="8229600" y="2880360"/>
            <a:ext cx="64008" cy="960120"/>
          </a:xfrm>
          <a:prstGeom prst="rect">
            <a:avLst/>
          </a:prstGeom>
          <a:solidFill>
            <a:srgbClr val="C8F751"/>
          </a:solidFill>
          <a:ln w="12700">
            <a:solidFill>
              <a:srgbClr val="C8F751"/>
            </a:solidFill>
            <a:prstDash val="solid"/>
          </a:ln>
        </p:spPr>
        <p:txBody>
          <a:bodyPr/>
          <a:lstStyle/>
          <a:p>
            <a:endParaRPr lang="en-US"/>
          </a:p>
        </p:txBody>
      </p:sp>
      <p:sp>
        <p:nvSpPr>
          <p:cNvPr id="27" name="Text 25"/>
          <p:cNvSpPr/>
          <p:nvPr/>
        </p:nvSpPr>
        <p:spPr>
          <a:xfrm>
            <a:off x="8394192" y="2971800"/>
            <a:ext cx="3383280" cy="320040"/>
          </a:xfrm>
          <a:prstGeom prst="rect">
            <a:avLst/>
          </a:prstGeom>
          <a:noFill/>
          <a:ln/>
        </p:spPr>
        <p:txBody>
          <a:bodyPr wrap="square" lIns="0" tIns="0" rIns="0" bIns="0" rtlCol="0" anchor="ctr"/>
          <a:lstStyle/>
          <a:p>
            <a:pPr marL="0" indent="0">
              <a:buNone/>
            </a:pPr>
            <a:r>
              <a:rPr lang="en-US" sz="1200" b="1" dirty="0">
                <a:solidFill>
                  <a:srgbClr val="C8F751"/>
                </a:solidFill>
                <a:latin typeface="Calibri" pitchFamily="34" charset="0"/>
                <a:ea typeface="Calibri" pitchFamily="34" charset="-122"/>
                <a:cs typeface="Calibri" pitchFamily="34" charset="-120"/>
              </a:rPr>
              <a:t>Citizen Reports v2</a:t>
            </a:r>
            <a:endParaRPr lang="en-US" sz="1200" dirty="0"/>
          </a:p>
        </p:txBody>
      </p:sp>
      <p:sp>
        <p:nvSpPr>
          <p:cNvPr id="28" name="Text 26"/>
          <p:cNvSpPr/>
          <p:nvPr/>
        </p:nvSpPr>
        <p:spPr>
          <a:xfrm>
            <a:off x="8394192" y="3291840"/>
            <a:ext cx="3383280" cy="502920"/>
          </a:xfrm>
          <a:prstGeom prst="rect">
            <a:avLst/>
          </a:prstGeom>
          <a:noFill/>
          <a:ln/>
        </p:spPr>
        <p:txBody>
          <a:bodyPr wrap="square" lIns="0" tIns="0" rIns="0" bIns="0" rtlCol="0" anchor="ctr"/>
          <a:lstStyle/>
          <a:p>
            <a:pPr marL="0" indent="0">
              <a:buNone/>
            </a:pPr>
            <a:r>
              <a:rPr lang="en-US" sz="1000" dirty="0">
                <a:solidFill>
                  <a:srgbClr val="F4E9D8"/>
                </a:solidFill>
                <a:latin typeface="Calibri" pitchFamily="34" charset="0"/>
                <a:ea typeface="Calibri" pitchFamily="34" charset="-122"/>
                <a:cs typeface="Calibri" pitchFamily="34" charset="-120"/>
              </a:rPr>
              <a:t>Photo evidence + reverse-image search for duplicates at intake.</a:t>
            </a:r>
            <a:endParaRPr lang="en-US" sz="1000" dirty="0"/>
          </a:p>
        </p:txBody>
      </p:sp>
      <p:sp>
        <p:nvSpPr>
          <p:cNvPr id="29" name="Shape 27"/>
          <p:cNvSpPr/>
          <p:nvPr/>
        </p:nvSpPr>
        <p:spPr>
          <a:xfrm>
            <a:off x="731520" y="4160520"/>
            <a:ext cx="11018520" cy="2194560"/>
          </a:xfrm>
          <a:prstGeom prst="rect">
            <a:avLst/>
          </a:prstGeom>
          <a:solidFill>
            <a:srgbClr val="121C3A"/>
          </a:solidFill>
          <a:ln w="9525">
            <a:solidFill>
              <a:srgbClr val="2A3A6E"/>
            </a:solidFill>
            <a:prstDash val="solid"/>
          </a:ln>
        </p:spPr>
        <p:txBody>
          <a:bodyPr/>
          <a:lstStyle/>
          <a:p>
            <a:endParaRPr lang="en-US"/>
          </a:p>
        </p:txBody>
      </p:sp>
      <p:sp>
        <p:nvSpPr>
          <p:cNvPr id="30" name="Shape 28"/>
          <p:cNvSpPr/>
          <p:nvPr/>
        </p:nvSpPr>
        <p:spPr>
          <a:xfrm>
            <a:off x="731520" y="4160520"/>
            <a:ext cx="64008" cy="2194560"/>
          </a:xfrm>
          <a:prstGeom prst="rect">
            <a:avLst/>
          </a:prstGeom>
          <a:solidFill>
            <a:srgbClr val="C8F751"/>
          </a:solidFill>
          <a:ln w="12700">
            <a:solidFill>
              <a:srgbClr val="C8F751"/>
            </a:solidFill>
            <a:prstDash val="solid"/>
          </a:ln>
        </p:spPr>
        <p:txBody>
          <a:bodyPr/>
          <a:lstStyle/>
          <a:p>
            <a:endParaRPr lang="en-US"/>
          </a:p>
        </p:txBody>
      </p:sp>
      <p:sp>
        <p:nvSpPr>
          <p:cNvPr id="31" name="Text 29"/>
          <p:cNvSpPr/>
          <p:nvPr/>
        </p:nvSpPr>
        <p:spPr>
          <a:xfrm>
            <a:off x="914400" y="4343400"/>
            <a:ext cx="10698480" cy="502920"/>
          </a:xfrm>
          <a:prstGeom prst="rect">
            <a:avLst/>
          </a:prstGeom>
          <a:noFill/>
          <a:ln/>
        </p:spPr>
        <p:txBody>
          <a:bodyPr wrap="square" lIns="0" tIns="0" rIns="0" bIns="0" rtlCol="0" anchor="ctr"/>
          <a:lstStyle/>
          <a:p>
            <a:pPr marL="0" indent="0">
              <a:buNone/>
            </a:pPr>
            <a:r>
              <a:rPr lang="en-US" sz="3000" b="1" kern="0" spc="400" dirty="0">
                <a:solidFill>
                  <a:srgbClr val="C8F751"/>
                </a:solidFill>
                <a:latin typeface="Calibri" pitchFamily="34" charset="0"/>
                <a:ea typeface="Calibri" pitchFamily="34" charset="-122"/>
                <a:cs typeface="Calibri" pitchFamily="34" charset="-120"/>
              </a:rPr>
              <a:t>THANK YOU</a:t>
            </a:r>
            <a:endParaRPr lang="en-US" sz="3000" dirty="0"/>
          </a:p>
        </p:txBody>
      </p:sp>
      <p:sp>
        <p:nvSpPr>
          <p:cNvPr id="32" name="Text 30"/>
          <p:cNvSpPr/>
          <p:nvPr/>
        </p:nvSpPr>
        <p:spPr>
          <a:xfrm>
            <a:off x="914400" y="4846320"/>
            <a:ext cx="10698480" cy="36576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Predictive Spatial Intelligence for Lahore's Streets</a:t>
            </a:r>
            <a:endParaRPr lang="en-US" sz="1600" dirty="0"/>
          </a:p>
        </p:txBody>
      </p:sp>
      <p:sp>
        <p:nvSpPr>
          <p:cNvPr id="33" name="Text 31"/>
          <p:cNvSpPr/>
          <p:nvPr/>
        </p:nvSpPr>
        <p:spPr>
          <a:xfrm>
            <a:off x="914400" y="5349240"/>
            <a:ext cx="10698480" cy="365760"/>
          </a:xfrm>
          <a:prstGeom prst="rect">
            <a:avLst/>
          </a:prstGeom>
          <a:noFill/>
          <a:ln/>
        </p:spPr>
        <p:txBody>
          <a:bodyPr wrap="square" lIns="0" tIns="0" rIns="0" bIns="0" rtlCol="0" anchor="ctr"/>
          <a:lstStyle/>
          <a:p>
            <a:pPr marL="0" indent="0">
              <a:buNone/>
            </a:pPr>
            <a:r>
              <a:rPr lang="en-US" sz="1300" b="1" dirty="0">
                <a:solidFill>
                  <a:srgbClr val="C8F751"/>
                </a:solidFill>
                <a:latin typeface="Calibri" pitchFamily="34" charset="0"/>
                <a:ea typeface="Calibri" pitchFamily="34" charset="-122"/>
                <a:cs typeface="Calibri" pitchFamily="34" charset="-120"/>
              </a:rPr>
              <a:t>≈142,000 lines of code</a:t>
            </a:r>
            <a:r>
              <a:rPr lang="en-US" sz="1300" dirty="0">
                <a:solidFill>
                  <a:srgbClr val="9AA8C7"/>
                </a:solidFill>
                <a:latin typeface="Calibri" pitchFamily="34" charset="0"/>
                <a:ea typeface="Calibri" pitchFamily="34" charset="-122"/>
                <a:cs typeface="Calibri" pitchFamily="34" charset="-120"/>
              </a:rPr>
              <a:t>   ·   </a:t>
            </a:r>
            <a:r>
              <a:rPr lang="en-US" sz="1300" b="1" dirty="0">
                <a:solidFill>
                  <a:srgbClr val="C8F751"/>
                </a:solidFill>
                <a:latin typeface="Calibri" pitchFamily="34" charset="0"/>
                <a:ea typeface="Calibri" pitchFamily="34" charset="-122"/>
                <a:cs typeface="Calibri" pitchFamily="34" charset="-120"/>
              </a:rPr>
              <a:t>128 endpoints</a:t>
            </a:r>
            <a:r>
              <a:rPr lang="en-US" sz="1300" dirty="0">
                <a:solidFill>
                  <a:srgbClr val="9AA8C7"/>
                </a:solidFill>
                <a:latin typeface="Calibri" pitchFamily="34" charset="0"/>
                <a:ea typeface="Calibri" pitchFamily="34" charset="-122"/>
                <a:cs typeface="Calibri" pitchFamily="34" charset="-120"/>
              </a:rPr>
              <a:t>   ·   </a:t>
            </a:r>
            <a:r>
              <a:rPr lang="en-US" sz="1300" b="1" dirty="0">
                <a:solidFill>
                  <a:srgbClr val="C8F751"/>
                </a:solidFill>
                <a:latin typeface="Calibri" pitchFamily="34" charset="0"/>
                <a:ea typeface="Calibri" pitchFamily="34" charset="-122"/>
                <a:cs typeface="Calibri" pitchFamily="34" charset="-120"/>
              </a:rPr>
              <a:t>37 tables</a:t>
            </a:r>
            <a:r>
              <a:rPr lang="en-US" sz="1300" dirty="0">
                <a:solidFill>
                  <a:srgbClr val="9AA8C7"/>
                </a:solidFill>
                <a:latin typeface="Calibri" pitchFamily="34" charset="0"/>
                <a:ea typeface="Calibri" pitchFamily="34" charset="-122"/>
                <a:cs typeface="Calibri" pitchFamily="34" charset="-120"/>
              </a:rPr>
              <a:t>   ·   </a:t>
            </a:r>
            <a:r>
              <a:rPr lang="en-US" sz="1300" b="1" dirty="0">
                <a:solidFill>
                  <a:srgbClr val="C8F751"/>
                </a:solidFill>
                <a:latin typeface="Calibri" pitchFamily="34" charset="0"/>
                <a:ea typeface="Calibri" pitchFamily="34" charset="-122"/>
                <a:cs typeface="Calibri" pitchFamily="34" charset="-120"/>
              </a:rPr>
              <a:t>12 ML/OCR services</a:t>
            </a:r>
            <a:endParaRPr lang="en-US" sz="1300" dirty="0"/>
          </a:p>
        </p:txBody>
      </p:sp>
      <p:sp>
        <p:nvSpPr>
          <p:cNvPr id="34" name="Text 32"/>
          <p:cNvSpPr/>
          <p:nvPr/>
        </p:nvSpPr>
        <p:spPr>
          <a:xfrm>
            <a:off x="914400" y="5806440"/>
            <a:ext cx="10698480" cy="365760"/>
          </a:xfrm>
          <a:prstGeom prst="rect">
            <a:avLst/>
          </a:prstGeom>
          <a:noFill/>
          <a:ln/>
        </p:spPr>
        <p:txBody>
          <a:bodyPr wrap="square" lIns="0" tIns="0" rIns="0" bIns="0" rtlCol="0" anchor="ctr"/>
          <a:lstStyle/>
          <a:p>
            <a:pPr marL="0" indent="0">
              <a:buNone/>
            </a:pPr>
            <a:r>
              <a:rPr lang="en-US" sz="1200" dirty="0">
                <a:solidFill>
                  <a:srgbClr val="F4E9D8"/>
                </a:solidFill>
                <a:latin typeface="Consolas" pitchFamily="34" charset="0"/>
                <a:ea typeface="Consolas" pitchFamily="34" charset="-122"/>
                <a:cs typeface="Consolas" pitchFamily="34" charset="-120"/>
              </a:rPr>
              <a:t>safevision-backend-ye2i.onrender.com   ·   safevision.alerts@gmail.com</a:t>
            </a:r>
            <a:endParaRPr lang="en-US" sz="1200" dirty="0"/>
          </a:p>
        </p:txBody>
      </p:sp>
      <p:sp>
        <p:nvSpPr>
          <p:cNvPr id="35" name="Text 33"/>
          <p:cNvSpPr/>
          <p:nvPr/>
        </p:nvSpPr>
        <p:spPr>
          <a:xfrm>
            <a:off x="914400" y="6263640"/>
            <a:ext cx="10698480" cy="274320"/>
          </a:xfrm>
          <a:prstGeom prst="rect">
            <a:avLst/>
          </a:prstGeom>
          <a:noFill/>
          <a:ln/>
        </p:spPr>
        <p:txBody>
          <a:bodyPr wrap="square" lIns="0" tIns="0" rIns="0" bIns="0" rtlCol="0" anchor="ctr"/>
          <a:lstStyle/>
          <a:p>
            <a:pPr marL="0" indent="0">
              <a:buNone/>
            </a:pPr>
            <a:r>
              <a:rPr lang="en-US" sz="1100" i="1" dirty="0">
                <a:solidFill>
                  <a:srgbClr val="9AA8C7"/>
                </a:solidFill>
                <a:latin typeface="Calibri" pitchFamily="34" charset="0"/>
                <a:ea typeface="Calibri" pitchFamily="34" charset="-122"/>
                <a:cs typeface="Calibri" pitchFamily="34" charset="-120"/>
              </a:rPr>
              <a:t>Questions &amp; Discussion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TotalTime>
  <Words>5165</Words>
  <Application>Microsoft Office PowerPoint</Application>
  <PresentationFormat>Widescreen</PresentationFormat>
  <Paragraphs>784</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SafeVision — Spatial Visualytics of Reported Incidents in Lahore</dc:title>
  <dc:subject>PptxGenJS Presentation</dc:subject>
  <dc:creator>Zainab Fayyaz, Zaid Waseem, Akmal Naseer</dc:creator>
  <cp:lastModifiedBy>Zainab Fayyaz</cp:lastModifiedBy>
  <cp:revision>2</cp:revision>
  <dcterms:created xsi:type="dcterms:W3CDTF">2026-05-04T01:33:01Z</dcterms:created>
  <dcterms:modified xsi:type="dcterms:W3CDTF">2026-05-10T14:35:08Z</dcterms:modified>
</cp:coreProperties>
</file>